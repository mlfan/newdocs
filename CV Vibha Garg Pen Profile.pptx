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14747108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899BF6-05F4-405F-A34E-DE8B22032D98}"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878C3F-C63F-445E-A394-32DF8400ECAD}" type="slidenum">
              <a:rPr lang="en-IN" smtClean="0"/>
              <a:t>‹#›</a:t>
            </a:fld>
            <a:endParaRPr lang="en-IN"/>
          </a:p>
        </p:txBody>
      </p:sp>
    </p:spTree>
    <p:extLst>
      <p:ext uri="{BB962C8B-B14F-4D97-AF65-F5344CB8AC3E}">
        <p14:creationId xmlns:p14="http://schemas.microsoft.com/office/powerpoint/2010/main" val="2635452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7D7A-F9C4-7FD2-2371-E545EC7D2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F043D-DF6A-D05E-879F-5B33649C456A}"/>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0DA8297F-E543-E1F8-C2B2-F36C7AB9EC1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7019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27D9-5334-3D7F-4643-EEC8849A0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86BB9D-C539-1890-7ACB-6BDB5F73D1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D30DF6-F7F4-AA85-92A6-D4A0F0CFE800}"/>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08599E4B-DC10-0090-8A3B-A8427CE75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B0B2B-47B2-A49C-152D-3827F3B7DF69}"/>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278588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5174E-629F-2888-CEDE-3A56566BEB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280505-B303-F3FD-15DA-18BBF59959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B538D0-D27C-C82E-0571-0A5EE6BC6D6E}"/>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1D5F94D0-2266-CDA5-75E6-E057600DFB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0BEB2-6F1A-26B9-C98D-C96723121EBA}"/>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886892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4F3C-0722-FB1F-D700-220BD907F4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BB7775-5AFC-5F2F-E356-1A0D381338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E8D530-1675-D4C6-B04E-1ECAA26F0106}"/>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9C443597-7152-1304-4180-39B2CFE7F8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39818E-71EA-DF3E-2B77-F961FEFFACFC}"/>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44381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50FEE-04ED-3961-D452-FC6082356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4B146F-DE5C-A0B9-C939-DFD0865DDD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9C9F5E-07AE-6755-5DC3-87F3D41D6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EFB41F-3FF7-775C-8DE1-2F10369229BC}"/>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6" name="Footer Placeholder 5">
            <a:extLst>
              <a:ext uri="{FF2B5EF4-FFF2-40B4-BE49-F238E27FC236}">
                <a16:creationId xmlns:a16="http://schemas.microsoft.com/office/drawing/2014/main" id="{66BF7686-9D30-6809-4D89-1AB80CAE70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E2B46A-7575-068C-82EE-2E10268E28A0}"/>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225055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69AEE-287C-4483-ADCF-FD15DFFDD0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71AF4F-8CC6-AA77-BA6B-0B7C0ADA5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187008-FC42-1183-F33D-19EC2F9FF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82ED72-3F0E-6F9E-32FC-4A71A1554C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EC84F2-2FC0-9E8B-AE81-277E705A7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1A4A41-6261-4F30-CF4C-B1FFDF5A8402}"/>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8" name="Footer Placeholder 7">
            <a:extLst>
              <a:ext uri="{FF2B5EF4-FFF2-40B4-BE49-F238E27FC236}">
                <a16:creationId xmlns:a16="http://schemas.microsoft.com/office/drawing/2014/main" id="{09B3D0AB-F9EB-E7CC-6119-7A10028E26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A9E0C7-04C1-B063-AF50-170A1CAE6539}"/>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2261476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A7A2-05B9-3E74-25A1-4A2F08C477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91FF6E2-8AAE-566D-8BDB-3332BAB02123}"/>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4" name="Footer Placeholder 3">
            <a:extLst>
              <a:ext uri="{FF2B5EF4-FFF2-40B4-BE49-F238E27FC236}">
                <a16:creationId xmlns:a16="http://schemas.microsoft.com/office/drawing/2014/main" id="{CF0F0124-928F-56EF-892C-D654ACC15D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36E6A4-EBDB-0797-19DA-AEB791FF4271}"/>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2694116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3C9CE9-AA0E-F7B3-4EBA-E2A7890335E5}"/>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3" name="Footer Placeholder 2">
            <a:extLst>
              <a:ext uri="{FF2B5EF4-FFF2-40B4-BE49-F238E27FC236}">
                <a16:creationId xmlns:a16="http://schemas.microsoft.com/office/drawing/2014/main" id="{7D687AA6-17A1-6F3B-A8B4-B839E66BEC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0040A6-9F71-4B91-2CB4-7344A0747C8A}"/>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3062843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8AEF-3692-F40E-3BD1-20EEE6A168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E88E82-D2C3-C08D-98AB-F7E02927D5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889265-84AE-9A61-4646-4F4D2599D9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BBDF5-FF3A-6074-901F-DE95807C1ACD}"/>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6" name="Footer Placeholder 5">
            <a:extLst>
              <a:ext uri="{FF2B5EF4-FFF2-40B4-BE49-F238E27FC236}">
                <a16:creationId xmlns:a16="http://schemas.microsoft.com/office/drawing/2014/main" id="{5B8BE0EF-4A97-8E6E-DE23-1821DEDD4E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98A48D-6767-26FF-BE7C-3DCB4175A648}"/>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420224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E115-132F-35A5-AA34-14BD68507F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DEF949-B035-C277-850F-8CBB2FBA41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968A80-2294-0148-1C74-CD711B838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01730-5E88-A2CD-5CE9-1E000B94FE21}"/>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6" name="Footer Placeholder 5">
            <a:extLst>
              <a:ext uri="{FF2B5EF4-FFF2-40B4-BE49-F238E27FC236}">
                <a16:creationId xmlns:a16="http://schemas.microsoft.com/office/drawing/2014/main" id="{F70640F9-0E55-403A-75A0-026D9E8563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2B1002-BBE8-8E17-D46B-459885249C8E}"/>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487025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9C8C-E55D-AD47-142A-6B8559E07B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029743-0A29-B093-8EDE-2044CB4562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E94DD2-606A-5359-758D-C438AF75CD82}"/>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128DE627-50D7-6154-5469-3F8FD7FA87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F5FD62-96D9-00B6-968C-25B9D439812C}"/>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3487759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C39E17-9CBD-D089-6242-B8F512CB01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2C8E58-4952-EE83-6455-C972F38098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870CE3-DFA4-0BBC-B874-9FC3EE1DECD7}"/>
              </a:ext>
            </a:extLst>
          </p:cNvPr>
          <p:cNvSpPr>
            <a:spLocks noGrp="1"/>
          </p:cNvSpPr>
          <p:nvPr>
            <p:ph type="dt" sz="half" idx="10"/>
          </p:nvPr>
        </p:nvSpPr>
        <p:spPr/>
        <p:txBody>
          <a:body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84DF59EF-FA5A-5107-9ED5-502F40EBD7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F2FF06-B836-F9AE-5983-2E4C16D0AAD0}"/>
              </a:ext>
            </a:extLst>
          </p:cNvPr>
          <p:cNvSpPr>
            <a:spLocks noGrp="1"/>
          </p:cNvSpPr>
          <p:nvPr>
            <p:ph type="sldNum" sz="quarter" idx="12"/>
          </p:nvPr>
        </p:nvSpPr>
        <p:spPr/>
        <p:txBody>
          <a:bodyPr/>
          <a:lstStyle/>
          <a:p>
            <a:fld id="{BBEDEF3F-8810-4851-9837-F783AE900D46}" type="slidenum">
              <a:rPr lang="en-IN" smtClean="0"/>
              <a:t>‹#›</a:t>
            </a:fld>
            <a:endParaRPr lang="en-IN"/>
          </a:p>
        </p:txBody>
      </p:sp>
    </p:spTree>
    <p:extLst>
      <p:ext uri="{BB962C8B-B14F-4D97-AF65-F5344CB8AC3E}">
        <p14:creationId xmlns:p14="http://schemas.microsoft.com/office/powerpoint/2010/main" val="1070205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099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DBF424-C339-AC64-FF3D-DAD5FBBE0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A3161C-D99A-7BE4-8263-FC96609DF6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37C752-BA41-11B5-2509-3194A4641B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369C89-D986-4393-B961-190D52DA6DA9}" type="datetimeFigureOut">
              <a:rPr lang="en-IN" smtClean="0"/>
              <a:t>23-09-2026</a:t>
            </a:fld>
            <a:endParaRPr lang="en-IN"/>
          </a:p>
        </p:txBody>
      </p:sp>
      <p:sp>
        <p:nvSpPr>
          <p:cNvPr id="5" name="Footer Placeholder 4">
            <a:extLst>
              <a:ext uri="{FF2B5EF4-FFF2-40B4-BE49-F238E27FC236}">
                <a16:creationId xmlns:a16="http://schemas.microsoft.com/office/drawing/2014/main" id="{D836EAA5-2B1E-0F37-F8B8-BD0403CD7B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66F79A-FA65-EA87-DB6D-3060EFA0CF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EDEF3F-8810-4851-9837-F783AE900D46}" type="slidenum">
              <a:rPr lang="en-IN" smtClean="0"/>
              <a:t>‹#›</a:t>
            </a:fld>
            <a:endParaRPr lang="en-IN"/>
          </a:p>
        </p:txBody>
      </p:sp>
    </p:spTree>
    <p:extLst>
      <p:ext uri="{BB962C8B-B14F-4D97-AF65-F5344CB8AC3E}">
        <p14:creationId xmlns:p14="http://schemas.microsoft.com/office/powerpoint/2010/main" val="2854788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3E44-BFE6-8F9A-E814-C37783A015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3F7594-712E-3BAF-704A-C5865D15E816}"/>
              </a:ext>
            </a:extLst>
          </p:cNvPr>
          <p:cNvSpPr/>
          <p:nvPr/>
        </p:nvSpPr>
        <p:spPr>
          <a:xfrm>
            <a:off x="0" y="0"/>
            <a:ext cx="12161520" cy="502920"/>
          </a:xfrm>
          <a:prstGeom prst="rect">
            <a:avLst/>
          </a:prstGeom>
          <a:solidFill>
            <a:schemeClr val="tx1"/>
          </a:solidFill>
          <a:ln w="12700">
            <a:solidFill>
              <a:srgbClr val="01216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Text 1">
            <a:extLst>
              <a:ext uri="{FF2B5EF4-FFF2-40B4-BE49-F238E27FC236}">
                <a16:creationId xmlns:a16="http://schemas.microsoft.com/office/drawing/2014/main" id="{520CCA52-AB41-3F44-FA28-05F0336D6235}"/>
              </a:ext>
            </a:extLst>
          </p:cNvPr>
          <p:cNvSpPr/>
          <p:nvPr/>
        </p:nvSpPr>
        <p:spPr>
          <a:xfrm>
            <a:off x="274320" y="0"/>
            <a:ext cx="2743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Team CVs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Shape 2">
            <a:extLst>
              <a:ext uri="{FF2B5EF4-FFF2-40B4-BE49-F238E27FC236}">
                <a16:creationId xmlns:a16="http://schemas.microsoft.com/office/drawing/2014/main" id="{56B9B2D3-EDBA-996A-B745-BBE99A606342}"/>
              </a:ext>
            </a:extLst>
          </p:cNvPr>
          <p:cNvSpPr/>
          <p:nvPr/>
        </p:nvSpPr>
        <p:spPr>
          <a:xfrm>
            <a:off x="9875520" y="0"/>
            <a:ext cx="2316480" cy="502920"/>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 3">
            <a:extLst>
              <a:ext uri="{FF2B5EF4-FFF2-40B4-BE49-F238E27FC236}">
                <a16:creationId xmlns:a16="http://schemas.microsoft.com/office/drawing/2014/main" id="{38D9E11D-6867-70E0-57D5-73EDC7160730}"/>
              </a:ext>
            </a:extLst>
          </p:cNvPr>
          <p:cNvSpPr/>
          <p:nvPr/>
        </p:nvSpPr>
        <p:spPr>
          <a:xfrm>
            <a:off x="9875520" y="0"/>
            <a:ext cx="23164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Oversight</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hape 4">
            <a:extLst>
              <a:ext uri="{FF2B5EF4-FFF2-40B4-BE49-F238E27FC236}">
                <a16:creationId xmlns:a16="http://schemas.microsoft.com/office/drawing/2014/main" id="{D3CEAC9D-67F1-A213-F35B-7799CF965843}"/>
              </a:ext>
            </a:extLst>
          </p:cNvPr>
          <p:cNvSpPr/>
          <p:nvPr/>
        </p:nvSpPr>
        <p:spPr>
          <a:xfrm>
            <a:off x="109728" y="626476"/>
            <a:ext cx="2743200" cy="5732379"/>
          </a:xfrm>
          <a:prstGeom prst="rect">
            <a:avLst/>
          </a:prstGeom>
          <a:solidFill>
            <a:srgbClr val="F0F0F0"/>
          </a:solidFill>
          <a:ln w="12700">
            <a:solidFill>
              <a:srgbClr val="F0F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hape 5">
            <a:extLst>
              <a:ext uri="{FF2B5EF4-FFF2-40B4-BE49-F238E27FC236}">
                <a16:creationId xmlns:a16="http://schemas.microsoft.com/office/drawing/2014/main" id="{8AD3B3EE-462B-E327-B8B0-399D48FF287B}"/>
              </a:ext>
            </a:extLst>
          </p:cNvPr>
          <p:cNvSpPr/>
          <p:nvPr/>
        </p:nvSpPr>
        <p:spPr>
          <a:xfrm>
            <a:off x="1" y="512064"/>
            <a:ext cx="45719" cy="5905514"/>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Text 7">
            <a:extLst>
              <a:ext uri="{FF2B5EF4-FFF2-40B4-BE49-F238E27FC236}">
                <a16:creationId xmlns:a16="http://schemas.microsoft.com/office/drawing/2014/main" id="{094E4051-BF14-AF2E-ED0D-6D8E0DE5A91B}"/>
              </a:ext>
            </a:extLst>
          </p:cNvPr>
          <p:cNvSpPr/>
          <p:nvPr/>
        </p:nvSpPr>
        <p:spPr>
          <a:xfrm>
            <a:off x="128016" y="2383501"/>
            <a:ext cx="2606040" cy="23774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srgbClr val="156082"/>
                </a:solidFill>
                <a:effectLst/>
                <a:uLnTx/>
                <a:uFillTx/>
                <a:latin typeface="Calibri" pitchFamily="34" charset="0"/>
                <a:ea typeface="Calibri" pitchFamily="34" charset="-122"/>
                <a:cs typeface="Calibri" pitchFamily="34" charset="-120"/>
              </a:rPr>
              <a:t>Vibha Garg</a:t>
            </a:r>
            <a:endParaRPr kumimoji="0" lang="en-US" sz="1000" b="1"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11" name="Shape 8">
            <a:extLst>
              <a:ext uri="{FF2B5EF4-FFF2-40B4-BE49-F238E27FC236}">
                <a16:creationId xmlns:a16="http://schemas.microsoft.com/office/drawing/2014/main" id="{C26592A0-411C-4D3F-4C7B-785F9DFD4447}"/>
              </a:ext>
            </a:extLst>
          </p:cNvPr>
          <p:cNvSpPr/>
          <p:nvPr/>
        </p:nvSpPr>
        <p:spPr>
          <a:xfrm>
            <a:off x="164592" y="2821201"/>
            <a:ext cx="2514600" cy="36576"/>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 9">
            <a:extLst>
              <a:ext uri="{FF2B5EF4-FFF2-40B4-BE49-F238E27FC236}">
                <a16:creationId xmlns:a16="http://schemas.microsoft.com/office/drawing/2014/main" id="{C432A681-09A3-4A45-A0C7-40B67D7CBF30}"/>
              </a:ext>
            </a:extLst>
          </p:cNvPr>
          <p:cNvSpPr/>
          <p:nvPr/>
        </p:nvSpPr>
        <p:spPr>
          <a:xfrm>
            <a:off x="164592" y="2850286"/>
            <a:ext cx="25146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012169"/>
                </a:solidFill>
                <a:effectLst/>
                <a:uLnTx/>
                <a:uFillTx/>
                <a:latin typeface="Calibri" pitchFamily="34" charset="0"/>
                <a:ea typeface="Calibri" pitchFamily="34" charset="-122"/>
                <a:cs typeface="Calibri" pitchFamily="34" charset="-120"/>
              </a:rPr>
              <a:t>EDUCATION &amp; QUALIFICATIONS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 10">
            <a:extLst>
              <a:ext uri="{FF2B5EF4-FFF2-40B4-BE49-F238E27FC236}">
                <a16:creationId xmlns:a16="http://schemas.microsoft.com/office/drawing/2014/main" id="{2E3DFC87-67F7-DC62-E736-FCFD2B593AB5}"/>
              </a:ext>
            </a:extLst>
          </p:cNvPr>
          <p:cNvSpPr/>
          <p:nvPr/>
        </p:nvSpPr>
        <p:spPr>
          <a:xfrm>
            <a:off x="164592" y="3080539"/>
            <a:ext cx="2578608" cy="671144"/>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2169"/>
                </a:solidFill>
                <a:effectLst/>
                <a:uLnTx/>
                <a:uFillTx/>
                <a:latin typeface="Calibri" pitchFamily="34" charset="0"/>
                <a:ea typeface="Calibri" pitchFamily="34" charset="-122"/>
                <a:cs typeface="Calibri" pitchFamily="34" charset="-120"/>
              </a:rPr>
              <a:t>MBA (Finance and AI/Analytics), Institute of Management (IIM), Kashipur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12169"/>
                </a:solidFill>
                <a:effectLst/>
                <a:uLnTx/>
                <a:uFillTx/>
                <a:latin typeface="Calibri" pitchFamily="34" charset="0"/>
                <a:ea typeface="Calibri" pitchFamily="34" charset="-122"/>
                <a:cs typeface="Calibri" pitchFamily="34" charset="-120"/>
              </a:rPr>
              <a:t>B.Tech </a:t>
            </a:r>
            <a:r>
              <a:rPr kumimoji="0" lang="en-US" sz="900" i="0" u="none" strike="noStrike" kern="1200" cap="none" spc="0" normalizeH="0" baseline="0" noProof="0" dirty="0">
                <a:ln>
                  <a:noFill/>
                </a:ln>
                <a:solidFill>
                  <a:srgbClr val="012169"/>
                </a:solidFill>
                <a:effectLst/>
                <a:uLnTx/>
                <a:uFillTx/>
                <a:latin typeface="Calibri" pitchFamily="34" charset="0"/>
                <a:ea typeface="Calibri" pitchFamily="34" charset="-122"/>
                <a:cs typeface="Calibri" pitchFamily="34" charset="-120"/>
              </a:rPr>
              <a:t>(E.C)</a:t>
            </a:r>
          </a:p>
        </p:txBody>
      </p:sp>
      <p:sp>
        <p:nvSpPr>
          <p:cNvPr id="14" name="Shape 11">
            <a:extLst>
              <a:ext uri="{FF2B5EF4-FFF2-40B4-BE49-F238E27FC236}">
                <a16:creationId xmlns:a16="http://schemas.microsoft.com/office/drawing/2014/main" id="{6ECD0F4C-536E-636F-6E96-F535A6186965}"/>
              </a:ext>
            </a:extLst>
          </p:cNvPr>
          <p:cNvSpPr/>
          <p:nvPr/>
        </p:nvSpPr>
        <p:spPr>
          <a:xfrm>
            <a:off x="228600" y="3695525"/>
            <a:ext cx="2514600" cy="36576"/>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 12">
            <a:extLst>
              <a:ext uri="{FF2B5EF4-FFF2-40B4-BE49-F238E27FC236}">
                <a16:creationId xmlns:a16="http://schemas.microsoft.com/office/drawing/2014/main" id="{DACA5332-95BB-B677-14A6-F1970914E6A9}"/>
              </a:ext>
            </a:extLst>
          </p:cNvPr>
          <p:cNvSpPr/>
          <p:nvPr/>
        </p:nvSpPr>
        <p:spPr>
          <a:xfrm>
            <a:off x="196596" y="3890067"/>
            <a:ext cx="25146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012169"/>
                </a:solidFill>
                <a:effectLst/>
                <a:uLnTx/>
                <a:uFillTx/>
                <a:latin typeface="Calibri" pitchFamily="34" charset="0"/>
                <a:ea typeface="Calibri" pitchFamily="34" charset="-122"/>
                <a:cs typeface="Calibri" pitchFamily="34" charset="-120"/>
              </a:rPr>
              <a:t>FUNCTIONAL EXPERTISE</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 13">
            <a:extLst>
              <a:ext uri="{FF2B5EF4-FFF2-40B4-BE49-F238E27FC236}">
                <a16:creationId xmlns:a16="http://schemas.microsoft.com/office/drawing/2014/main" id="{6847C381-0C76-FC5C-D0FF-33C6C1313BCF}"/>
              </a:ext>
            </a:extLst>
          </p:cNvPr>
          <p:cNvSpPr/>
          <p:nvPr/>
        </p:nvSpPr>
        <p:spPr>
          <a:xfrm>
            <a:off x="210312" y="4065624"/>
            <a:ext cx="2578608" cy="1566829"/>
          </a:xfrm>
          <a:prstGeom prst="rect">
            <a:avLst/>
          </a:prstGeom>
          <a:noFill/>
          <a:ln/>
        </p:spPr>
        <p:txBody>
          <a:bodyPr wrap="square" rtlCol="0" anchor="t"/>
          <a:lstStyle/>
          <a:p>
            <a:pPr marR="0" lvl="0" algn="just" defTabSz="914400" rtl="0" eaLnBrk="1" fontAlgn="auto" latinLnBrk="0" hangingPunct="1">
              <a:lnSpc>
                <a:spcPct val="100000"/>
              </a:lnSpc>
              <a:spcBef>
                <a:spcPts val="0"/>
              </a:spcBef>
              <a:spcAft>
                <a:spcPts val="0"/>
              </a:spcAft>
              <a:buClrTx/>
              <a:buSzPct val="100000"/>
              <a:tabLst/>
              <a:defRPr/>
            </a:pPr>
            <a:r>
              <a:rPr kumimoji="0" lang="en-US" sz="1000" b="0" i="0" u="none" strike="noStrike" kern="1200" cap="none" spc="0" normalizeH="0" baseline="0" noProof="0" dirty="0">
                <a:ln>
                  <a:noFill/>
                </a:ln>
                <a:solidFill>
                  <a:srgbClr val="53565A"/>
                </a:solidFill>
                <a:effectLst/>
                <a:uLnTx/>
                <a:uFillTx/>
                <a:latin typeface="Calibri" pitchFamily="34" charset="0"/>
                <a:ea typeface="Calibri" pitchFamily="34" charset="-122"/>
                <a:cs typeface="Calibri" pitchFamily="34" charset="-120"/>
              </a:rPr>
              <a:t>AI strategy formulation and roadmap design, Government consulting and public sector transformation. AI use case identification, prioritization, and business case development. Stakeholder management and CXO-level advisory. Product management and digital solution design. Program and delivery management for large-scale AI initiatives.</a:t>
            </a:r>
          </a:p>
        </p:txBody>
      </p:sp>
      <p:sp>
        <p:nvSpPr>
          <p:cNvPr id="17" name="Shape 14">
            <a:extLst>
              <a:ext uri="{FF2B5EF4-FFF2-40B4-BE49-F238E27FC236}">
                <a16:creationId xmlns:a16="http://schemas.microsoft.com/office/drawing/2014/main" id="{97DF4AC9-DC53-30A4-2FBF-33A07DA50935}"/>
              </a:ext>
            </a:extLst>
          </p:cNvPr>
          <p:cNvSpPr/>
          <p:nvPr/>
        </p:nvSpPr>
        <p:spPr>
          <a:xfrm>
            <a:off x="173736" y="5703760"/>
            <a:ext cx="2514600" cy="36576"/>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8" name="Text 15">
            <a:extLst>
              <a:ext uri="{FF2B5EF4-FFF2-40B4-BE49-F238E27FC236}">
                <a16:creationId xmlns:a16="http://schemas.microsoft.com/office/drawing/2014/main" id="{6EAE0642-B7AE-FA80-E536-D39F69F10F67}"/>
              </a:ext>
            </a:extLst>
          </p:cNvPr>
          <p:cNvSpPr/>
          <p:nvPr/>
        </p:nvSpPr>
        <p:spPr>
          <a:xfrm>
            <a:off x="196596" y="5773388"/>
            <a:ext cx="251460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012169"/>
                </a:solidFill>
                <a:effectLst/>
                <a:uLnTx/>
                <a:uFillTx/>
                <a:latin typeface="Calibri" pitchFamily="34" charset="0"/>
                <a:ea typeface="Calibri" pitchFamily="34" charset="-122"/>
                <a:cs typeface="Calibri" pitchFamily="34" charset="-120"/>
              </a:rPr>
              <a:t>LANGUAGES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 16">
            <a:extLst>
              <a:ext uri="{FF2B5EF4-FFF2-40B4-BE49-F238E27FC236}">
                <a16:creationId xmlns:a16="http://schemas.microsoft.com/office/drawing/2014/main" id="{8B1C9B3F-B1C2-93F0-7AD0-8C1AAD1C494D}"/>
              </a:ext>
            </a:extLst>
          </p:cNvPr>
          <p:cNvSpPr/>
          <p:nvPr/>
        </p:nvSpPr>
        <p:spPr>
          <a:xfrm>
            <a:off x="196596" y="6016752"/>
            <a:ext cx="2514600" cy="201168"/>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3565A"/>
                </a:solidFill>
                <a:effectLst/>
                <a:uLnTx/>
                <a:uFillTx/>
                <a:latin typeface="Calibri"/>
                <a:ea typeface="Calibri"/>
                <a:cs typeface="Calibri"/>
              </a:rPr>
              <a:t>English | Hindi</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Shape 17">
            <a:extLst>
              <a:ext uri="{FF2B5EF4-FFF2-40B4-BE49-F238E27FC236}">
                <a16:creationId xmlns:a16="http://schemas.microsoft.com/office/drawing/2014/main" id="{531103D6-CF79-3C30-6528-E9087A58F459}"/>
              </a:ext>
            </a:extLst>
          </p:cNvPr>
          <p:cNvSpPr/>
          <p:nvPr/>
        </p:nvSpPr>
        <p:spPr>
          <a:xfrm>
            <a:off x="2971800" y="548640"/>
            <a:ext cx="54864" cy="256032"/>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 18">
            <a:extLst>
              <a:ext uri="{FF2B5EF4-FFF2-40B4-BE49-F238E27FC236}">
                <a16:creationId xmlns:a16="http://schemas.microsoft.com/office/drawing/2014/main" id="{58EC60A2-C1E8-707E-1582-FDFB73200845}"/>
              </a:ext>
            </a:extLst>
          </p:cNvPr>
          <p:cNvSpPr/>
          <p:nvPr/>
        </p:nvSpPr>
        <p:spPr>
          <a:xfrm>
            <a:off x="3081528" y="530352"/>
            <a:ext cx="27432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prstClr val="black"/>
                </a:solidFill>
                <a:effectLst/>
                <a:uLnTx/>
                <a:uFillTx/>
                <a:latin typeface="Calibri" pitchFamily="34" charset="0"/>
                <a:ea typeface="Calibri" pitchFamily="34" charset="-122"/>
                <a:cs typeface="Calibri" pitchFamily="34" charset="-120"/>
              </a:rPr>
              <a:t>OVERVIEW</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 19">
            <a:extLst>
              <a:ext uri="{FF2B5EF4-FFF2-40B4-BE49-F238E27FC236}">
                <a16:creationId xmlns:a16="http://schemas.microsoft.com/office/drawing/2014/main" id="{88E59EC5-892A-934B-0273-4371CCB894CC}"/>
              </a:ext>
            </a:extLst>
          </p:cNvPr>
          <p:cNvSpPr/>
          <p:nvPr/>
        </p:nvSpPr>
        <p:spPr>
          <a:xfrm>
            <a:off x="2990088" y="712082"/>
            <a:ext cx="9006840" cy="1685923"/>
          </a:xfrm>
          <a:prstGeom prst="rect">
            <a:avLst/>
          </a:prstGeom>
          <a:noFill/>
          <a:ln/>
        </p:spPr>
        <p:txBody>
          <a:bodyPr wrap="square"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Vibha Garg is an experienced AI and analytics leader with over </a:t>
            </a:r>
            <a:r>
              <a:rPr kumimoji="0" lang="en-US" sz="10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12+ years of experience across consulting, AI transformation, and product management.</a:t>
            </a: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She has </a:t>
            </a:r>
            <a:r>
              <a:rPr kumimoji="0" lang="en-US" sz="1000" b="1"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led large-scale AI strategy and implementation programs</a:t>
            </a:r>
            <a:r>
              <a:rPr kumimoji="0" lang="en-US" sz="1000" b="0" i="0" u="none" strike="noStrike" kern="1200" cap="none" spc="0" normalizeH="0" baseline="0" noProof="0" dirty="0">
                <a:ln>
                  <a:noFill/>
                </a:ln>
                <a:solidFill>
                  <a:srgbClr val="1A1A1A"/>
                </a:solidFill>
                <a:effectLst/>
                <a:uLnTx/>
                <a:uFillTx/>
                <a:latin typeface="Calibri" pitchFamily="34" charset="0"/>
                <a:ea typeface="Calibri" pitchFamily="34" charset="-122"/>
                <a:cs typeface="Calibri" pitchFamily="34" charset="-120"/>
              </a:rPr>
              <a:t>, working closely with senior government stakeholders and CXOs to drive data-driven decision-making, operational efficiency, and cost optimization. Her experience spans AI strategy, enterprise AI platforms, and end-to-end implementation, with a strong focus on public sector transformation and large-scale digital initiatives</a:t>
            </a:r>
          </a:p>
        </p:txBody>
      </p:sp>
      <p:sp>
        <p:nvSpPr>
          <p:cNvPr id="23" name="Shape 20">
            <a:extLst>
              <a:ext uri="{FF2B5EF4-FFF2-40B4-BE49-F238E27FC236}">
                <a16:creationId xmlns:a16="http://schemas.microsoft.com/office/drawing/2014/main" id="{B09B8A88-2902-D129-2BB6-593B643D5019}"/>
              </a:ext>
            </a:extLst>
          </p:cNvPr>
          <p:cNvSpPr/>
          <p:nvPr/>
        </p:nvSpPr>
        <p:spPr>
          <a:xfrm>
            <a:off x="2985516" y="1516472"/>
            <a:ext cx="54864" cy="256032"/>
          </a:xfrm>
          <a:prstGeom prst="rect">
            <a:avLst/>
          </a:prstGeom>
          <a:solidFill>
            <a:srgbClr val="86BC25"/>
          </a:solidFill>
          <a:ln w="127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Text 21">
            <a:extLst>
              <a:ext uri="{FF2B5EF4-FFF2-40B4-BE49-F238E27FC236}">
                <a16:creationId xmlns:a16="http://schemas.microsoft.com/office/drawing/2014/main" id="{6572428B-2959-9524-E74A-B4D089A20B00}"/>
              </a:ext>
            </a:extLst>
          </p:cNvPr>
          <p:cNvSpPr/>
          <p:nvPr/>
        </p:nvSpPr>
        <p:spPr>
          <a:xfrm>
            <a:off x="3081528" y="1496734"/>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prstClr val="black"/>
                </a:solidFill>
                <a:effectLst/>
                <a:uLnTx/>
                <a:uFillTx/>
                <a:latin typeface="Calibri" pitchFamily="34" charset="0"/>
                <a:ea typeface="Calibri" pitchFamily="34" charset="-122"/>
                <a:cs typeface="Calibri" pitchFamily="34" charset="-120"/>
              </a:rPr>
              <a:t>KEY PROJECTS</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5" name="Text 22">
            <a:extLst>
              <a:ext uri="{FF2B5EF4-FFF2-40B4-BE49-F238E27FC236}">
                <a16:creationId xmlns:a16="http://schemas.microsoft.com/office/drawing/2014/main" id="{D140AC7E-DCD3-0E29-3806-E8E594A0D127}"/>
              </a:ext>
            </a:extLst>
          </p:cNvPr>
          <p:cNvSpPr/>
          <p:nvPr/>
        </p:nvSpPr>
        <p:spPr>
          <a:xfrm>
            <a:off x="2926080" y="1810816"/>
            <a:ext cx="9006840" cy="3652885"/>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Gen AI based earnings narrative asset - </a:t>
            </a:r>
            <a:r>
              <a:rPr kumimoji="0" lang="en-US" sz="1000" b="1" i="0" u="none" strike="noStrike" kern="1200" cap="none" spc="0" normalizeH="0" baseline="0" noProof="0" dirty="0">
                <a:ln>
                  <a:noFill/>
                </a:ln>
                <a:effectLst/>
                <a:uLnTx/>
                <a:uFillTx/>
                <a:latin typeface="Calibri" pitchFamily="34" charset="0"/>
                <a:ea typeface="Calibri" pitchFamily="34" charset="-122"/>
                <a:cs typeface="Calibri" pitchFamily="34" charset="-120"/>
              </a:rPr>
              <a:t>Led the design and deployment of a Generative AI powered solution</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 that automatically generates earnings narratives for global CEO from earnings calls and transcripts</a:t>
            </a: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Led development of Store clustering and outlier analysis dashboard </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to monitor stores with high inventory and cash variance driving process related enhancements and actionable insights. Also led </a:t>
            </a:r>
            <a:r>
              <a:rPr kumimoji="0" lang="en-US" sz="1000" b="1" i="0" u="none" strike="noStrike" kern="1200" cap="none" spc="0" normalizeH="0" baseline="0" noProof="0" dirty="0">
                <a:ln>
                  <a:noFill/>
                </a:ln>
                <a:effectLst/>
                <a:uLnTx/>
                <a:uFillTx/>
                <a:latin typeface="Calibri" pitchFamily="34" charset="0"/>
                <a:ea typeface="Calibri" pitchFamily="34" charset="-122"/>
                <a:cs typeface="Calibri" pitchFamily="34" charset="-120"/>
              </a:rPr>
              <a:t>development of P2P solution</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 with actionable insights and simulation capability to calculate impact of various P2P strategies and improve vendor payment experience.</a:t>
            </a: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Led development of risk profiling solution </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to categorize brokers in high/medium/low risk categories and analyze its cash flow impact for a </a:t>
            </a:r>
            <a:r>
              <a:rPr kumimoji="0" lang="en-US" sz="1000" b="1" i="0" u="none" strike="noStrike" kern="1200" cap="none" spc="0" normalizeH="0" baseline="0" noProof="0" dirty="0">
                <a:ln>
                  <a:noFill/>
                </a:ln>
                <a:effectLst/>
                <a:uLnTx/>
                <a:uFillTx/>
                <a:latin typeface="Calibri" pitchFamily="34" charset="0"/>
                <a:ea typeface="Calibri" pitchFamily="34" charset="-122"/>
                <a:cs typeface="Calibri" pitchFamily="34" charset="-120"/>
              </a:rPr>
              <a:t>UK based insurance client.</a:t>
            </a: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Led the cross-functional team to successful implementation of Global intelligent platform </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which serves as one stop solution with 360-degree view on financial landscape with 100+ KPIs. </a:t>
            </a:r>
          </a:p>
          <a:p>
            <a:pPr marL="342900" indent="-342900">
              <a:spcBef>
                <a:spcPts val="600"/>
              </a:spcBef>
              <a:spcAft>
                <a:spcPts val="400"/>
              </a:spcAft>
              <a:buSzPct val="100000"/>
              <a:buFontTx/>
              <a:buChar char="■"/>
              <a:defRPr/>
            </a:pPr>
            <a:r>
              <a:rPr lang="en-US" sz="1000" b="1" dirty="0">
                <a:solidFill>
                  <a:srgbClr val="0076A8"/>
                </a:solidFill>
                <a:latin typeface="Calibri" pitchFamily="34" charset="0"/>
                <a:ea typeface="Calibri" pitchFamily="34" charset="-122"/>
                <a:cs typeface="Calibri" pitchFamily="34" charset="-120"/>
              </a:rPr>
              <a:t>AI Strategy &amp; Platform Design for Road &amp; Transport Authority, Dubai - </a:t>
            </a:r>
            <a:r>
              <a:rPr lang="en-US" sz="1000" dirty="0">
                <a:latin typeface="Calibri" pitchFamily="34" charset="0"/>
                <a:ea typeface="Calibri" pitchFamily="34" charset="-122"/>
                <a:cs typeface="Calibri" pitchFamily="34" charset="-120"/>
              </a:rPr>
              <a:t>Designed and developed the business case, product requirements, architecture, RFI and RFP for an </a:t>
            </a:r>
            <a:r>
              <a:rPr lang="en-US" sz="1000" b="1" dirty="0">
                <a:latin typeface="Calibri" pitchFamily="34" charset="0"/>
                <a:ea typeface="Calibri" pitchFamily="34" charset="-122"/>
                <a:cs typeface="Calibri" pitchFamily="34" charset="-120"/>
              </a:rPr>
              <a:t>Enterprise AI Platform</a:t>
            </a:r>
            <a:r>
              <a:rPr lang="en-US" sz="1000" dirty="0">
                <a:latin typeface="Calibri" pitchFamily="34" charset="0"/>
                <a:ea typeface="Calibri" pitchFamily="34" charset="-122"/>
                <a:cs typeface="Calibri" pitchFamily="34" charset="-120"/>
              </a:rPr>
              <a:t>. Conducted </a:t>
            </a:r>
            <a:r>
              <a:rPr lang="en-US" sz="1000" b="1" dirty="0">
                <a:latin typeface="Calibri" pitchFamily="34" charset="0"/>
                <a:ea typeface="Calibri" pitchFamily="34" charset="-122"/>
                <a:cs typeface="Calibri" pitchFamily="34" charset="-120"/>
              </a:rPr>
              <a:t>gap analysis for Cloudera Big Data Platform</a:t>
            </a:r>
            <a:r>
              <a:rPr lang="en-US" sz="1000" dirty="0">
                <a:latin typeface="Calibri" pitchFamily="34" charset="0"/>
                <a:ea typeface="Calibri" pitchFamily="34" charset="-122"/>
                <a:cs typeface="Calibri" pitchFamily="34" charset="-120"/>
              </a:rPr>
              <a:t> with respect to its usage for Artificial Intelligence. Assessed 135 AI projects and ideas and prioritized them based on their business impact and complexity. Prepared AI Strategic plan and AI implementation roadmap of these projects. Conducted data and </a:t>
            </a:r>
            <a:r>
              <a:rPr lang="en-US" sz="1000" b="1" dirty="0">
                <a:latin typeface="Calibri" pitchFamily="34" charset="0"/>
                <a:ea typeface="Calibri" pitchFamily="34" charset="-122"/>
                <a:cs typeface="Calibri" pitchFamily="34" charset="-120"/>
              </a:rPr>
              <a:t>systems AI readiness of 100+ RTA systems</a:t>
            </a:r>
            <a:r>
              <a:rPr lang="en-US" sz="1000" dirty="0">
                <a:latin typeface="Calibri" pitchFamily="34" charset="0"/>
                <a:ea typeface="Calibri" pitchFamily="34" charset="-122"/>
                <a:cs typeface="Calibri" pitchFamily="34" charset="-120"/>
              </a:rPr>
              <a:t> including assessment for </a:t>
            </a:r>
            <a:r>
              <a:rPr lang="en-US" sz="1000" b="1" dirty="0">
                <a:latin typeface="Calibri" pitchFamily="34" charset="0"/>
                <a:ea typeface="Calibri" pitchFamily="34" charset="-122"/>
                <a:cs typeface="Calibri" pitchFamily="34" charset="-120"/>
              </a:rPr>
              <a:t>Big Data Platform and DW</a:t>
            </a: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AI Strategy &amp; Transformation - </a:t>
            </a:r>
            <a:r>
              <a:rPr kumimoji="0" lang="en-US" sz="1000" b="1" i="0" u="none" strike="noStrike" kern="1200" cap="none" spc="0" normalizeH="0" baseline="0" noProof="0" dirty="0">
                <a:ln>
                  <a:noFill/>
                </a:ln>
                <a:effectLst/>
                <a:uLnTx/>
                <a:uFillTx/>
                <a:latin typeface="Calibri" pitchFamily="34" charset="0"/>
                <a:ea typeface="Calibri" pitchFamily="34" charset="-122"/>
                <a:cs typeface="Calibri" pitchFamily="34" charset="-120"/>
              </a:rPr>
              <a:t>Led AI strategy and acceleration roadmap</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 for Government of Andhra Pradesh </a:t>
            </a:r>
            <a:r>
              <a:rPr kumimoji="0" lang="en-US" sz="1000" b="1" i="0" u="none" strike="noStrike" kern="1200" cap="none" spc="0" normalizeH="0" baseline="0" noProof="0" dirty="0">
                <a:ln>
                  <a:noFill/>
                </a:ln>
                <a:effectLst/>
                <a:uLnTx/>
                <a:uFillTx/>
                <a:latin typeface="Calibri" pitchFamily="34" charset="0"/>
                <a:ea typeface="Calibri" pitchFamily="34" charset="-122"/>
                <a:cs typeface="Calibri" pitchFamily="34" charset="-120"/>
              </a:rPr>
              <a:t>Assessed 130+ AI use cases </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across scalability, feasibility, and data readiness Defined procurement pathways and implementation roadmap Led AI market activation initiatives</a:t>
            </a:r>
            <a:r>
              <a:rPr lang="en-US" sz="1000" b="1" dirty="0">
                <a:latin typeface="Calibri" pitchFamily="34" charset="0"/>
                <a:ea typeface="Calibri" pitchFamily="34" charset="-122"/>
                <a:cs typeface="Calibri" pitchFamily="34" charset="-120"/>
              </a:rPr>
              <a:t>. Designed Solution Architecture for the AI Solutions in different domains.</a:t>
            </a: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Gen AI Solutions - </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Led development of GenAI solutions with role-based access leveraging structured and unstructured datasets to obtain information regarding procurement from both structured and un-structured datasets with enablement of role-based access.</a:t>
            </a:r>
            <a:endPar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endParaRPr>
          </a:p>
          <a:p>
            <a:pPr marL="342900" marR="0" lvl="0" indent="-342900" algn="l" defTabSz="914400" rtl="0" eaLnBrk="1" fontAlgn="auto" latinLnBrk="0" hangingPunct="1">
              <a:lnSpc>
                <a:spcPct val="100000"/>
              </a:lnSpc>
              <a:spcBef>
                <a:spcPts val="600"/>
              </a:spcBef>
              <a:spcAft>
                <a:spcPts val="400"/>
              </a:spcAft>
              <a:buClrTx/>
              <a:buSzPct val="100000"/>
              <a:buFontTx/>
              <a:buChar char="■"/>
              <a:tabLst/>
              <a:defRPr/>
            </a:pPr>
            <a:r>
              <a:rPr kumimoji="0" lang="en-US" sz="1000" b="1" i="0"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Led the design and development of a B2B financial management product - a</a:t>
            </a:r>
            <a:r>
              <a:rPr kumimoji="0" lang="en-US" sz="1000" i="0" u="none" strike="noStrike" kern="1200" cap="none" spc="0" normalizeH="0" baseline="0" noProof="0" dirty="0">
                <a:ln>
                  <a:noFill/>
                </a:ln>
                <a:effectLst/>
                <a:uLnTx/>
                <a:uFillTx/>
                <a:latin typeface="Calibri" pitchFamily="34" charset="0"/>
                <a:ea typeface="Calibri" pitchFamily="34" charset="-122"/>
                <a:cs typeface="Calibri" pitchFamily="34" charset="-120"/>
              </a:rPr>
              <a:t> fund disbursement solution to manage hierarchical payments with multiple approval levels expenditure head wise and to monitor the funds. </a:t>
            </a:r>
          </a:p>
        </p:txBody>
      </p:sp>
      <p:sp>
        <p:nvSpPr>
          <p:cNvPr id="38" name="Text 35">
            <a:extLst>
              <a:ext uri="{FF2B5EF4-FFF2-40B4-BE49-F238E27FC236}">
                <a16:creationId xmlns:a16="http://schemas.microsoft.com/office/drawing/2014/main" id="{116ECC67-683C-0655-5165-832B2D7A8638}"/>
              </a:ext>
            </a:extLst>
          </p:cNvPr>
          <p:cNvSpPr/>
          <p:nvPr/>
        </p:nvSpPr>
        <p:spPr>
          <a:xfrm>
            <a:off x="182880" y="6388384"/>
            <a:ext cx="64008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 2026 Deloitte Touche Tohmatsu India LLP</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9" name="Text 36">
            <a:extLst>
              <a:ext uri="{FF2B5EF4-FFF2-40B4-BE49-F238E27FC236}">
                <a16:creationId xmlns:a16="http://schemas.microsoft.com/office/drawing/2014/main" id="{47FBBECC-2B4B-8022-A542-B8794973DDAC}"/>
              </a:ext>
            </a:extLst>
          </p:cNvPr>
          <p:cNvSpPr/>
          <p:nvPr/>
        </p:nvSpPr>
        <p:spPr>
          <a:xfrm>
            <a:off x="10515600" y="6656832"/>
            <a:ext cx="1463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Confidential</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2" name="Text 6">
            <a:extLst>
              <a:ext uri="{FF2B5EF4-FFF2-40B4-BE49-F238E27FC236}">
                <a16:creationId xmlns:a16="http://schemas.microsoft.com/office/drawing/2014/main" id="{FC17898E-6BD0-4DEF-12DB-EA6E91A99214}"/>
              </a:ext>
            </a:extLst>
          </p:cNvPr>
          <p:cNvSpPr/>
          <p:nvPr/>
        </p:nvSpPr>
        <p:spPr>
          <a:xfrm>
            <a:off x="137160" y="2536315"/>
            <a:ext cx="265176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0076A8"/>
                </a:solidFill>
                <a:effectLst/>
                <a:uLnTx/>
                <a:uFillTx/>
                <a:latin typeface="Calibri" pitchFamily="34" charset="0"/>
                <a:ea typeface="Calibri" pitchFamily="34" charset="-122"/>
                <a:cs typeface="Calibri" pitchFamily="34" charset="-120"/>
              </a:rPr>
              <a:t>Engagement Manager</a:t>
            </a:r>
          </a:p>
        </p:txBody>
      </p:sp>
      <p:pic>
        <p:nvPicPr>
          <p:cNvPr id="30" name="Picture 29">
            <a:extLst>
              <a:ext uri="{FF2B5EF4-FFF2-40B4-BE49-F238E27FC236}">
                <a16:creationId xmlns:a16="http://schemas.microsoft.com/office/drawing/2014/main" id="{E1154A13-2A0D-D406-316F-A29802DFC734}"/>
              </a:ext>
            </a:extLst>
          </p:cNvPr>
          <p:cNvPicPr>
            <a:picLocks noChangeAspect="1"/>
          </p:cNvPicPr>
          <p:nvPr/>
        </p:nvPicPr>
        <p:blipFill>
          <a:blip r:embed="rId3">
            <a:extLst>
              <a:ext uri="{28A0092B-C50C-407E-A947-70E740481C1C}">
                <a14:useLocalDpi xmlns:a14="http://schemas.microsoft.com/office/drawing/2010/main" val="0"/>
              </a:ext>
            </a:extLst>
          </a:blip>
          <a:srcRect r="3968" b="3367"/>
          <a:stretch>
            <a:fillRect/>
          </a:stretch>
        </p:blipFill>
        <p:spPr>
          <a:xfrm>
            <a:off x="908401" y="816861"/>
            <a:ext cx="1061914" cy="1399222"/>
          </a:xfrm>
          <a:prstGeom prst="rect">
            <a:avLst/>
          </a:prstGeom>
          <a:ln>
            <a:solidFill>
              <a:srgbClr val="76BD1D"/>
            </a:solidFill>
          </a:ln>
        </p:spPr>
      </p:pic>
    </p:spTree>
    <p:extLst>
      <p:ext uri="{BB962C8B-B14F-4D97-AF65-F5344CB8AC3E}">
        <p14:creationId xmlns:p14="http://schemas.microsoft.com/office/powerpoint/2010/main" val="1192401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2</TotalTime>
  <Words>540</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 Vibha</dc:creator>
  <cp:lastModifiedBy>Garg, Vibha</cp:lastModifiedBy>
  <cp:revision>1</cp:revision>
  <dcterms:created xsi:type="dcterms:W3CDTF">2026-09-23T15:42:39Z</dcterms:created>
  <dcterms:modified xsi:type="dcterms:W3CDTF">2026-09-23T15:45:20Z</dcterms:modified>
</cp:coreProperties>
</file>