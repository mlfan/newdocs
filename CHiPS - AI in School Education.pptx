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68" r:id="rId2"/>
    <p:sldId id="257" r:id="rId3"/>
    <p:sldId id="258" r:id="rId4"/>
    <p:sldId id="269" r:id="rId5"/>
    <p:sldId id="266" r:id="rId6"/>
    <p:sldId id="262" r:id="rId7"/>
    <p:sldId id="263" r:id="rId8"/>
    <p:sldId id="264" r:id="rId9"/>
    <p:sldId id="265" r:id="rId10"/>
    <p:sldId id="38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404" autoAdjust="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099BE7-8667-46F5-96B8-47A217A9941F}" type="datetimeFigureOut">
              <a:rPr lang="en-IN" smtClean="0"/>
              <a:t>15-09-2026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89D29D-32BE-44D8-AA37-8BD08BB4590B}" type="slidenum">
              <a:rPr lang="en-IN" smtClean="0"/>
              <a:t>‹#›</a:t>
            </a:fld>
            <a:endParaRPr lang="en-IN"/>
          </a:p>
        </p:txBody>
      </p:sp>
    </p:spTree>
    <p:extLst>
      <p:ext uri="{BB962C8B-B14F-4D97-AF65-F5344CB8AC3E}">
        <p14:creationId xmlns:p14="http://schemas.microsoft.com/office/powerpoint/2010/main" val="1946980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Pillars 1-4 are enablers run largely by the Mission. Pillar 5 is where every department in this room is the owner.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7A5BE-5ABC-2810-4AE6-385C19A35A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FF47E9-9604-0467-2611-CD425C210065}"/>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D881725B-8A26-934B-565E-C45D020C1A6F}"/>
              </a:ext>
            </a:extLst>
          </p:cNvPr>
          <p:cNvSpPr>
            <a:spLocks noGrp="1"/>
          </p:cNvSpPr>
          <p:nvPr>
            <p:ph type="body" idx="1"/>
          </p:nvPr>
        </p:nvSpPr>
        <p:spPr/>
        <p:txBody>
          <a:bodyPr/>
          <a:lstStyle/>
          <a:p>
            <a:r>
              <a:rPr lang="en-US" dirty="0"/>
              <a:t>Sources - Gujarat-IBM GIFT City AI Cluster: https://in.newsroom.ibm.com/2024-06-29-IBM-and-GovtGujarat-sign-MoU-to-establish-AI-Cluster-in-GIFT-city | Gujarat-IBM CTE skilling: https://in.newsroom.ibm.com/2024-01-12-IBM-collaborates-with-CTE-Gujarat-to-propel-skilling | Rajasthan MoUs with Google, IIT Delhi, NLU Jodhpur and Wadhwani Foundation: https://www.pib.gov.in/PressReleasePage.aspx?PRID=2212007 (note: this corrects PRID 2225476 cited in the earlier draft) | Andhra Pradesh-Calibo: https://calibo.com/company/news/andhra-pradesh-calibo-mou-responsible-ai-use-cases/ | Maharashtra-NIELIT via MSBTE: https://indiaai.gov.in/article/nielit-collaborates-with-maharashtra-govt-to-establish-centers-of-excellence-in-ai-robotics | Maharashtra-Microsoft AI CoEs: https://www.newsonair.gov.in/maharashtra-govt-partners-with-microsoft-to-stablish-3-ai-centres-of-excellence/ | Kerala AI CoEs: https://telanganatoday.com/kerala-to-set-up-rs-40-crore-twin-ai-centres-with-centres-support | MSDE-Microsoft 'AI Careers for Women': https://www.pib.gov.in/PressReleasePage.aspx?PRID=2123510 | IndiaAI-AISECT 'Yuva AI for All': https://www.pib.gov.in/PressReleseDetailm.aspx?PRID=2226130 | Google ATL Saathi: https://www.deccanherald.com/technology/artificial-intelligence/io-connect-india-2026-google-brings-ai-research-foundation-curriculum-atl-saathi-labs-for-schools-in-india-4073255 | Odisha-HCLTech &amp; Sarvam AI: https://www.etvbharat.com/en/state/odisha-govt-inks-mou-with-hcltech-sarvam-ai-for-setting-up-ai-excellence-centres-in-state-enn26072406146</a:t>
            </a:r>
          </a:p>
        </p:txBody>
      </p:sp>
      <p:sp>
        <p:nvSpPr>
          <p:cNvPr id="4" name="Slide Number Placeholder 3">
            <a:extLst>
              <a:ext uri="{FF2B5EF4-FFF2-40B4-BE49-F238E27FC236}">
                <a16:creationId xmlns:a16="http://schemas.microsoft.com/office/drawing/2014/main" id="{7EC23DA9-6D19-5F03-CB30-D2DE4600176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3527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Sources - Gujarat-IBM GIFT City AI Cluster: https://in.newsroom.ibm.com/2024-06-29-IBM-and-GovtGujarat-sign-MoU-to-establish-AI-Cluster-in-GIFT-city | Gujarat-IBM CTE skilling: https://in.newsroom.ibm.com/2024-01-12-IBM-collaborates-with-CTE-Gujarat-to-propel-skilling | Rajasthan MoUs with Google, IIT Delhi, NLU Jodhpur and Wadhwani Foundation: https://www.pib.gov.in/PressReleasePage.aspx?PRID=2212007 (note: this corrects PRID 2225476 cited in the earlier draft) | Andhra Pradesh-Calibo: https://calibo.com/company/news/andhra-pradesh-calibo-mou-responsible-ai-use-cases/ | Maharashtra-NIELIT via MSBTE: https://indiaai.gov.in/article/nielit-collaborates-with-maharashtra-govt-to-establish-centers-of-excellence-in-ai-robotics | Maharashtra-Microsoft AI CoEs: https://www.newsonair.gov.in/maharashtra-govt-partners-with-microsoft-to-stablish-3-ai-centres-of-excellence/ | Kerala AI CoEs: https://telanganatoday.com/kerala-to-set-up-rs-40-crore-twin-ai-centres-with-centres-support | MSDE-Microsoft 'AI Careers for Women': https://www.pib.gov.in/PressReleasePage.aspx?PRID=2123510 | IndiaAI-AISECT 'Yuva AI for All': https://www.pib.gov.in/PressReleseDetailm.aspx?PRID=2226130 | Google ATL Saathi: https://www.deccanherald.com/technology/artificial-intelligence/io-connect-india-2026-google-brings-ai-research-foundation-curriculum-atl-saathi-labs-for-schools-in-india-4073255 | Odisha-HCLTech &amp; Sarvam AI: https://www.etvbharat.com/en/state/odisha-govt-inks-mou-with-hcltech-sarvam-ai-for-setting-up-ai-excellence-centres-in-state-enn26072406146</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Sources - Kerala AI CoEs: https://telanganatoday.com/kerala-to-set-up-rs-40-crore-twin-ai-centres-with-centres-support | Kerala Bio-AI cohorts: https://www.digitalhealthnews.com/kerala-launches-ai-centres-of-excellence-to-boost-research-innovation | NIELIT-Maharashtra: https://indiaai.gov.in/article/nielit-collaborates-with-maharashtra-govt-to-establish-centers-of-excellence-in-ai-robotics | Telangana-Blaize: https://ir.blaize.com/news-releases/news-release-details/government-telangana-and-blaize-sign-mou-davos-launch-telangana | Odisha-HCLTech/Sarvam: https://www.etvbharat.com/en/state/odisha-govt-inks-mou-with-hcltech-sarvam-ai-for-setting-up-ai-excellence-centres-in-state-enn26072406146 | T-AIM Revv Up: https://indiaai.gov.in/news/t-aim-revvup-accelerator-shortlists-42-ai-startups-in-1st-cohort | Odisha-IIT Kanpur: https://news.careers360.com/odisha-govt-signs-mou-iit-kanpur-strengthen-ai-driven-urban-governance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Sources - Kaushal Rath / Yuva AI for All: https://www.pib.gov.in/PressReleseDetailm.aspx?PRID=2226130 and https://ddnews.gov.in/en/government-flags-off-kaushal-rath-to-promote-ai-literacy-under-yuva-ai-for-all-initiative/ | Odisha for AI: https://ai.odisha.gov.in/ | Yashoda AI: https://aikosh.indiaai.gov.in/home/use-cases/details/yashoda_ai_digital_rights_on_paper_barriers_in_practice.html | Odisha AI Summit: https://impact.indiaai.gov.in/regional-summit/odisha | MP Regional AI Impact Conference: https://knnindia.co.in/news/newsdetails/sectors/others/mp-govt-signs-mou-with-bhashini-to-strengthen-multilingual-digital-governance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Sources - India AI Governance Guidelines: https://www.pib.gov.in/PressReleasePage.aspx?PRID=2186639 | DPDP Rules 2025: https://www.pib.gov.in/PressReleseDetailm.aspx?PRID=2190014 | CERT-In empanelment and AI advisories: https://www.cert-in.org.in/PDF/CP_Samvaad-2026.pdf and https://www.fintechbiznews.com/govtregulators/regulatory-frameworks-for-ai-driven-cybersec-opportunity-for-regulators | IndiaAI Safety Institute: https://indiaai.gov.in/article/call-for-partnerships-as-part-of-the-indiaai-safety-institute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r>
              <a:rPr lang="en-US" dirty="0"/>
              <a:t>Sources - Maharashtra-Microsoft: https://www.newsonair.gov.in/maharashtra-govt-partners-with-microsoft-to-stablish-3-ai-centres-of-excellence/ | Maharashtra-IBM: https://newsonair.gov.in/maharashtra-signs-mou-with-ibm-for-administrative-transformation-through-ai | MP-BHASHINI: https://knnindia.co.in/news/newsdetails/sectors/others/mp-govt-signs-mou-with-bhashini-to-strengthen-multilingual-digital-governance | Assam-BHASHINI: https://techobserver.in/news/egov/bhashini-assam-mou-ai-translation-services-325508/ | MP forest alert system: https://apacnewsnetwork.com/2025/04/mp-govt-launches-indias-first-ai-based-real-time-forest-alert-system/ | FSI forest fire alerts: https://fsiforestfire.gov.in/ | Odisha-IIT Kanpur: https://news.careers360.com/odisha-govt-signs-mou-iit-kanpur-strengthen-ai-driven-urban-governance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157000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8845471"/>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435042-AABC-ECB5-4CB6-DC2A0EAAE28E}"/>
              </a:ext>
            </a:extLst>
          </p:cNvPr>
          <p:cNvSpPr/>
          <p:nvPr/>
        </p:nvSpPr>
        <p:spPr>
          <a:xfrm>
            <a:off x="0" y="0"/>
            <a:ext cx="12192000" cy="6858000"/>
          </a:xfrm>
          <a:prstGeom prst="rect">
            <a:avLst/>
          </a:prstGeom>
          <a:solidFill>
            <a:schemeClr val="bg1">
              <a:lumMod val="9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Google Shape;46;p15">
            <a:extLst>
              <a:ext uri="{FF2B5EF4-FFF2-40B4-BE49-F238E27FC236}">
                <a16:creationId xmlns:a16="http://schemas.microsoft.com/office/drawing/2014/main" id="{DECF27B2-A49A-5D0E-0290-6285CE85D106}"/>
              </a:ext>
            </a:extLst>
          </p:cNvPr>
          <p:cNvSpPr txBox="1">
            <a:spLocks/>
          </p:cNvSpPr>
          <p:nvPr/>
        </p:nvSpPr>
        <p:spPr>
          <a:xfrm>
            <a:off x="4047051" y="0"/>
            <a:ext cx="5588655" cy="2771932"/>
          </a:xfrm>
          <a:prstGeom prst="rect">
            <a:avLst/>
          </a:prstGeom>
        </p:spPr>
        <p:txBody>
          <a:bodyPr spcFirstLastPara="1" wrap="square" lIns="121900" tIns="121900" rIns="121900" bIns="12190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333" b="1" i="0" u="none" strike="noStrike" kern="1200" cap="none" spc="0" normalizeH="0" baseline="0" noProof="0" dirty="0">
                <a:ln>
                  <a:noFill/>
                </a:ln>
                <a:solidFill>
                  <a:srgbClr val="A5A5A5">
                    <a:lumMod val="50000"/>
                  </a:srgbClr>
                </a:solidFill>
                <a:effectLst/>
                <a:uLnTx/>
                <a:uFillTx/>
                <a:latin typeface="Aptos" panose="020B0004020202020204" pitchFamily="34" charset="0"/>
                <a:ea typeface="Calibri" panose="020F0502020204030204" pitchFamily="34" charset="0"/>
                <a:cs typeface="Calibri" panose="020F0502020204030204" pitchFamily="34" charset="0"/>
              </a:rPr>
              <a:t>Chhattisgarh AI Mission - Education Department Workshop</a:t>
            </a:r>
          </a:p>
        </p:txBody>
      </p:sp>
      <p:sp>
        <p:nvSpPr>
          <p:cNvPr id="3" name="Google Shape;47;p15">
            <a:extLst>
              <a:ext uri="{FF2B5EF4-FFF2-40B4-BE49-F238E27FC236}">
                <a16:creationId xmlns:a16="http://schemas.microsoft.com/office/drawing/2014/main" id="{CDBB5341-87ED-8EEF-DE94-E7AA91E5747A}"/>
              </a:ext>
            </a:extLst>
          </p:cNvPr>
          <p:cNvSpPr txBox="1">
            <a:spLocks/>
          </p:cNvSpPr>
          <p:nvPr/>
        </p:nvSpPr>
        <p:spPr>
          <a:xfrm>
            <a:off x="2437563" y="5165059"/>
            <a:ext cx="7198143" cy="468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800"/>
              <a:buFont typeface="Roboto"/>
              <a:buNone/>
              <a:defRPr sz="1600" b="0" i="0" u="none" strike="noStrike" cap="none" spc="0">
                <a:solidFill>
                  <a:schemeClr val="dk1"/>
                </a:solidFill>
                <a:latin typeface="Roboto"/>
                <a:ea typeface="Roboto"/>
                <a:cs typeface="Roboto"/>
                <a:sym typeface="Roboto"/>
              </a:defRPr>
            </a:lvl1pPr>
            <a:lvl2pPr marL="914400" marR="0" lvl="1" indent="-317500" algn="l" rtl="0">
              <a:lnSpc>
                <a:spcPct val="100000"/>
              </a:lnSpc>
              <a:spcBef>
                <a:spcPts val="0"/>
              </a:spcBef>
              <a:spcAft>
                <a:spcPts val="0"/>
              </a:spcAft>
              <a:buClr>
                <a:schemeClr val="dk1"/>
              </a:buClr>
              <a:buSzPts val="2800"/>
              <a:buFont typeface="Roboto"/>
              <a:buNone/>
              <a:defRPr sz="2800" b="0" i="0" u="none" strike="noStrike" cap="none" spc="0">
                <a:solidFill>
                  <a:schemeClr val="dk1"/>
                </a:solidFill>
                <a:latin typeface="Roboto"/>
                <a:ea typeface="Roboto"/>
                <a:cs typeface="Roboto"/>
                <a:sym typeface="Roboto"/>
              </a:defRPr>
            </a:lvl2pPr>
            <a:lvl3pPr marL="1371600" marR="0" lvl="2" indent="-317500" algn="l" rtl="0">
              <a:lnSpc>
                <a:spcPct val="100000"/>
              </a:lnSpc>
              <a:spcBef>
                <a:spcPts val="0"/>
              </a:spcBef>
              <a:spcAft>
                <a:spcPts val="0"/>
              </a:spcAft>
              <a:buClr>
                <a:schemeClr val="dk1"/>
              </a:buClr>
              <a:buSzPts val="2800"/>
              <a:buFont typeface="Roboto"/>
              <a:buNone/>
              <a:defRPr sz="2800" b="0" i="0" u="none" strike="noStrike" cap="none" spc="0">
                <a:solidFill>
                  <a:schemeClr val="dk1"/>
                </a:solidFill>
                <a:latin typeface="Roboto"/>
                <a:ea typeface="Roboto"/>
                <a:cs typeface="Roboto"/>
                <a:sym typeface="Roboto"/>
              </a:defRPr>
            </a:lvl3pPr>
            <a:lvl4pPr marL="1828800" marR="0" lvl="3" indent="-317500" algn="l" rtl="0">
              <a:lnSpc>
                <a:spcPct val="100000"/>
              </a:lnSpc>
              <a:spcBef>
                <a:spcPts val="0"/>
              </a:spcBef>
              <a:spcAft>
                <a:spcPts val="0"/>
              </a:spcAft>
              <a:buClr>
                <a:schemeClr val="dk1"/>
              </a:buClr>
              <a:buSzPts val="2800"/>
              <a:buFont typeface="Roboto"/>
              <a:buNone/>
              <a:defRPr sz="2800" b="0" i="0" u="none" strike="noStrike" cap="none" spc="0">
                <a:solidFill>
                  <a:schemeClr val="dk1"/>
                </a:solidFill>
                <a:latin typeface="Roboto"/>
                <a:ea typeface="Roboto"/>
                <a:cs typeface="Roboto"/>
                <a:sym typeface="Roboto"/>
              </a:defRPr>
            </a:lvl4pPr>
            <a:lvl5pPr marL="2286000" marR="0" lvl="4" indent="-317500" algn="l" rtl="0">
              <a:lnSpc>
                <a:spcPct val="100000"/>
              </a:lnSpc>
              <a:spcBef>
                <a:spcPts val="0"/>
              </a:spcBef>
              <a:spcAft>
                <a:spcPts val="0"/>
              </a:spcAft>
              <a:buClr>
                <a:schemeClr val="dk1"/>
              </a:buClr>
              <a:buSzPts val="2800"/>
              <a:buFont typeface="Roboto"/>
              <a:buNone/>
              <a:defRPr sz="2800" b="0" i="0" u="none" strike="noStrike" cap="none" spc="0">
                <a:solidFill>
                  <a:schemeClr val="dk1"/>
                </a:solidFill>
                <a:latin typeface="Roboto"/>
                <a:ea typeface="Roboto"/>
                <a:cs typeface="Roboto"/>
                <a:sym typeface="Roboto"/>
              </a:defRPr>
            </a:lvl5pPr>
            <a:lvl6pPr marL="2743200" marR="0" lvl="5" indent="-317500" algn="l" rtl="0">
              <a:lnSpc>
                <a:spcPct val="100000"/>
              </a:lnSpc>
              <a:spcBef>
                <a:spcPts val="0"/>
              </a:spcBef>
              <a:spcAft>
                <a:spcPts val="0"/>
              </a:spcAft>
              <a:buClr>
                <a:schemeClr val="dk1"/>
              </a:buClr>
              <a:buSzPts val="2800"/>
              <a:buFont typeface="Roboto"/>
              <a:buNone/>
              <a:defRPr sz="2800" b="0" i="0" u="none" strike="noStrike" cap="none" spc="0">
                <a:solidFill>
                  <a:schemeClr val="dk1"/>
                </a:solidFill>
                <a:latin typeface="Roboto"/>
                <a:ea typeface="Roboto"/>
                <a:cs typeface="Roboto"/>
                <a:sym typeface="Roboto"/>
              </a:defRPr>
            </a:lvl6pPr>
            <a:lvl7pPr marL="3200400" marR="0" lvl="6" indent="-317500" algn="l" rtl="0">
              <a:lnSpc>
                <a:spcPct val="100000"/>
              </a:lnSpc>
              <a:spcBef>
                <a:spcPts val="0"/>
              </a:spcBef>
              <a:spcAft>
                <a:spcPts val="0"/>
              </a:spcAft>
              <a:buClr>
                <a:schemeClr val="dk1"/>
              </a:buClr>
              <a:buSzPts val="2800"/>
              <a:buFont typeface="Roboto"/>
              <a:buNone/>
              <a:defRPr sz="2800" b="0" i="0" u="none" strike="noStrike" cap="none" spc="0">
                <a:solidFill>
                  <a:schemeClr val="dk1"/>
                </a:solidFill>
                <a:latin typeface="Roboto"/>
                <a:ea typeface="Roboto"/>
                <a:cs typeface="Roboto"/>
                <a:sym typeface="Roboto"/>
              </a:defRPr>
            </a:lvl7pPr>
            <a:lvl8pPr marL="3657600" marR="0" lvl="7" indent="-317500" algn="l" rtl="0">
              <a:lnSpc>
                <a:spcPct val="100000"/>
              </a:lnSpc>
              <a:spcBef>
                <a:spcPts val="0"/>
              </a:spcBef>
              <a:spcAft>
                <a:spcPts val="0"/>
              </a:spcAft>
              <a:buClr>
                <a:schemeClr val="dk1"/>
              </a:buClr>
              <a:buSzPts val="2800"/>
              <a:buFont typeface="Roboto"/>
              <a:buNone/>
              <a:defRPr sz="2800" b="0" i="0" u="none" strike="noStrike" cap="none" spc="0">
                <a:solidFill>
                  <a:schemeClr val="dk1"/>
                </a:solidFill>
                <a:latin typeface="Roboto"/>
                <a:ea typeface="Roboto"/>
                <a:cs typeface="Roboto"/>
                <a:sym typeface="Roboto"/>
              </a:defRPr>
            </a:lvl8pPr>
            <a:lvl9pPr marL="4114800" marR="0" lvl="8" indent="-317500" algn="l" rtl="0">
              <a:lnSpc>
                <a:spcPct val="100000"/>
              </a:lnSpc>
              <a:spcBef>
                <a:spcPts val="0"/>
              </a:spcBef>
              <a:spcAft>
                <a:spcPts val="0"/>
              </a:spcAft>
              <a:buClr>
                <a:schemeClr val="dk1"/>
              </a:buClr>
              <a:buSzPts val="2800"/>
              <a:buFont typeface="Roboto"/>
              <a:buNone/>
              <a:defRPr sz="2800" b="0" i="0" u="none" strike="noStrike" cap="none" spc="0">
                <a:solidFill>
                  <a:schemeClr val="dk1"/>
                </a:solidFill>
                <a:latin typeface="Roboto"/>
                <a:ea typeface="Roboto"/>
                <a:cs typeface="Roboto"/>
                <a:sym typeface="Roboto"/>
              </a:defRPr>
            </a:lvl9pPr>
          </a:lstStyle>
          <a:p>
            <a:pPr marL="0" marR="0" lvl="0" indent="0" algn="ctr" defTabSz="914400" rtl="0" eaLnBrk="1" fontAlgn="auto" latinLnBrk="0" hangingPunct="1">
              <a:lnSpc>
                <a:spcPct val="100000"/>
              </a:lnSpc>
              <a:spcBef>
                <a:spcPts val="0"/>
              </a:spcBef>
              <a:spcAft>
                <a:spcPts val="0"/>
              </a:spcAft>
              <a:buClr>
                <a:prstClr val="black"/>
              </a:buClr>
              <a:buSzPts val="2800"/>
              <a:buFont typeface="Roboto"/>
              <a:buNone/>
              <a:tabLst/>
              <a:defRPr/>
            </a:pPr>
            <a:r>
              <a:rPr kumimoji="0" lang="en-US" sz="1867" b="1" i="0" u="none" strike="noStrike" kern="1200" cap="none" spc="0" normalizeH="0" baseline="0" noProof="0" dirty="0">
                <a:ln>
                  <a:noFill/>
                </a:ln>
                <a:solidFill>
                  <a:srgbClr val="A5A5A5">
                    <a:lumMod val="50000"/>
                  </a:srgbClr>
                </a:solidFill>
                <a:effectLst/>
                <a:uLnTx/>
                <a:uFillTx/>
                <a:latin typeface="Aptos Display" panose="020B0004020202020204" pitchFamily="34" charset="0"/>
                <a:ea typeface="Roboto"/>
                <a:cs typeface="Roboto"/>
                <a:sym typeface="Roboto"/>
              </a:rPr>
              <a:t>September 2026</a:t>
            </a:r>
          </a:p>
        </p:txBody>
      </p:sp>
    </p:spTree>
    <p:extLst>
      <p:ext uri="{BB962C8B-B14F-4D97-AF65-F5344CB8AC3E}">
        <p14:creationId xmlns:p14="http://schemas.microsoft.com/office/powerpoint/2010/main" val="300203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65760"/>
            <a:ext cx="1115568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The Mandate - Building an AI-Ready Chhattisgarh</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502920" y="1243584"/>
            <a:ext cx="11183112" cy="1005840"/>
          </a:xfrm>
          <a:prstGeom prst="rect">
            <a:avLst/>
          </a:prstGeom>
          <a:solidFill>
            <a:srgbClr val="4472C4"/>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777240" y="1335024"/>
            <a:ext cx="36576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60" normalizeH="0" baseline="0" noProof="0" dirty="0">
                <a:ln>
                  <a:noFill/>
                </a:ln>
                <a:solidFill>
                  <a:srgbClr val="D7E4F0"/>
                </a:solidFill>
                <a:effectLst/>
                <a:uLnTx/>
                <a:uFillTx/>
                <a:latin typeface="Arial" pitchFamily="34" charset="0"/>
                <a:ea typeface="Arial" pitchFamily="34" charset="-122"/>
                <a:cs typeface="Arial" pitchFamily="34" charset="-120"/>
              </a:rPr>
              <a:t>Vision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777240" y="1572768"/>
            <a:ext cx="10607040" cy="566928"/>
          </a:xfrm>
          <a:prstGeom prst="rect">
            <a:avLst/>
          </a:prstGeom>
          <a:noFill/>
          <a:ln/>
        </p:spPr>
        <p:txBody>
          <a:bodyPr wrap="square" lIns="0" tIns="0" rIns="0" bIns="0" rtlCol="0" anchor="t"/>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 State where citizens learn, build and use AI safely in their own language, where government is a lead user of trustworthy AI, and where businesses grow jobs and earnings through AI-driven productivity.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2688336"/>
            <a:ext cx="475488" cy="475488"/>
          </a:xfrm>
          <a:prstGeom prst="ellipse">
            <a:avLst/>
          </a:prstGeom>
          <a:solidFill>
            <a:srgbClr val="12275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02920" y="2688336"/>
            <a:ext cx="475488"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01</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161288" y="2615184"/>
            <a:ext cx="5760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Capacity &amp; Ecosystem</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161288" y="2907792"/>
            <a:ext cx="5852160" cy="566928"/>
          </a:xfrm>
          <a:prstGeom prst="rect">
            <a:avLst/>
          </a:prstGeom>
          <a:noFill/>
          <a:ln/>
        </p:spPr>
        <p:txBody>
          <a:bodyPr wrap="square" lIns="0" tIns="0" rIns="0" bIns="0" rtlCol="0" anchor="t"/>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8626C"/>
                </a:solidFill>
                <a:effectLst/>
                <a:uLnTx/>
                <a:uFillTx/>
                <a:latin typeface="Arial" pitchFamily="34" charset="0"/>
                <a:ea typeface="Arial" pitchFamily="34" charset="-122"/>
                <a:cs typeface="Arial" pitchFamily="34" charset="-120"/>
              </a:rPr>
              <a:t>Build AI skills, research and innovation capacity across government, academia, industry and youth.</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502920" y="3749040"/>
            <a:ext cx="475488" cy="475488"/>
          </a:xfrm>
          <a:prstGeom prst="ellipse">
            <a:avLst/>
          </a:prstGeom>
          <a:solidFill>
            <a:srgbClr val="2F75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2920" y="3749040"/>
            <a:ext cx="475488"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02</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1161288" y="3675888"/>
            <a:ext cx="5760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Inclusive Development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161288" y="3968496"/>
            <a:ext cx="5852160" cy="566928"/>
          </a:xfrm>
          <a:prstGeom prst="rect">
            <a:avLst/>
          </a:prstGeom>
          <a:noFill/>
          <a:ln/>
        </p:spPr>
        <p:txBody>
          <a:bodyPr wrap="square" lIns="0" tIns="0" rIns="0" bIns="0" rtlCol="0" anchor="t"/>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8626C"/>
                </a:solidFill>
                <a:effectLst/>
                <a:uLnTx/>
                <a:uFillTx/>
                <a:latin typeface="Arial" pitchFamily="34" charset="0"/>
                <a:ea typeface="Arial" pitchFamily="34" charset="-122"/>
                <a:cs typeface="Arial" pitchFamily="34" charset="-120"/>
              </a:rPr>
              <a:t>Apply AI to health, education, agriculture, tribal welfare and rural development - reaching the last mile.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502920" y="4809744"/>
            <a:ext cx="475488" cy="475488"/>
          </a:xfrm>
          <a:prstGeom prst="ellipse">
            <a:avLst/>
          </a:prstGeom>
          <a:solidFill>
            <a:srgbClr val="5B7C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502920" y="4809744"/>
            <a:ext cx="475488"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03</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1161288" y="4736592"/>
            <a:ext cx="5760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Responsible Governance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1161288" y="5029200"/>
            <a:ext cx="5852160" cy="566928"/>
          </a:xfrm>
          <a:prstGeom prst="rect">
            <a:avLst/>
          </a:prstGeom>
          <a:noFill/>
          <a:ln/>
        </p:spPr>
        <p:txBody>
          <a:bodyPr wrap="square" lIns="0" tIns="0" rIns="0" bIns="0" rtlCol="0" anchor="t"/>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8626C"/>
                </a:solidFill>
                <a:effectLst/>
                <a:uLnTx/>
                <a:uFillTx/>
                <a:latin typeface="Arial" pitchFamily="34" charset="0"/>
                <a:ea typeface="Arial" pitchFamily="34" charset="-122"/>
                <a:cs typeface="Arial" pitchFamily="34" charset="-120"/>
              </a:rPr>
              <a:t>Embed AI in government processes securely, lawfully and transparently, aligned to national frameworks.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7223760" y="2615184"/>
            <a:ext cx="1414577" cy="804672"/>
          </a:xfrm>
          <a:prstGeom prst="rect">
            <a:avLst/>
          </a:prstGeom>
          <a:solidFill>
            <a:schemeClr val="bg1">
              <a:lumMod val="95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7333488" y="2670048"/>
            <a:ext cx="1195121"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100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7333488" y="3035808"/>
            <a:ext cx="1195121" cy="329184"/>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8626C"/>
                </a:solidFill>
                <a:effectLst/>
                <a:uLnTx/>
                <a:uFillTx/>
                <a:latin typeface="Arial" pitchFamily="34" charset="0"/>
                <a:ea typeface="Arial" pitchFamily="34" charset="-122"/>
                <a:cs typeface="Arial" pitchFamily="34" charset="-120"/>
              </a:rPr>
              <a:t>AI Data Labs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8748065" y="2615184"/>
            <a:ext cx="1414577" cy="804672"/>
          </a:xfrm>
          <a:prstGeom prst="rect">
            <a:avLst/>
          </a:prstGeom>
          <a:solidFill>
            <a:schemeClr val="bg1">
              <a:lumMod val="95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857793" y="2670048"/>
            <a:ext cx="1195121"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05</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857793" y="3035808"/>
            <a:ext cx="1195121" cy="329184"/>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8626C"/>
                </a:solidFill>
                <a:effectLst/>
                <a:uLnTx/>
                <a:uFillTx/>
                <a:latin typeface="Arial" pitchFamily="34" charset="0"/>
                <a:ea typeface="Arial" pitchFamily="34" charset="-122"/>
                <a:cs typeface="Arial" pitchFamily="34" charset="-120"/>
              </a:rPr>
              <a:t>CoEs / Incubation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10272370" y="2615184"/>
            <a:ext cx="1414577" cy="804672"/>
          </a:xfrm>
          <a:prstGeom prst="rect">
            <a:avLst/>
          </a:prstGeom>
          <a:solidFill>
            <a:schemeClr val="bg1">
              <a:lumMod val="95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10382098" y="2670048"/>
            <a:ext cx="1195121"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300+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10382098" y="3035808"/>
            <a:ext cx="1195121" cy="329184"/>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8626C"/>
                </a:solidFill>
                <a:effectLst/>
                <a:uLnTx/>
                <a:uFillTx/>
                <a:latin typeface="Arial" pitchFamily="34" charset="0"/>
                <a:ea typeface="Arial" pitchFamily="34" charset="-122"/>
                <a:cs typeface="Arial" pitchFamily="34" charset="-120"/>
              </a:rPr>
              <a:t>Startup PoCs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7223760" y="3657600"/>
            <a:ext cx="1414577" cy="804672"/>
          </a:xfrm>
          <a:prstGeom prst="rect">
            <a:avLst/>
          </a:prstGeom>
          <a:solidFill>
            <a:schemeClr val="bg1">
              <a:lumMod val="95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7333488" y="3712464"/>
            <a:ext cx="1195121"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6,00,000+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7333488" y="4078224"/>
            <a:ext cx="1195121" cy="329184"/>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8626C"/>
                </a:solidFill>
                <a:effectLst/>
                <a:uLnTx/>
                <a:uFillTx/>
                <a:latin typeface="Arial" pitchFamily="34" charset="0"/>
                <a:ea typeface="Arial" pitchFamily="34" charset="-122"/>
                <a:cs typeface="Arial" pitchFamily="34" charset="-120"/>
              </a:rPr>
              <a:t>Students Training</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8748065" y="3657600"/>
            <a:ext cx="1414577" cy="804672"/>
          </a:xfrm>
          <a:prstGeom prst="rect">
            <a:avLst/>
          </a:prstGeom>
          <a:solidFill>
            <a:schemeClr val="bg1">
              <a:lumMod val="95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8857793" y="3712464"/>
            <a:ext cx="1195121"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1,50,000+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8857793" y="4078224"/>
            <a:ext cx="1195121" cy="329184"/>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8626C"/>
                </a:solidFill>
                <a:effectLst/>
                <a:uLnTx/>
                <a:uFillTx/>
                <a:latin typeface="Arial" pitchFamily="34" charset="0"/>
                <a:ea typeface="Arial" pitchFamily="34" charset="-122"/>
                <a:cs typeface="Arial" pitchFamily="34" charset="-120"/>
              </a:rPr>
              <a:t>Govt. Employees Training</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1"/>
          <p:cNvSpPr/>
          <p:nvPr/>
        </p:nvSpPr>
        <p:spPr>
          <a:xfrm>
            <a:off x="10272370" y="3657600"/>
            <a:ext cx="1414577" cy="804672"/>
          </a:xfrm>
          <a:prstGeom prst="rect">
            <a:avLst/>
          </a:prstGeom>
          <a:solidFill>
            <a:schemeClr val="bg1">
              <a:lumMod val="95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10382098" y="3712464"/>
            <a:ext cx="1195121"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5,000+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10382098" y="4078224"/>
            <a:ext cx="1195121" cy="329184"/>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8626C"/>
                </a:solidFill>
                <a:effectLst/>
                <a:uLnTx/>
                <a:uFillTx/>
                <a:latin typeface="Arial" pitchFamily="34" charset="0"/>
                <a:ea typeface="Arial" pitchFamily="34" charset="-122"/>
                <a:cs typeface="Arial" pitchFamily="34" charset="-120"/>
              </a:rPr>
              <a:t>Youth employed in AI</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4"/>
          <p:cNvSpPr/>
          <p:nvPr/>
        </p:nvSpPr>
        <p:spPr>
          <a:xfrm>
            <a:off x="7223760" y="4700016"/>
            <a:ext cx="1414577" cy="804672"/>
          </a:xfrm>
          <a:prstGeom prst="rect">
            <a:avLst/>
          </a:prstGeom>
          <a:solidFill>
            <a:schemeClr val="bg1">
              <a:lumMod val="95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p:nvPr/>
        </p:nvSpPr>
        <p:spPr>
          <a:xfrm>
            <a:off x="7333488" y="4754880"/>
            <a:ext cx="1195121"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50+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p:nvPr/>
        </p:nvSpPr>
        <p:spPr>
          <a:xfrm>
            <a:off x="7333488" y="5120640"/>
            <a:ext cx="1195121" cy="329184"/>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8626C"/>
                </a:solidFill>
                <a:effectLst/>
                <a:uLnTx/>
                <a:uFillTx/>
                <a:latin typeface="Arial" pitchFamily="34" charset="0"/>
                <a:ea typeface="Arial" pitchFamily="34" charset="-122"/>
                <a:cs typeface="Arial" pitchFamily="34" charset="-120"/>
              </a:rPr>
              <a:t>Govt AI use cases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7"/>
          <p:cNvSpPr/>
          <p:nvPr/>
        </p:nvSpPr>
        <p:spPr>
          <a:xfrm>
            <a:off x="8748065" y="4700016"/>
            <a:ext cx="1414577" cy="804672"/>
          </a:xfrm>
          <a:prstGeom prst="rect">
            <a:avLst/>
          </a:prstGeom>
          <a:solidFill>
            <a:schemeClr val="bg1">
              <a:lumMod val="95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8857793" y="4754880"/>
            <a:ext cx="1195121"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25+</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p:cNvSpPr/>
          <p:nvPr/>
        </p:nvSpPr>
        <p:spPr>
          <a:xfrm>
            <a:off x="8857793" y="5120640"/>
            <a:ext cx="1195121" cy="329184"/>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8626C"/>
                </a:solidFill>
                <a:effectLst/>
                <a:uLnTx/>
                <a:uFillTx/>
                <a:latin typeface="Arial" pitchFamily="34" charset="0"/>
                <a:ea typeface="Arial" pitchFamily="34" charset="-122"/>
                <a:cs typeface="Arial" pitchFamily="34" charset="-120"/>
              </a:rPr>
              <a:t>Research projects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40"/>
          <p:cNvSpPr/>
          <p:nvPr/>
        </p:nvSpPr>
        <p:spPr>
          <a:xfrm>
            <a:off x="10272370" y="4700016"/>
            <a:ext cx="1414577" cy="804672"/>
          </a:xfrm>
          <a:prstGeom prst="rect">
            <a:avLst/>
          </a:prstGeom>
          <a:solidFill>
            <a:schemeClr val="bg1">
              <a:lumMod val="95000"/>
            </a:schemeClr>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1"/>
          <p:cNvSpPr/>
          <p:nvPr/>
        </p:nvSpPr>
        <p:spPr>
          <a:xfrm>
            <a:off x="10382098" y="4754880"/>
            <a:ext cx="1195121"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50+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2"/>
          <p:cNvSpPr/>
          <p:nvPr/>
        </p:nvSpPr>
        <p:spPr>
          <a:xfrm>
            <a:off x="10382098" y="5120640"/>
            <a:ext cx="1195121" cy="329184"/>
          </a:xfrm>
          <a:prstGeom prst="rect">
            <a:avLst/>
          </a:prstGeom>
          <a:noFill/>
          <a:ln/>
        </p:spPr>
        <p:txBody>
          <a:bodyPr wrap="square" lIns="0" tIns="0" rIns="0" bIns="0" rtlCol="0" anchor="t"/>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8626C"/>
                </a:solidFill>
                <a:effectLst/>
                <a:uLnTx/>
                <a:uFillTx/>
                <a:latin typeface="Arial" pitchFamily="34" charset="0"/>
                <a:ea typeface="Arial" pitchFamily="34" charset="-122"/>
                <a:cs typeface="Arial" pitchFamily="34" charset="-120"/>
              </a:rPr>
              <a:t>Datasets for innovation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43"/>
          <p:cNvSpPr/>
          <p:nvPr/>
        </p:nvSpPr>
        <p:spPr>
          <a:xfrm>
            <a:off x="502920" y="5705856"/>
            <a:ext cx="11183112" cy="896112"/>
          </a:xfrm>
          <a:prstGeom prst="rect">
            <a:avLst/>
          </a:prstGeom>
          <a:solidFill>
            <a:srgbClr val="DCE6F3"/>
          </a:solidFill>
          <a:ln w="12700">
            <a:solidFill>
              <a:srgbClr val="DCE6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 44"/>
          <p:cNvSpPr/>
          <p:nvPr/>
        </p:nvSpPr>
        <p:spPr>
          <a:xfrm>
            <a:off x="646981" y="5797296"/>
            <a:ext cx="10837883" cy="731520"/>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2F75B2"/>
                </a:solidFill>
                <a:effectLst/>
                <a:uLnTx/>
                <a:uFillTx/>
                <a:latin typeface="Arial" pitchFamily="34" charset="0"/>
                <a:ea typeface="Arial" pitchFamily="34" charset="-122"/>
                <a:cs typeface="Arial" pitchFamily="34" charset="-120"/>
              </a:rPr>
              <a:t>Progress so far - </a:t>
            </a:r>
            <a:r>
              <a:rPr kumimoji="0" lang="en-US" sz="1100" b="0" i="0" u="none" strike="noStrike" kern="1200" cap="none" spc="0" normalizeH="0" baseline="0" noProof="0" dirty="0">
                <a:ln>
                  <a:noFill/>
                </a:ln>
                <a:solidFill>
                  <a:prstClr val="black"/>
                </a:solidFill>
                <a:effectLst/>
                <a:uLnTx/>
                <a:uFillTx/>
                <a:latin typeface="Arial" pitchFamily="34" charset="0"/>
                <a:ea typeface="Arial" pitchFamily="34" charset="-122"/>
                <a:cs typeface="Arial" pitchFamily="34" charset="-120"/>
              </a:rPr>
              <a:t>4 AI Data Labs at ITIs sanctioned by MeitY (NIELIT engaged) and for 14 new ITI Data Lab proposals submitted, AI training delivered to 900 Mantralaya officers and employees, 45 Days Vocational Training Program on Next-Generation AI with Python: for 108 Undergraduate Students, AI CoEs - Site for IIIT Naya Raipur is fully operational and for NIT Raipur it is WIP, 10+ MoUs mobilized for NIT Raipur-Department collaboration, 6 POCs developed by CM IT Fellows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65760"/>
            <a:ext cx="1115568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Pillars of Chhattisgarh AI Mission</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502920" y="1116266"/>
            <a:ext cx="2121408" cy="3378095"/>
          </a:xfrm>
          <a:prstGeom prst="rect">
            <a:avLst/>
          </a:prstGeom>
          <a:solidFill>
            <a:srgbClr val="E8F1F9"/>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704088" y="1249462"/>
            <a:ext cx="432000" cy="432000"/>
          </a:xfrm>
          <a:prstGeom prst="ellipse">
            <a:avLst/>
          </a:prstGeom>
          <a:solidFill>
            <a:srgbClr val="12275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36624" y="1186802"/>
            <a:ext cx="56692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01</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704088" y="1755663"/>
            <a:ext cx="1719072" cy="713232"/>
          </a:xfrm>
          <a:prstGeom prst="rect">
            <a:avLst/>
          </a:prstGeom>
          <a:noFill/>
          <a:ln/>
        </p:spPr>
        <p:txBody>
          <a:bodyPr wrap="squar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AI Skilling &amp;</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Institutional Capacity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04088" y="2739416"/>
            <a:ext cx="1719072" cy="1188720"/>
          </a:xfrm>
          <a:prstGeom prst="rect">
            <a:avLst/>
          </a:prstGeom>
          <a:noFill/>
          <a:ln/>
        </p:spPr>
        <p:txBody>
          <a:bodyPr wrap="square" lIns="0" tIns="0" rIns="0" bIns="0" rtlCol="0" anchor="t"/>
          <a:lstStyle/>
          <a:p>
            <a:pPr marL="0" marR="0" lvl="0" indent="0" algn="l" defTabSz="914400" rtl="0" eaLnBrk="1" fontAlgn="auto" latinLnBrk="0" hangingPunct="1">
              <a:lnSpc>
                <a:spcPts val="135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8626C"/>
                </a:solidFill>
                <a:effectLst/>
                <a:uLnTx/>
                <a:uFillTx/>
                <a:latin typeface="Arial" pitchFamily="34" charset="0"/>
                <a:ea typeface="Arial" pitchFamily="34" charset="-122"/>
                <a:cs typeface="Arial" pitchFamily="34" charset="-120"/>
              </a:rPr>
              <a:t>Practical, job-oriented AI skills for students, youth, professionals and government employees; institutions as long-term centres of AI education and research.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2770632" y="1116266"/>
            <a:ext cx="2121408" cy="3378095"/>
          </a:xfrm>
          <a:prstGeom prst="rect">
            <a:avLst/>
          </a:prstGeom>
          <a:solidFill>
            <a:srgbClr val="FFFFFF"/>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2971800" y="1249462"/>
            <a:ext cx="432000" cy="432000"/>
          </a:xfrm>
          <a:prstGeom prst="ellipse">
            <a:avLst/>
          </a:prstGeom>
          <a:solidFill>
            <a:srgbClr val="1A4A8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2904336" y="1200271"/>
            <a:ext cx="56692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02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2971800" y="1755663"/>
            <a:ext cx="1719072" cy="713232"/>
          </a:xfrm>
          <a:prstGeom prst="rect">
            <a:avLst/>
          </a:prstGeom>
          <a:noFill/>
          <a:ln/>
        </p:spPr>
        <p:txBody>
          <a:bodyPr wrap="squar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Startups &amp;</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Innovation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2971800" y="2739416"/>
            <a:ext cx="1719072" cy="1188720"/>
          </a:xfrm>
          <a:prstGeom prst="rect">
            <a:avLst/>
          </a:prstGeom>
          <a:noFill/>
          <a:ln/>
        </p:spPr>
        <p:txBody>
          <a:bodyPr wrap="square" lIns="0" tIns="0" rIns="0" bIns="0" rtlCol="0" anchor="t"/>
          <a:lstStyle/>
          <a:p>
            <a:pPr marL="0" marR="0" lvl="0" indent="0" algn="l" defTabSz="914400" rtl="0" eaLnBrk="1" fontAlgn="auto" latinLnBrk="0" hangingPunct="1">
              <a:lnSpc>
                <a:spcPts val="135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8626C"/>
                </a:solidFill>
                <a:effectLst/>
                <a:uLnTx/>
                <a:uFillTx/>
                <a:latin typeface="Arial" pitchFamily="34" charset="0"/>
                <a:ea typeface="Arial" pitchFamily="34" charset="-122"/>
                <a:cs typeface="Arial" pitchFamily="34" charset="-120"/>
              </a:rPr>
              <a:t>An enabling environment where startups, researchers, MSMEs and departments jointly develop, test, validate and scale AI solutions.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5038344" y="1116266"/>
            <a:ext cx="2121408" cy="3378095"/>
          </a:xfrm>
          <a:prstGeom prst="rect">
            <a:avLst/>
          </a:prstGeom>
          <a:solidFill>
            <a:srgbClr val="E8F1F9"/>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5239512" y="1249462"/>
            <a:ext cx="432000" cy="432000"/>
          </a:xfrm>
          <a:prstGeom prst="ellipse">
            <a:avLst/>
          </a:prstGeom>
          <a:solidFill>
            <a:srgbClr val="2F75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172048" y="1244980"/>
            <a:ext cx="56692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03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5239512" y="1755663"/>
            <a:ext cx="1719072" cy="713232"/>
          </a:xfrm>
          <a:prstGeom prst="rect">
            <a:avLst/>
          </a:prstGeom>
          <a:noFill/>
          <a:ln/>
        </p:spPr>
        <p:txBody>
          <a:bodyPr wrap="squar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Awareness &amp;</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Outreach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5239512" y="2739416"/>
            <a:ext cx="1719072" cy="1188720"/>
          </a:xfrm>
          <a:prstGeom prst="rect">
            <a:avLst/>
          </a:prstGeom>
          <a:noFill/>
          <a:ln/>
        </p:spPr>
        <p:txBody>
          <a:bodyPr wrap="square" lIns="0" tIns="0" rIns="0" bIns="0" rtlCol="0" anchor="t"/>
          <a:lstStyle/>
          <a:p>
            <a:pPr marL="0" marR="0" lvl="0" indent="0" algn="l" defTabSz="914400" rtl="0" eaLnBrk="1" fontAlgn="auto" latinLnBrk="0" hangingPunct="1">
              <a:lnSpc>
                <a:spcPts val="135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8626C"/>
                </a:solidFill>
                <a:effectLst/>
                <a:uLnTx/>
                <a:uFillTx/>
                <a:latin typeface="Arial" pitchFamily="34" charset="0"/>
                <a:ea typeface="Arial" pitchFamily="34" charset="-122"/>
                <a:cs typeface="Arial" pitchFamily="34" charset="-120"/>
              </a:rPr>
              <a:t>AI knowledge, opportunity and participation extended across every district - including women, youth, tribal and underserved communities.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7306056" y="1116266"/>
            <a:ext cx="2121408" cy="3378095"/>
          </a:xfrm>
          <a:prstGeom prst="rect">
            <a:avLst/>
          </a:prstGeom>
          <a:solidFill>
            <a:srgbClr val="FFFFFF"/>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7507224" y="1249462"/>
            <a:ext cx="432000" cy="432000"/>
          </a:xfrm>
          <a:prstGeom prst="ellipse">
            <a:avLst/>
          </a:prstGeom>
          <a:solidFill>
            <a:srgbClr val="5B7C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7439760" y="1200271"/>
            <a:ext cx="56692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04</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7507224" y="1755663"/>
            <a:ext cx="1719072" cy="713232"/>
          </a:xfrm>
          <a:prstGeom prst="rect">
            <a:avLst/>
          </a:prstGeom>
          <a:noFill/>
          <a:ln/>
        </p:spPr>
        <p:txBody>
          <a:bodyPr wrap="squar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Secure &amp;</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Responsible AI</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7507224" y="2739416"/>
            <a:ext cx="1719072" cy="1188720"/>
          </a:xfrm>
          <a:prstGeom prst="rect">
            <a:avLst/>
          </a:prstGeom>
          <a:noFill/>
          <a:ln/>
        </p:spPr>
        <p:txBody>
          <a:bodyPr wrap="square" lIns="0" tIns="0" rIns="0" bIns="0" rtlCol="0" anchor="t"/>
          <a:lstStyle/>
          <a:p>
            <a:pPr marL="0" marR="0" lvl="0" indent="0" algn="l" defTabSz="914400" rtl="0" eaLnBrk="1" fontAlgn="auto" latinLnBrk="0" hangingPunct="1">
              <a:lnSpc>
                <a:spcPts val="135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8626C"/>
                </a:solidFill>
                <a:effectLst/>
                <a:uLnTx/>
                <a:uFillTx/>
                <a:latin typeface="Arial" pitchFamily="34" charset="0"/>
                <a:ea typeface="Arial" pitchFamily="34" charset="-122"/>
                <a:cs typeface="Arial" pitchFamily="34" charset="-120"/>
              </a:rPr>
              <a:t>AI systems that protect citizen rights, safeguard data, uphold accountability in public decision-making and build public confidence.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9573768" y="1116266"/>
            <a:ext cx="2121408" cy="3378095"/>
          </a:xfrm>
          <a:prstGeom prst="rect">
            <a:avLst/>
          </a:prstGeom>
          <a:solidFill>
            <a:srgbClr val="E8F1F9"/>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4"/>
          <p:cNvSpPr/>
          <p:nvPr/>
        </p:nvSpPr>
        <p:spPr>
          <a:xfrm>
            <a:off x="9774936" y="1249462"/>
            <a:ext cx="432000" cy="432000"/>
          </a:xfrm>
          <a:prstGeom prst="ellipse">
            <a:avLst/>
          </a:prstGeom>
          <a:solidFill>
            <a:srgbClr val="8095A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p:nvPr/>
        </p:nvSpPr>
        <p:spPr>
          <a:xfrm>
            <a:off x="9707472" y="1195789"/>
            <a:ext cx="56692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05</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p:nvPr/>
        </p:nvSpPr>
        <p:spPr>
          <a:xfrm>
            <a:off x="9774936" y="1755663"/>
            <a:ext cx="1719072" cy="713232"/>
          </a:xfrm>
          <a:prstGeom prst="rect">
            <a:avLst/>
          </a:prstGeom>
          <a:noFill/>
          <a:ln/>
        </p:spPr>
        <p:txBody>
          <a:bodyPr wrap="square" lIns="0" tIns="0" rIns="0" bIns="0" rtlCol="0" anchor="t"/>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AI-Enabled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7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Governance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9774936" y="2739416"/>
            <a:ext cx="1719072" cy="1188720"/>
          </a:xfrm>
          <a:prstGeom prst="rect">
            <a:avLst/>
          </a:prstGeom>
          <a:noFill/>
          <a:ln/>
        </p:spPr>
        <p:txBody>
          <a:bodyPr wrap="square" lIns="0" tIns="0" rIns="0" bIns="0" rtlCol="0" anchor="t"/>
          <a:lstStyle/>
          <a:p>
            <a:pPr marL="0" marR="0" lvl="0" indent="0" algn="l" defTabSz="914400" rtl="0" eaLnBrk="1" fontAlgn="auto" latinLnBrk="0" hangingPunct="1">
              <a:lnSpc>
                <a:spcPts val="135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8626C"/>
                </a:solidFill>
                <a:effectLst/>
                <a:uLnTx/>
                <a:uFillTx/>
                <a:latin typeface="Arial" pitchFamily="34" charset="0"/>
                <a:ea typeface="Arial" pitchFamily="34" charset="-122"/>
                <a:cs typeface="Arial" pitchFamily="34" charset="-120"/>
              </a:rPr>
              <a:t>Systematic adoption of AI across core governance functions to improve decision-making, efficiency and citizen-centric service delivery.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09BD9-453E-7152-54B5-211F8FE11CA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EB757FC-C93F-9726-8799-D87DDD136095}"/>
              </a:ext>
            </a:extLst>
          </p:cNvPr>
          <p:cNvSpPr/>
          <p:nvPr/>
        </p:nvSpPr>
        <p:spPr>
          <a:xfrm>
            <a:off x="502920" y="310896"/>
            <a:ext cx="1118311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Pillar 1 - Build AI Talent and Institutional Capacity</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Table 0">
            <a:extLst>
              <a:ext uri="{FF2B5EF4-FFF2-40B4-BE49-F238E27FC236}">
                <a16:creationId xmlns:a16="http://schemas.microsoft.com/office/drawing/2014/main" id="{A351E430-B3BA-5FF1-A455-A154D303CBAF}"/>
              </a:ext>
            </a:extLst>
          </p:cNvPr>
          <p:cNvGraphicFramePr>
            <a:graphicFrameLocks noGrp="1"/>
          </p:cNvGraphicFramePr>
          <p:nvPr/>
        </p:nvGraphicFramePr>
        <p:xfrm>
          <a:off x="502920" y="1170432"/>
          <a:ext cx="11183112" cy="4572000"/>
        </p:xfrm>
        <a:graphic>
          <a:graphicData uri="http://schemas.openxmlformats.org/drawingml/2006/table">
            <a:tbl>
              <a:tblPr/>
              <a:tblGrid>
                <a:gridCol w="1572768">
                  <a:extLst>
                    <a:ext uri="{9D8B030D-6E8A-4147-A177-3AD203B41FA5}">
                      <a16:colId xmlns:a16="http://schemas.microsoft.com/office/drawing/2014/main" val="20000"/>
                    </a:ext>
                  </a:extLst>
                </a:gridCol>
                <a:gridCol w="2530818">
                  <a:extLst>
                    <a:ext uri="{9D8B030D-6E8A-4147-A177-3AD203B41FA5}">
                      <a16:colId xmlns:a16="http://schemas.microsoft.com/office/drawing/2014/main" val="20001"/>
                    </a:ext>
                  </a:extLst>
                </a:gridCol>
                <a:gridCol w="2760452">
                  <a:extLst>
                    <a:ext uri="{9D8B030D-6E8A-4147-A177-3AD203B41FA5}">
                      <a16:colId xmlns:a16="http://schemas.microsoft.com/office/drawing/2014/main" val="20002"/>
                    </a:ext>
                  </a:extLst>
                </a:gridCol>
                <a:gridCol w="4319074">
                  <a:extLst>
                    <a:ext uri="{9D8B030D-6E8A-4147-A177-3AD203B41FA5}">
                      <a16:colId xmlns:a16="http://schemas.microsoft.com/office/drawing/2014/main" val="20003"/>
                    </a:ext>
                  </a:extLst>
                </a:gridCol>
              </a:tblGrid>
              <a:tr h="0">
                <a:tc>
                  <a:txBody>
                    <a:bodyPr/>
                    <a:lstStyle/>
                    <a:p>
                      <a:pPr marL="0" indent="0">
                        <a:buNone/>
                      </a:pPr>
                      <a:r>
                        <a:rPr lang="en-US" sz="1000" b="1" dirty="0">
                          <a:solidFill>
                            <a:srgbClr val="FFFFFF"/>
                          </a:solidFill>
                          <a:latin typeface="Arial" pitchFamily="34" charset="0"/>
                          <a:ea typeface="Arial" pitchFamily="34" charset="-122"/>
                          <a:cs typeface="Arial" pitchFamily="34" charset="-120"/>
                        </a:rPr>
                        <a:t>Component</a:t>
                      </a:r>
                      <a:endParaRPr lang="en-US" sz="1000" dirty="0">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Mission Implementation Steps</a:t>
                      </a:r>
                      <a:endParaRPr lang="en-US" sz="1000" dirty="0">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Roles &amp; Responsibility</a:t>
                      </a:r>
                      <a:endParaRPr lang="en-US" sz="1000" dirty="0">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Relevant Examples</a:t>
                      </a:r>
                      <a:endParaRPr lang="en-US" sz="1000" dirty="0">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extLst>
                  <a:ext uri="{0D108BD9-81ED-4DB2-BD59-A6C34878D82A}">
                    <a16:rowId xmlns:a16="http://schemas.microsoft.com/office/drawing/2014/main" val="10000"/>
                  </a:ext>
                </a:extLst>
              </a:tr>
              <a:tr h="305740">
                <a:tc>
                  <a:txBody>
                    <a:bodyPr/>
                    <a:lstStyle/>
                    <a:p>
                      <a:pPr marL="0" indent="0">
                        <a:buNone/>
                      </a:pPr>
                      <a:r>
                        <a:rPr lang="en-US" sz="1000" b="1" dirty="0">
                          <a:solidFill>
                            <a:schemeClr val="tx1"/>
                          </a:solidFill>
                          <a:latin typeface="Arial" pitchFamily="34" charset="0"/>
                          <a:ea typeface="Arial" pitchFamily="34" charset="-122"/>
                          <a:cs typeface="Arial" pitchFamily="34" charset="-120"/>
                        </a:rPr>
                        <a:t>School-level</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AI Skilling</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Arial" pitchFamily="34" charset="0"/>
                          <a:ea typeface="Arial" pitchFamily="34" charset="-122"/>
                          <a:cs typeface="Arial" pitchFamily="34" charset="-120"/>
                        </a:rPr>
                        <a:t>• Identify pilot schools per district</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Establish AI Clubs / Innovation Labs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Develop AI literacy modules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Train teachers as AI facilitators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Deploy AI Teachers where unavailable</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District / state-level hackathons</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CHiPS: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Strategy, standards &amp; monitoring, partnership enablement</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School Education Dept.: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Implementation</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Academic / Industry Partners: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Curriculum &amp; training</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Schools: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Delivery</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Gujarat – IBM: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MoU with the Department of Science &amp; Technology, establishing an AI Cluster at GIFT City; includes an AI curriculum for schools and universities across Gujarat (IBM Newsroom)</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26843">
                <a:tc>
                  <a:txBody>
                    <a:bodyPr/>
                    <a:lstStyle/>
                    <a:p>
                      <a:pPr marL="0" indent="0">
                        <a:buNone/>
                      </a:pPr>
                      <a:r>
                        <a:rPr lang="en-US" sz="1000" b="1" dirty="0">
                          <a:solidFill>
                            <a:schemeClr val="tx1"/>
                          </a:solidFill>
                          <a:latin typeface="Arial" pitchFamily="34" charset="0"/>
                          <a:ea typeface="Arial" pitchFamily="34" charset="-122"/>
                          <a:cs typeface="Arial" pitchFamily="34" charset="-120"/>
                        </a:rPr>
                        <a:t>Colleges &amp;</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Universities</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Arial" pitchFamily="34" charset="0"/>
                          <a:ea typeface="Arial" pitchFamily="34" charset="-122"/>
                          <a:cs typeface="Arial" pitchFamily="34" charset="-120"/>
                        </a:rPr>
                        <a:t>• Launch certifications with academic and industry partners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Integrate AI into UG / PG curricula</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Establish AI Innovation Cells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Facilitate internships &amp; live projects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Provide student project grants</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CHiPS: </a:t>
                      </a:r>
                      <a:endParaRPr lang="en-US" sz="1000" dirty="0">
                        <a:solidFill>
                          <a:schemeClr val="tx1"/>
                        </a:solidFill>
                        <a:latin typeface="Arial" charset="0"/>
                        <a:ea typeface="Arial" charset="0"/>
                        <a:cs typeface="Arial"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latin typeface="Arial" pitchFamily="34" charset="0"/>
                          <a:ea typeface="Arial" pitchFamily="34" charset="-122"/>
                          <a:cs typeface="Arial" pitchFamily="34" charset="-120"/>
                        </a:rPr>
                        <a:t>Strategic framework, partnership enablement</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Higher Education Dept.: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Implementation</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Universities: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Delivery</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Industry: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Support with curriculum, certification &amp; internships</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Rajasthan – Google, IIT Delhi, NLU Jodhpur &amp; Wadhwani Foundation: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MoUs at the Rajasthan Regional AI Impact Conference for AI research, skilling, ethical frameworks and innovation ecosystems (PIB)</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Andhra Pradesh – Calibo: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MoUs with APSSDC for an AI Academy across 50+ higher education institutions, and with RTGS for a public-sector AI Sandbox</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5740">
                <a:tc>
                  <a:txBody>
                    <a:bodyPr/>
                    <a:lstStyle/>
                    <a:p>
                      <a:pPr marL="0" indent="0">
                        <a:buNone/>
                      </a:pPr>
                      <a:r>
                        <a:rPr lang="en-US" sz="1000" b="1" dirty="0">
                          <a:solidFill>
                            <a:schemeClr val="tx1"/>
                          </a:solidFill>
                          <a:latin typeface="Arial" pitchFamily="34" charset="0"/>
                          <a:ea typeface="Arial" pitchFamily="34" charset="-122"/>
                          <a:cs typeface="Arial" pitchFamily="34" charset="-120"/>
                        </a:rPr>
                        <a:t>ITIs &amp;</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Polytechnics</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Arial" pitchFamily="34" charset="0"/>
                          <a:ea typeface="Arial" pitchFamily="34" charset="-122"/>
                          <a:cs typeface="Arial" pitchFamily="34" charset="-120"/>
                        </a:rPr>
                        <a:t>• AI-enabled training modules for trades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AI Labs via private partners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Training of Trainers for instructors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Industry apprenticeship partnerships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Predictive maintenance / smart manufacturing</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CHiPS: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Strategy &amp; standards, partnership enablement</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Technical Education / Skill Development Dept.: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Implementation</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ITIs &amp; Polytechnics: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Delivery</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Industry: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Labs, ToT &amp; apprenticeships</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Gujarat – IBM (CTE Gujarat):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MoU with the Commissionerate of Technical Education for AI, generative AI and hybrid-cloud skilling through IBM SkillsBuild (IBM Newsroom)</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Maharashtra – NIELIT:</a:t>
                      </a:r>
                    </a:p>
                    <a:p>
                      <a:pPr marL="0" indent="0">
                        <a:buNone/>
                      </a:pPr>
                      <a:r>
                        <a:rPr lang="en-US" sz="1000" dirty="0">
                          <a:solidFill>
                            <a:schemeClr val="tx1"/>
                          </a:solidFill>
                          <a:latin typeface="Arial" pitchFamily="34" charset="0"/>
                          <a:ea typeface="Arial" pitchFamily="34" charset="-122"/>
                          <a:cs typeface="Arial" pitchFamily="34" charset="-120"/>
                        </a:rPr>
                        <a:t>MoU for Centres of Excellence in AI &amp; Robotics focused on polytechnics and ITIs (IndiaAI / PIB)</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75766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10896"/>
            <a:ext cx="1118311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Pillar 1 - Build AI Talent and Institutional Capacity</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Table 0"/>
          <p:cNvGraphicFramePr>
            <a:graphicFrameLocks noGrp="1"/>
          </p:cNvGraphicFramePr>
          <p:nvPr/>
        </p:nvGraphicFramePr>
        <p:xfrm>
          <a:off x="502920" y="1170432"/>
          <a:ext cx="11183112" cy="3810000"/>
        </p:xfrm>
        <a:graphic>
          <a:graphicData uri="http://schemas.openxmlformats.org/drawingml/2006/table">
            <a:tbl>
              <a:tblPr/>
              <a:tblGrid>
                <a:gridCol w="1572768">
                  <a:extLst>
                    <a:ext uri="{9D8B030D-6E8A-4147-A177-3AD203B41FA5}">
                      <a16:colId xmlns:a16="http://schemas.microsoft.com/office/drawing/2014/main" val="20000"/>
                    </a:ext>
                  </a:extLst>
                </a:gridCol>
                <a:gridCol w="2779776">
                  <a:extLst>
                    <a:ext uri="{9D8B030D-6E8A-4147-A177-3AD203B41FA5}">
                      <a16:colId xmlns:a16="http://schemas.microsoft.com/office/drawing/2014/main" val="20001"/>
                    </a:ext>
                  </a:extLst>
                </a:gridCol>
                <a:gridCol w="2511494">
                  <a:extLst>
                    <a:ext uri="{9D8B030D-6E8A-4147-A177-3AD203B41FA5}">
                      <a16:colId xmlns:a16="http://schemas.microsoft.com/office/drawing/2014/main" val="20002"/>
                    </a:ext>
                  </a:extLst>
                </a:gridCol>
                <a:gridCol w="4319074">
                  <a:extLst>
                    <a:ext uri="{9D8B030D-6E8A-4147-A177-3AD203B41FA5}">
                      <a16:colId xmlns:a16="http://schemas.microsoft.com/office/drawing/2014/main" val="20003"/>
                    </a:ext>
                  </a:extLst>
                </a:gridCol>
              </a:tblGrid>
              <a:tr h="0">
                <a:tc>
                  <a:txBody>
                    <a:bodyPr/>
                    <a:lstStyle/>
                    <a:p>
                      <a:pPr marL="0" indent="0">
                        <a:buNone/>
                      </a:pPr>
                      <a:r>
                        <a:rPr lang="en-US" sz="1000" b="1" dirty="0">
                          <a:solidFill>
                            <a:srgbClr val="FFFFFF"/>
                          </a:solidFill>
                          <a:latin typeface="Arial" pitchFamily="34" charset="0"/>
                          <a:ea typeface="Arial" pitchFamily="34" charset="-122"/>
                          <a:cs typeface="Arial" pitchFamily="34" charset="-120"/>
                        </a:rPr>
                        <a:t>Component</a:t>
                      </a:r>
                      <a:endParaRPr lang="en-US" sz="1000" dirty="0">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Mission Implementation Steps</a:t>
                      </a:r>
                      <a:endParaRPr lang="en-US" sz="1000" dirty="0">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Roles &amp; Responsibility</a:t>
                      </a:r>
                      <a:endParaRPr lang="en-US" sz="1000" dirty="0">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Relevant Examples</a:t>
                      </a:r>
                      <a:endParaRPr lang="en-US" sz="1000" dirty="0">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extLst>
                  <a:ext uri="{0D108BD9-81ED-4DB2-BD59-A6C34878D82A}">
                    <a16:rowId xmlns:a16="http://schemas.microsoft.com/office/drawing/2014/main" val="10000"/>
                  </a:ext>
                </a:extLst>
              </a:tr>
              <a:tr h="305740">
                <a:tc>
                  <a:txBody>
                    <a:bodyPr/>
                    <a:lstStyle/>
                    <a:p>
                      <a:pPr marL="0" indent="0">
                        <a:buNone/>
                      </a:pPr>
                      <a:r>
                        <a:rPr lang="en-US" sz="1000" b="1" dirty="0">
                          <a:solidFill>
                            <a:schemeClr val="tx1"/>
                          </a:solidFill>
                          <a:latin typeface="Arial" pitchFamily="34" charset="0"/>
                          <a:ea typeface="Arial" pitchFamily="34" charset="-122"/>
                          <a:cs typeface="Arial" pitchFamily="34" charset="-120"/>
                        </a:rPr>
                        <a:t>Technical Education</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&amp; Research</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Arial" pitchFamily="34" charset="0"/>
                          <a:ea typeface="Arial" pitchFamily="34" charset="-122"/>
                          <a:cs typeface="Arial" pitchFamily="34" charset="-120"/>
                        </a:rPr>
                        <a:t>• Establish Centres of Excellence</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Industry partnerships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AI research programmes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Research grants, Faculty Chairs, PhD fellowships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Link to startup incubation</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CHiPS: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Research priorities</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Higher / Technical Education Dept.: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Institutional coordination</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Institutions &amp; CoEs: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Research &amp; innovation</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Industry: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Technology &amp; market linkage</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Maharashtra – Microsoft: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MoU (1 Apr 2025) for three AI Centres of Excellence at Mumbai, Pune and Nagpur, with MARVEL–IIM Nagpur capacity building (Newsonair / Prasar Bharati)</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Kerala – IndiaAI Mission: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Two AI CoEs (Bio-AI at Kochi, Digital University Kerala) on a 40:40:20 Centre–State–industry funding model (May 2026)</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93387">
                <a:tc>
                  <a:txBody>
                    <a:bodyPr/>
                    <a:lstStyle/>
                    <a:p>
                      <a:pPr marL="0" indent="0">
                        <a:buNone/>
                      </a:pPr>
                      <a:r>
                        <a:rPr lang="en-US" sz="1000" b="1" dirty="0">
                          <a:solidFill>
                            <a:schemeClr val="tx1"/>
                          </a:solidFill>
                          <a:latin typeface="Arial" pitchFamily="34" charset="0"/>
                          <a:ea typeface="Arial" pitchFamily="34" charset="-122"/>
                          <a:cs typeface="Arial" pitchFamily="34" charset="-120"/>
                        </a:rPr>
                        <a:t>Faculty &amp; Trainer</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Development</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Arial" pitchFamily="34" charset="0"/>
                          <a:ea typeface="Arial" pitchFamily="34" charset="-122"/>
                          <a:cs typeface="Arial" pitchFamily="34" charset="-120"/>
                        </a:rPr>
                        <a:t>• Faculty Development Programmes and AI certification for educators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Master-trainer Training of Trainers</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CHiPS: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Framework &amp; standards</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Concerned Departments: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Faculty mobilisation</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Academic / Industry Partners: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FDP, ToT &amp; certification</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MSDE – Microsoft: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MoU (Apr 2025) for 'AI Careers for Women' - a 240-hour NCVET-aligned curriculum across 30 Centres of Excellence and 150 spoke institutions in six States, targeting 20,000 learners (PIB)</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IndiaAI – AISECT: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'Yuva AI for All' certificated course delivered via Future Skills Prime, iGOT Karmayogi, Coursera and TCS iON (PIB, Feb 2026)</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05740">
                <a:tc>
                  <a:txBody>
                    <a:bodyPr/>
                    <a:lstStyle/>
                    <a:p>
                      <a:pPr marL="0" indent="0">
                        <a:buNone/>
                      </a:pPr>
                      <a:r>
                        <a:rPr lang="en-US" sz="1000" b="1" dirty="0">
                          <a:solidFill>
                            <a:schemeClr val="tx1"/>
                          </a:solidFill>
                          <a:latin typeface="Arial" pitchFamily="34" charset="0"/>
                          <a:ea typeface="Arial" pitchFamily="34" charset="-122"/>
                          <a:cs typeface="Arial" pitchFamily="34" charset="-120"/>
                        </a:rPr>
                        <a:t>AI Infrastructure</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Development</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Arial" pitchFamily="34" charset="0"/>
                          <a:ea typeface="Arial" pitchFamily="34" charset="-122"/>
                          <a:cs typeface="Arial" pitchFamily="34" charset="-120"/>
                        </a:rPr>
                        <a:t>• AI labs, cloud platforms, datasets and HPC</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Leverage Central initiatives such as Atal Tinkering Labs</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CHiPS: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Infrastructure sizing, provisioning and IndiaAI coordination</a:t>
                      </a:r>
                    </a:p>
                    <a:p>
                      <a:pPr marL="0" indent="0">
                        <a:buNone/>
                      </a:pPr>
                      <a:r>
                        <a:rPr lang="en-US" sz="1000" b="1" dirty="0">
                          <a:solidFill>
                            <a:schemeClr val="tx1"/>
                          </a:solidFill>
                          <a:latin typeface="Arial" pitchFamily="34" charset="0"/>
                          <a:ea typeface="Arial" pitchFamily="34" charset="-122"/>
                          <a:cs typeface="Arial" pitchFamily="34" charset="-120"/>
                        </a:rPr>
                        <a:t>Concerned Departments: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Deployment &amp; utilization</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Technology Partners: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Infrastructure &amp; support</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Google – Atal Tinkering Labs: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ATL Saathi, a Gemini-powered teacher assistant for the ATL curriculum, from 100 schools scaling to 10,000 (I/O Connect India 2026)</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Odisha – HCLTech &amp; Sarvam AI: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MoUs (Jul 2026) for a Sovereign AI Park and an AI-optimised data centre at Bhubaneswar</a:t>
                      </a:r>
                      <a:endParaRPr lang="en-US" sz="1000" dirty="0">
                        <a:solidFill>
                          <a:schemeClr val="tx1"/>
                        </a:solidFill>
                        <a:latin typeface="Arial" charset="0"/>
                        <a:ea typeface="Arial" charset="0"/>
                        <a:cs typeface="Arial" charset="0"/>
                      </a:endParaRPr>
                    </a:p>
                  </a:txBody>
                  <a:tcPr marL="63500" marR="63500" marT="38100" marB="381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10896"/>
            <a:ext cx="1118311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Pillar 2 - Enabling AI Innovation and Startup Ecosystem</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8" name="Table 0"/>
          <p:cNvGraphicFramePr>
            <a:graphicFrameLocks noGrp="1"/>
          </p:cNvGraphicFramePr>
          <p:nvPr/>
        </p:nvGraphicFramePr>
        <p:xfrm>
          <a:off x="502920" y="1225296"/>
          <a:ext cx="11457432" cy="4775200"/>
        </p:xfrm>
        <a:graphic>
          <a:graphicData uri="http://schemas.openxmlformats.org/drawingml/2006/table">
            <a:tbl>
              <a:tblPr/>
              <a:tblGrid>
                <a:gridCol w="1369012">
                  <a:extLst>
                    <a:ext uri="{9D8B030D-6E8A-4147-A177-3AD203B41FA5}">
                      <a16:colId xmlns:a16="http://schemas.microsoft.com/office/drawing/2014/main" val="20000"/>
                    </a:ext>
                  </a:extLst>
                </a:gridCol>
                <a:gridCol w="2424023">
                  <a:extLst>
                    <a:ext uri="{9D8B030D-6E8A-4147-A177-3AD203B41FA5}">
                      <a16:colId xmlns:a16="http://schemas.microsoft.com/office/drawing/2014/main" val="20001"/>
                    </a:ext>
                  </a:extLst>
                </a:gridCol>
                <a:gridCol w="3424687">
                  <a:extLst>
                    <a:ext uri="{9D8B030D-6E8A-4147-A177-3AD203B41FA5}">
                      <a16:colId xmlns:a16="http://schemas.microsoft.com/office/drawing/2014/main" val="20002"/>
                    </a:ext>
                  </a:extLst>
                </a:gridCol>
                <a:gridCol w="4239710">
                  <a:extLst>
                    <a:ext uri="{9D8B030D-6E8A-4147-A177-3AD203B41FA5}">
                      <a16:colId xmlns:a16="http://schemas.microsoft.com/office/drawing/2014/main" val="20003"/>
                    </a:ext>
                  </a:extLst>
                </a:gridCol>
              </a:tblGrid>
              <a:tr h="178049">
                <a:tc>
                  <a:txBody>
                    <a:bodyPr/>
                    <a:lstStyle/>
                    <a:p>
                      <a:pPr marL="0" indent="0">
                        <a:buNone/>
                      </a:pPr>
                      <a:r>
                        <a:rPr lang="en-US" sz="1000" b="1" dirty="0">
                          <a:solidFill>
                            <a:srgbClr val="FFFFFF"/>
                          </a:solidFill>
                          <a:latin typeface="Arial" pitchFamily="34" charset="0"/>
                          <a:ea typeface="Arial" pitchFamily="34" charset="-122"/>
                          <a:cs typeface="Arial" pitchFamily="34" charset="-120"/>
                        </a:rPr>
                        <a:t>Component</a:t>
                      </a:r>
                      <a:endParaRPr lang="en-US" sz="1000" dirty="0">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Mission Implementation Steps</a:t>
                      </a:r>
                      <a:endParaRPr lang="en-US" sz="1000" dirty="0">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Roles &amp; Responsibility</a:t>
                      </a:r>
                      <a:endParaRPr lang="en-US" sz="1000" dirty="0">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Relevant Examples</a:t>
                      </a:r>
                      <a:endParaRPr lang="en-US" sz="1000" dirty="0">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extLst>
                  <a:ext uri="{0D108BD9-81ED-4DB2-BD59-A6C34878D82A}">
                    <a16:rowId xmlns:a16="http://schemas.microsoft.com/office/drawing/2014/main" val="10000"/>
                  </a:ext>
                </a:extLst>
              </a:tr>
              <a:tr h="578660">
                <a:tc>
                  <a:txBody>
                    <a:bodyPr/>
                    <a:lstStyle/>
                    <a:p>
                      <a:pPr marL="0" indent="0">
                        <a:buNone/>
                      </a:pPr>
                      <a:r>
                        <a:rPr lang="en-US" sz="1000" b="1" dirty="0">
                          <a:solidFill>
                            <a:schemeClr val="tx1"/>
                          </a:solidFill>
                          <a:latin typeface="Arial" pitchFamily="34" charset="0"/>
                          <a:ea typeface="Arial" pitchFamily="34" charset="-122"/>
                          <a:cs typeface="Arial" pitchFamily="34" charset="-120"/>
                        </a:rPr>
                        <a:t>Phase I</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Planning &amp; Ecosystem Design</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Arial" pitchFamily="34" charset="0"/>
                          <a:ea typeface="Arial" pitchFamily="34" charset="-122"/>
                          <a:cs typeface="Arial" pitchFamily="34" charset="-120"/>
                        </a:rPr>
                        <a:t>• Identify priority sectors; map institutional capacity</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Select host institutions for Data Labs / CoEs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Develop guidelines; frame SOPs</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CHiPS: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Priority sectors, guidelines &amp; SOPs</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Technical Advisory Committee: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Institutional capacity mapping</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Host Institutions: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Readiness and proposals</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Kerala – IndiaAI Mission: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Two AI CoEs (Bio-AI at Kochi; Digital University Kerala, Thiruvananthapuram) on a 40:40:20 Centre–State–industry funding model</a:t>
                      </a:r>
                    </a:p>
                    <a:p>
                      <a:pPr marL="0" indent="0">
                        <a:buNone/>
                      </a:pPr>
                      <a:r>
                        <a:rPr lang="en-US" sz="1000" b="1" dirty="0">
                          <a:solidFill>
                            <a:schemeClr val="tx1"/>
                          </a:solidFill>
                          <a:latin typeface="Arial" pitchFamily="34" charset="0"/>
                          <a:ea typeface="Arial" pitchFamily="34" charset="-122"/>
                          <a:cs typeface="Arial" pitchFamily="34" charset="-120"/>
                        </a:rPr>
                        <a:t>Maharashtra – NIELIT via MSBTE: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MoU to establish Centres of Excellence in AI &amp; Robotics across polytechnics and ITIs (IndiaAI/PIB)</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78660">
                <a:tc>
                  <a:txBody>
                    <a:bodyPr/>
                    <a:lstStyle/>
                    <a:p>
                      <a:pPr marL="0" indent="0">
                        <a:buNone/>
                      </a:pPr>
                      <a:r>
                        <a:rPr lang="en-US" sz="1000" b="1" dirty="0">
                          <a:solidFill>
                            <a:schemeClr val="tx1"/>
                          </a:solidFill>
                          <a:latin typeface="Arial" pitchFamily="34" charset="0"/>
                          <a:ea typeface="Arial" pitchFamily="34" charset="-122"/>
                          <a:cs typeface="Arial" pitchFamily="34" charset="-120"/>
                        </a:rPr>
                        <a:t>Phase II</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Infrastructure &amp; Operationalisation</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Arial" pitchFamily="34" charset="0"/>
                          <a:ea typeface="Arial" pitchFamily="34" charset="-122"/>
                          <a:cs typeface="Arial" pitchFamily="34" charset="-120"/>
                        </a:rPr>
                        <a:t>• Operationalise Data Labs / CoEs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Activate incubation, mentorship and challenge windows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Establish State AI Sandbox</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CHiPS: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Empanelment and operational SOPs, RFPs</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CoEs / Host Institutions: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Lab and sandbox operations</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Industry Partners: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Tools, compute and mentoring</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Telangana – Blaize: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MoU signed at Davos to launch the Telangana AI Innovation Hub with an applied-AI R&amp;D centre (Blaize investor release, Jan 2026)</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Odisha – HCLTech &amp; Sarvam AI: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MoUs for a Sovereign AI Park and AI-optimised data centre at Bhubaneswar (ETV Bharat, Jul 2026)</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78660">
                <a:tc>
                  <a:txBody>
                    <a:bodyPr/>
                    <a:lstStyle/>
                    <a:p>
                      <a:pPr marL="0" indent="0">
                        <a:buNone/>
                      </a:pPr>
                      <a:r>
                        <a:rPr lang="en-US" sz="1000" b="1" dirty="0">
                          <a:solidFill>
                            <a:schemeClr val="tx1"/>
                          </a:solidFill>
                          <a:latin typeface="Arial" pitchFamily="34" charset="0"/>
                          <a:ea typeface="Arial" pitchFamily="34" charset="-122"/>
                          <a:cs typeface="Arial" pitchFamily="34" charset="-120"/>
                        </a:rPr>
                        <a:t>Phase III</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Startup Support, Piloting &amp; Validation</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Arial" pitchFamily="34" charset="0"/>
                          <a:ea typeface="Arial" pitchFamily="34" charset="-122"/>
                          <a:cs typeface="Arial" pitchFamily="34" charset="-120"/>
                        </a:rPr>
                        <a:t>• Launch startup cohorts and challenge-based calls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Pre-PoC grants, pilot support and sandbox testing</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AI CoEs: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Cohort selection and grant administration</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CHiPS: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Scheme framework and approvals</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Line Departments: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Problem statements, pilot environments, field access</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Industry &amp; Investors: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Mentoring and market linkage</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Telangana – NASSCOM (T-AIM):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'Revv Up' growth-stage AI accelerator; 42 startups from 10 States selected in the first cohort (IndiaAI)</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Telangana – Google: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AI accelerator at Hyderabad supporting startups in agriculture, mobility and education (Startup Genome)</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78660">
                <a:tc>
                  <a:txBody>
                    <a:bodyPr/>
                    <a:lstStyle/>
                    <a:p>
                      <a:pPr marL="0" indent="0">
                        <a:buNone/>
                      </a:pPr>
                      <a:r>
                        <a:rPr lang="en-US" sz="1000" b="1" dirty="0">
                          <a:solidFill>
                            <a:schemeClr val="tx1"/>
                          </a:solidFill>
                          <a:latin typeface="Arial" pitchFamily="34" charset="0"/>
                          <a:ea typeface="Arial" pitchFamily="34" charset="-122"/>
                          <a:cs typeface="Arial" pitchFamily="34" charset="-120"/>
                        </a:rPr>
                        <a:t>Phase IV</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Scale-up &amp; Consolidation</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Arial" pitchFamily="34" charset="0"/>
                          <a:ea typeface="Arial" pitchFamily="34" charset="-122"/>
                          <a:cs typeface="Arial" pitchFamily="34" charset="-120"/>
                        </a:rPr>
                        <a:t>• Empanel viable solutions for adoption</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Document and replicate models; investor engagement</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CHiPS: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Procurement pathways for adopted solutions</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Departments: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Deployment and routine adoption</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Industry Associations / Investors: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Growth capital and market access</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Kerala Bio-AI CoE: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Roadmap to incubate 48 deep-tech startups over four annual cohorts and train 1,200 professionals (Digital Health News)</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Odisha – IIT Kanpur (Airawat Research Foundation):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MoU for technical support in adopting AI solutions across urban governance (PTI)</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10896"/>
            <a:ext cx="1118311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Pillar 3 - State-wide IEC, Events and Inclusive Outreach</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9" name="Table 0"/>
          <p:cNvGraphicFramePr>
            <a:graphicFrameLocks noGrp="1"/>
          </p:cNvGraphicFramePr>
          <p:nvPr/>
        </p:nvGraphicFramePr>
        <p:xfrm>
          <a:off x="502920" y="1225296"/>
          <a:ext cx="11457432" cy="5136896"/>
        </p:xfrm>
        <a:graphic>
          <a:graphicData uri="http://schemas.openxmlformats.org/drawingml/2006/table">
            <a:tbl>
              <a:tblPr/>
              <a:tblGrid>
                <a:gridCol w="1700784">
                  <a:extLst>
                    <a:ext uri="{9D8B030D-6E8A-4147-A177-3AD203B41FA5}">
                      <a16:colId xmlns:a16="http://schemas.microsoft.com/office/drawing/2014/main" val="20000"/>
                    </a:ext>
                  </a:extLst>
                </a:gridCol>
                <a:gridCol w="2730605">
                  <a:extLst>
                    <a:ext uri="{9D8B030D-6E8A-4147-A177-3AD203B41FA5}">
                      <a16:colId xmlns:a16="http://schemas.microsoft.com/office/drawing/2014/main" val="20001"/>
                    </a:ext>
                  </a:extLst>
                </a:gridCol>
                <a:gridCol w="3048403">
                  <a:extLst>
                    <a:ext uri="{9D8B030D-6E8A-4147-A177-3AD203B41FA5}">
                      <a16:colId xmlns:a16="http://schemas.microsoft.com/office/drawing/2014/main" val="20002"/>
                    </a:ext>
                  </a:extLst>
                </a:gridCol>
                <a:gridCol w="3977640">
                  <a:extLst>
                    <a:ext uri="{9D8B030D-6E8A-4147-A177-3AD203B41FA5}">
                      <a16:colId xmlns:a16="http://schemas.microsoft.com/office/drawing/2014/main" val="20003"/>
                    </a:ext>
                  </a:extLst>
                </a:gridCol>
              </a:tblGrid>
              <a:tr h="292608">
                <a:tc>
                  <a:txBody>
                    <a:bodyPr/>
                    <a:lstStyle/>
                    <a:p>
                      <a:pPr marL="0" indent="0">
                        <a:buNone/>
                      </a:pPr>
                      <a:r>
                        <a:rPr lang="en-US" sz="950" b="1" dirty="0">
                          <a:solidFill>
                            <a:srgbClr val="FFFFFF"/>
                          </a:solidFill>
                          <a:latin typeface="Arial" pitchFamily="34" charset="0"/>
                          <a:ea typeface="Arial" pitchFamily="34" charset="-122"/>
                          <a:cs typeface="Arial" pitchFamily="34" charset="-120"/>
                        </a:rPr>
                        <a:t>Component</a:t>
                      </a:r>
                      <a:endParaRPr lang="en-US" sz="950" dirty="0">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tc>
                  <a:txBody>
                    <a:bodyPr/>
                    <a:lstStyle/>
                    <a:p>
                      <a:pPr marL="0" indent="0">
                        <a:buNone/>
                      </a:pPr>
                      <a:r>
                        <a:rPr lang="en-US" sz="950" b="1" dirty="0">
                          <a:solidFill>
                            <a:srgbClr val="FFFFFF"/>
                          </a:solidFill>
                          <a:latin typeface="Arial" pitchFamily="34" charset="0"/>
                          <a:ea typeface="Arial" pitchFamily="34" charset="-122"/>
                          <a:cs typeface="Arial" pitchFamily="34" charset="-120"/>
                        </a:rPr>
                        <a:t>Mission Implementation Steps</a:t>
                      </a:r>
                      <a:endParaRPr lang="en-US" sz="950" dirty="0">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tc>
                  <a:txBody>
                    <a:bodyPr/>
                    <a:lstStyle/>
                    <a:p>
                      <a:pPr marL="0" indent="0">
                        <a:buNone/>
                      </a:pPr>
                      <a:r>
                        <a:rPr lang="en-US" sz="950" b="1" dirty="0">
                          <a:solidFill>
                            <a:srgbClr val="FFFFFF"/>
                          </a:solidFill>
                          <a:latin typeface="Arial" pitchFamily="34" charset="0"/>
                          <a:ea typeface="Arial" pitchFamily="34" charset="-122"/>
                          <a:cs typeface="Arial" pitchFamily="34" charset="-120"/>
                        </a:rPr>
                        <a:t>Roles &amp; Responsibility</a:t>
                      </a:r>
                      <a:endParaRPr lang="en-US" sz="950" dirty="0">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Relevant Examples</a:t>
                      </a:r>
                      <a:endParaRPr lang="en-US" sz="900" dirty="0">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extLst>
                  <a:ext uri="{0D108BD9-81ED-4DB2-BD59-A6C34878D82A}">
                    <a16:rowId xmlns:a16="http://schemas.microsoft.com/office/drawing/2014/main" val="10000"/>
                  </a:ext>
                </a:extLst>
              </a:tr>
              <a:tr h="1609344">
                <a:tc>
                  <a:txBody>
                    <a:bodyPr/>
                    <a:lstStyle/>
                    <a:p>
                      <a:pPr marL="0" indent="0">
                        <a:buNone/>
                      </a:pPr>
                      <a:r>
                        <a:rPr lang="en-US" sz="1000" b="1" dirty="0">
                          <a:solidFill>
                            <a:schemeClr val="tx1"/>
                          </a:solidFill>
                          <a:latin typeface="Arial" pitchFamily="34" charset="0"/>
                          <a:ea typeface="Arial" pitchFamily="34" charset="-122"/>
                          <a:cs typeface="Arial" pitchFamily="34" charset="-120"/>
                        </a:rPr>
                        <a:t>Phase 1</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Foundation</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Arial" pitchFamily="34" charset="0"/>
                          <a:ea typeface="Arial" pitchFamily="34" charset="-122"/>
                          <a:cs typeface="Arial" pitchFamily="34" charset="-120"/>
                        </a:rPr>
                        <a:t>• Outreach strategy and IEC toolkits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Digital channels and foundational campaigns</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CHiPS: </a:t>
                      </a:r>
                      <a:endParaRPr lang="en-US" sz="1000" dirty="0">
                        <a:solidFill>
                          <a:schemeClr val="tx1"/>
                        </a:solidFill>
                        <a:latin typeface="Arial" charset="0"/>
                        <a:ea typeface="Arial" charset="0"/>
                        <a:cs typeface="Arial"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latin typeface="Arial" pitchFamily="34" charset="0"/>
                          <a:ea typeface="Arial" pitchFamily="34" charset="-122"/>
                          <a:cs typeface="Arial" pitchFamily="34" charset="-120"/>
                        </a:rPr>
                        <a:t>Approves outreach strategy and toolkits, Procurement of IEC and communication partners</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Directorate of Public Relations: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Anchors campaign design and annual outreach plan</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All Departments: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Sector-specific messaging inputs</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IndiaAI – AISECT: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'Kaushal Rath', a mobile AI awareness lab under the national 'Yuva AI for All' literacy program, travelling to schools, colleges and ITIs (PIB)</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Odisha – Intel India: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'Odisha for AI', a State self-paced public AI awareness platform run by the E&amp;IT Department (ai.odisha.gov.in)</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09344">
                <a:tc>
                  <a:txBody>
                    <a:bodyPr/>
                    <a:lstStyle/>
                    <a:p>
                      <a:pPr marL="0" indent="0">
                        <a:buNone/>
                      </a:pPr>
                      <a:r>
                        <a:rPr lang="en-US" sz="1000" b="1" dirty="0">
                          <a:solidFill>
                            <a:schemeClr val="tx1"/>
                          </a:solidFill>
                          <a:latin typeface="Arial" pitchFamily="34" charset="0"/>
                          <a:ea typeface="Arial" pitchFamily="34" charset="-122"/>
                          <a:cs typeface="Arial" pitchFamily="34" charset="-120"/>
                        </a:rPr>
                        <a:t>Phase 2</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Scale-up</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Arial" pitchFamily="34" charset="0"/>
                          <a:ea typeface="Arial" pitchFamily="34" charset="-122"/>
                          <a:cs typeface="Arial" pitchFamily="34" charset="-120"/>
                        </a:rPr>
                        <a:t>• Institutional engagement and district outreach</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Hackathons, lecture series and mentorship platforms</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CHiPS: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Frameworks for mentorship, hackathons and engagement</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District Administration:</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District and block-level execution</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Departments: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Problem statements for challenges; nomination of participants</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Academia &amp; Industry: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Mentors, expert clinics and venues</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NCW – Future Shift Labs: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'Yashoda AI', a national AI literacy campaign for rural and semi-urban women covering AI tools, deepfakes and digital safety in local languages (May 2025; listed on AIKosh, IndiaAI)</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IndiaAI – Future Skills Prime, iGOT Karmayogi, Coursera, TCS iON: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Delivery partners for the four-hour 'Yuva AI for All' certificated course (DD News)</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09344">
                <a:tc>
                  <a:txBody>
                    <a:bodyPr/>
                    <a:lstStyle/>
                    <a:p>
                      <a:pPr marL="0" indent="0">
                        <a:buNone/>
                      </a:pPr>
                      <a:r>
                        <a:rPr lang="en-US" sz="1000" b="1" dirty="0">
                          <a:solidFill>
                            <a:schemeClr val="tx1"/>
                          </a:solidFill>
                          <a:latin typeface="Arial" pitchFamily="34" charset="0"/>
                          <a:ea typeface="Arial" pitchFamily="34" charset="-122"/>
                          <a:cs typeface="Arial" pitchFamily="34" charset="-120"/>
                        </a:rPr>
                        <a:t>Phase 3</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Consolidation</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Arial" pitchFamily="34" charset="0"/>
                          <a:ea typeface="Arial" pitchFamily="34" charset="-122"/>
                          <a:cs typeface="Arial" pitchFamily="34" charset="-120"/>
                        </a:rPr>
                        <a:t>• Flagship annual events and policy dialogues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Impact documentation and sustained partnerships</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CHiPS: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Annual State AI Summit and policy dialogue</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Directorate of Public Relations: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Success-story compendium and dissemination</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Steering Committee: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Publishes the annual 'State of AI in Chhattisgarh' report</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Departments: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Documented use cases and outcome data</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Odisha – IndiaAI Mission: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Odisha AI Summit 2025 hosted as an official regional precursor to the India AI Impact Summit 2026, alongside the Odisha AI Policy 2025 (impact.indiaai.gov.in)</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Madhya Pradesh – IndiaAI Mission: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MP Regional AI Impact Conference 2026 at Bhopal, convening departments, startups and academia</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10896"/>
            <a:ext cx="1118311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Pillar 4 - Secure and Responsible AI Infrastructure</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0" name="Table 0"/>
          <p:cNvGraphicFramePr>
            <a:graphicFrameLocks noGrp="1"/>
          </p:cNvGraphicFramePr>
          <p:nvPr/>
        </p:nvGraphicFramePr>
        <p:xfrm>
          <a:off x="502920" y="1225296"/>
          <a:ext cx="11457432" cy="5120640"/>
        </p:xfrm>
        <a:graphic>
          <a:graphicData uri="http://schemas.openxmlformats.org/drawingml/2006/table">
            <a:tbl>
              <a:tblPr/>
              <a:tblGrid>
                <a:gridCol w="1700784">
                  <a:extLst>
                    <a:ext uri="{9D8B030D-6E8A-4147-A177-3AD203B41FA5}">
                      <a16:colId xmlns:a16="http://schemas.microsoft.com/office/drawing/2014/main" val="20000"/>
                    </a:ext>
                  </a:extLst>
                </a:gridCol>
                <a:gridCol w="2247526">
                  <a:extLst>
                    <a:ext uri="{9D8B030D-6E8A-4147-A177-3AD203B41FA5}">
                      <a16:colId xmlns:a16="http://schemas.microsoft.com/office/drawing/2014/main" val="20001"/>
                    </a:ext>
                  </a:extLst>
                </a:gridCol>
                <a:gridCol w="3531482">
                  <a:extLst>
                    <a:ext uri="{9D8B030D-6E8A-4147-A177-3AD203B41FA5}">
                      <a16:colId xmlns:a16="http://schemas.microsoft.com/office/drawing/2014/main" val="20002"/>
                    </a:ext>
                  </a:extLst>
                </a:gridCol>
                <a:gridCol w="3977640">
                  <a:extLst>
                    <a:ext uri="{9D8B030D-6E8A-4147-A177-3AD203B41FA5}">
                      <a16:colId xmlns:a16="http://schemas.microsoft.com/office/drawing/2014/main" val="20003"/>
                    </a:ext>
                  </a:extLst>
                </a:gridCol>
              </a:tblGrid>
              <a:tr h="292608">
                <a:tc>
                  <a:txBody>
                    <a:bodyPr/>
                    <a:lstStyle/>
                    <a:p>
                      <a:pPr marL="0" indent="0">
                        <a:buNone/>
                      </a:pPr>
                      <a:r>
                        <a:rPr lang="en-US" sz="950" b="1" dirty="0">
                          <a:solidFill>
                            <a:srgbClr val="FFFFFF"/>
                          </a:solidFill>
                          <a:latin typeface="Arial" pitchFamily="34" charset="0"/>
                          <a:ea typeface="Arial" pitchFamily="34" charset="-122"/>
                          <a:cs typeface="Arial" pitchFamily="34" charset="-120"/>
                        </a:rPr>
                        <a:t>Component</a:t>
                      </a:r>
                      <a:endParaRPr lang="en-US" sz="950" dirty="0">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tc>
                  <a:txBody>
                    <a:bodyPr/>
                    <a:lstStyle/>
                    <a:p>
                      <a:pPr marL="0" indent="0">
                        <a:buNone/>
                      </a:pPr>
                      <a:r>
                        <a:rPr lang="en-US" sz="950" b="1" dirty="0">
                          <a:solidFill>
                            <a:srgbClr val="FFFFFF"/>
                          </a:solidFill>
                          <a:latin typeface="Arial" pitchFamily="34" charset="0"/>
                          <a:ea typeface="Arial" pitchFamily="34" charset="-122"/>
                          <a:cs typeface="Arial" pitchFamily="34" charset="-120"/>
                        </a:rPr>
                        <a:t>Mission Implementation Steps</a:t>
                      </a:r>
                      <a:endParaRPr lang="en-US" sz="950" dirty="0">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tc>
                  <a:txBody>
                    <a:bodyPr/>
                    <a:lstStyle/>
                    <a:p>
                      <a:pPr marL="0" indent="0">
                        <a:buNone/>
                      </a:pPr>
                      <a:r>
                        <a:rPr lang="en-US" sz="950" b="1" dirty="0">
                          <a:solidFill>
                            <a:srgbClr val="FFFFFF"/>
                          </a:solidFill>
                          <a:latin typeface="Arial" pitchFamily="34" charset="0"/>
                          <a:ea typeface="Arial" pitchFamily="34" charset="-122"/>
                          <a:cs typeface="Arial" pitchFamily="34" charset="-120"/>
                        </a:rPr>
                        <a:t>Roles &amp; Responsibility</a:t>
                      </a:r>
                      <a:endParaRPr lang="en-US" sz="950" dirty="0">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Relevant Examples</a:t>
                      </a:r>
                      <a:endParaRPr lang="en-US" sz="900" dirty="0">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extLst>
                  <a:ext uri="{0D108BD9-81ED-4DB2-BD59-A6C34878D82A}">
                    <a16:rowId xmlns:a16="http://schemas.microsoft.com/office/drawing/2014/main" val="10000"/>
                  </a:ext>
                </a:extLst>
              </a:tr>
              <a:tr h="1609344">
                <a:tc>
                  <a:txBody>
                    <a:bodyPr/>
                    <a:lstStyle/>
                    <a:p>
                      <a:pPr marL="0" indent="0">
                        <a:buNone/>
                      </a:pPr>
                      <a:r>
                        <a:rPr lang="en-US" sz="1000" b="1" dirty="0">
                          <a:solidFill>
                            <a:schemeClr val="tx1"/>
                          </a:solidFill>
                          <a:latin typeface="Arial" pitchFamily="34" charset="0"/>
                          <a:ea typeface="Arial" pitchFamily="34" charset="-122"/>
                          <a:cs typeface="Arial" pitchFamily="34" charset="-120"/>
                        </a:rPr>
                        <a:t>Phase 1</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Foundational Readiness</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Arial" pitchFamily="34" charset="0"/>
                          <a:ea typeface="Arial" pitchFamily="34" charset="-122"/>
                          <a:cs typeface="Arial" pitchFamily="34" charset="-120"/>
                        </a:rPr>
                        <a:t>• Frameworks, templates and review mechanisms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Awareness and training for departments and partners</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CHiPS: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Issues the State Responsible AI framework and playbook</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Technical Advisory Committee: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Reviews ethical and security safeguards</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Departments: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Designate a nodal compliance officer</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MeitY – India AI Governance Guidelines: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Released 5 November 2025 under the IndiaAI Mission; a light-touch framework relying on existing law rather than new AI legislation (PIB)</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MeitY – DPDP Rules, 2025: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Notified 13–14 November 2025 under the DPDP Act, 2023, with staggered compliance dates and the Data Protection Board constituted (PIB)</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09344">
                <a:tc>
                  <a:txBody>
                    <a:bodyPr/>
                    <a:lstStyle/>
                    <a:p>
                      <a:pPr marL="0" indent="0">
                        <a:buNone/>
                      </a:pPr>
                      <a:r>
                        <a:rPr lang="en-US" sz="1000" b="1" dirty="0">
                          <a:solidFill>
                            <a:schemeClr val="tx1"/>
                          </a:solidFill>
                          <a:latin typeface="Arial" pitchFamily="34" charset="0"/>
                          <a:ea typeface="Arial" pitchFamily="34" charset="-122"/>
                          <a:cs typeface="Arial" pitchFamily="34" charset="-120"/>
                        </a:rPr>
                        <a:t>Phase 2</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Integration into Projects</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Arial" pitchFamily="34" charset="0"/>
                          <a:ea typeface="Arial" pitchFamily="34" charset="-122"/>
                          <a:cs typeface="Arial" pitchFamily="34" charset="-120"/>
                        </a:rPr>
                        <a:t>• Embed safeguards in ongoing and new AI initiatives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Project review, deployment readiness, procurement safeguards</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CHiPS: </a:t>
                      </a:r>
                      <a:endParaRPr lang="en-US" sz="1000" dirty="0">
                        <a:solidFill>
                          <a:schemeClr val="tx1"/>
                        </a:solidFill>
                        <a:latin typeface="Arial" charset="0"/>
                        <a:ea typeface="Arial" charset="0"/>
                        <a:cs typeface="Arial"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latin typeface="Arial" pitchFamily="34" charset="0"/>
                          <a:ea typeface="Arial" pitchFamily="34" charset="-122"/>
                          <a:cs typeface="Arial" pitchFamily="34" charset="-120"/>
                        </a:rPr>
                        <a:t>Risk-based review model (low/moderate/high impact), empanelment of auditors</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Departments: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Risk screening and documentation before deployment</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Proposed State CERT: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Security audit of departmental AI solutions</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CERT-In empanelment: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Cybersecurity audit organisations empanelled nationally, giving States a ready pool for VAPT and AI system audits</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CERT-In AI advisories: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Advisory on defending against frontier AI-driven cyber risks and a blueprint on AI-assisted vulnerability exploitation</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09344">
                <a:tc>
                  <a:txBody>
                    <a:bodyPr/>
                    <a:lstStyle/>
                    <a:p>
                      <a:pPr marL="0" indent="0">
                        <a:buNone/>
                      </a:pPr>
                      <a:r>
                        <a:rPr lang="en-US" sz="1000" b="1" dirty="0">
                          <a:solidFill>
                            <a:schemeClr val="tx1"/>
                          </a:solidFill>
                          <a:latin typeface="Arial" pitchFamily="34" charset="0"/>
                          <a:ea typeface="Arial" pitchFamily="34" charset="-122"/>
                          <a:cs typeface="Arial" pitchFamily="34" charset="-120"/>
                        </a:rPr>
                        <a:t>Phase 3</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Consolidation &amp; Audit</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Arial" pitchFamily="34" charset="0"/>
                          <a:ea typeface="Arial" pitchFamily="34" charset="-122"/>
                          <a:cs typeface="Arial" pitchFamily="34" charset="-120"/>
                        </a:rPr>
                        <a:t>• Periodic review and audit strengthening</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Institutionalise responsible-AI processes</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CHiPS: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Commissions third-party audit, capped at 0.5% of outlay</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Steering Committee: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Reviews compliance findings and corrective action</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Departments: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Close audit observations and update risk registers</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Technical Advisory Committee: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Updates standards as national guidance evolves</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IndiaAI Safety Institute: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Established under the Safe &amp; Trusted pillar of the IndiaAI Mission on a hub-and-spoke model, onboarding academic, startup and industry partners through an Expression of Interest (IndiaAI / MeitY)</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MeitY – STQC: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Government testing and certification route available to States for information-system assurance</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10896"/>
            <a:ext cx="1118311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43458"/>
                </a:solidFill>
                <a:effectLst/>
                <a:uLnTx/>
                <a:uFillTx/>
                <a:latin typeface="Arial" pitchFamily="34" charset="0"/>
                <a:ea typeface="Arial" pitchFamily="34" charset="-122"/>
                <a:cs typeface="Arial" pitchFamily="34" charset="-120"/>
              </a:rPr>
              <a:t>Pillar 5 - Departmental AI Adoption, Multilingual Services &amp; Forest AI Stack</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1" name="Table 0"/>
          <p:cNvGraphicFramePr>
            <a:graphicFrameLocks noGrp="1"/>
          </p:cNvGraphicFramePr>
          <p:nvPr/>
        </p:nvGraphicFramePr>
        <p:xfrm>
          <a:off x="502920" y="1225296"/>
          <a:ext cx="11457432" cy="5120640"/>
        </p:xfrm>
        <a:graphic>
          <a:graphicData uri="http://schemas.openxmlformats.org/drawingml/2006/table">
            <a:tbl>
              <a:tblPr/>
              <a:tblGrid>
                <a:gridCol w="1700784">
                  <a:extLst>
                    <a:ext uri="{9D8B030D-6E8A-4147-A177-3AD203B41FA5}">
                      <a16:colId xmlns:a16="http://schemas.microsoft.com/office/drawing/2014/main" val="20000"/>
                    </a:ext>
                  </a:extLst>
                </a:gridCol>
                <a:gridCol w="2506319">
                  <a:extLst>
                    <a:ext uri="{9D8B030D-6E8A-4147-A177-3AD203B41FA5}">
                      <a16:colId xmlns:a16="http://schemas.microsoft.com/office/drawing/2014/main" val="20001"/>
                    </a:ext>
                  </a:extLst>
                </a:gridCol>
                <a:gridCol w="3191773">
                  <a:extLst>
                    <a:ext uri="{9D8B030D-6E8A-4147-A177-3AD203B41FA5}">
                      <a16:colId xmlns:a16="http://schemas.microsoft.com/office/drawing/2014/main" val="20002"/>
                    </a:ext>
                  </a:extLst>
                </a:gridCol>
                <a:gridCol w="4058556">
                  <a:extLst>
                    <a:ext uri="{9D8B030D-6E8A-4147-A177-3AD203B41FA5}">
                      <a16:colId xmlns:a16="http://schemas.microsoft.com/office/drawing/2014/main" val="20003"/>
                    </a:ext>
                  </a:extLst>
                </a:gridCol>
              </a:tblGrid>
              <a:tr h="292608">
                <a:tc>
                  <a:txBody>
                    <a:bodyPr/>
                    <a:lstStyle/>
                    <a:p>
                      <a:pPr marL="0" indent="0">
                        <a:buNone/>
                      </a:pPr>
                      <a:r>
                        <a:rPr lang="en-US" sz="1000" b="1" dirty="0">
                          <a:solidFill>
                            <a:srgbClr val="FFFFFF"/>
                          </a:solidFill>
                          <a:latin typeface="Arial" pitchFamily="34" charset="0"/>
                          <a:ea typeface="Arial" pitchFamily="34" charset="-122"/>
                          <a:cs typeface="Arial" pitchFamily="34" charset="-120"/>
                        </a:rPr>
                        <a:t>Component</a:t>
                      </a:r>
                      <a:endParaRPr lang="en-US" sz="1000" dirty="0">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Mission Implementation Steps</a:t>
                      </a:r>
                      <a:endParaRPr lang="en-US" sz="1000" dirty="0">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Roles &amp; Responsibility</a:t>
                      </a:r>
                      <a:endParaRPr lang="en-US" sz="1000" dirty="0">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Relevant Examples</a:t>
                      </a:r>
                      <a:endParaRPr lang="en-US" sz="1000" dirty="0">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rgbClr val="143458"/>
                    </a:solidFill>
                  </a:tcPr>
                </a:tc>
                <a:extLst>
                  <a:ext uri="{0D108BD9-81ED-4DB2-BD59-A6C34878D82A}">
                    <a16:rowId xmlns:a16="http://schemas.microsoft.com/office/drawing/2014/main" val="10000"/>
                  </a:ext>
                </a:extLst>
              </a:tr>
              <a:tr h="1609344">
                <a:tc>
                  <a:txBody>
                    <a:bodyPr/>
                    <a:lstStyle/>
                    <a:p>
                      <a:pPr marL="0" indent="0">
                        <a:buNone/>
                      </a:pPr>
                      <a:r>
                        <a:rPr lang="en-US" sz="1000" b="1" dirty="0">
                          <a:solidFill>
                            <a:schemeClr val="tx1"/>
                          </a:solidFill>
                          <a:latin typeface="Arial" pitchFamily="34" charset="0"/>
                          <a:ea typeface="Arial" pitchFamily="34" charset="-122"/>
                          <a:cs typeface="Arial" pitchFamily="34" charset="-120"/>
                        </a:rPr>
                        <a:t>Phase 1</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Assessment</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Arial" pitchFamily="34" charset="0"/>
                          <a:ea typeface="Arial" pitchFamily="34" charset="-122"/>
                          <a:cs typeface="Arial" pitchFamily="34" charset="-120"/>
                        </a:rPr>
                        <a:t>• Structured assessments, use-case identification, readiness analysis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Generative-AI use standards and training plans</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Departments: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Own the readiness assessment and name AI use cases</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CHiPS: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Use-case repository and prioritization framework, Technical assessment support and baseline studies</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AI Nodal Officers: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Departmental coordination mechanism</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Maharashtra – Microsoft: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MoU for three AI Centres of Excellence at Mumbai, Pune and Nagpur, plus Copilot training for State employees (Newsonair / Prasar Bharati)</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Maharashtra – IBM: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MoU for administrative transformation through AI, with AI, cybersecurity and cloud training for officials and students (Newsonair)</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09344">
                <a:tc>
                  <a:txBody>
                    <a:bodyPr/>
                    <a:lstStyle/>
                    <a:p>
                      <a:pPr marL="0" indent="0">
                        <a:buNone/>
                      </a:pPr>
                      <a:r>
                        <a:rPr lang="en-US" sz="1000" b="1" dirty="0">
                          <a:solidFill>
                            <a:schemeClr val="tx1"/>
                          </a:solidFill>
                          <a:latin typeface="Arial" pitchFamily="34" charset="0"/>
                          <a:ea typeface="Arial" pitchFamily="34" charset="-122"/>
                          <a:cs typeface="Arial" pitchFamily="34" charset="-120"/>
                        </a:rPr>
                        <a:t>Phase 2</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Pilot Deployment</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Arial" pitchFamily="34" charset="0"/>
                          <a:ea typeface="Arial" pitchFamily="34" charset="-122"/>
                          <a:cs typeface="Arial" pitchFamily="34" charset="-120"/>
                        </a:rPr>
                        <a:t>• Productivity tools and copilots for officials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BHASHINI multilingual integration</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AI decision-support pilots and the Forest AI Stack</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Departments: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Domain inputs, data access and pilot ownership</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Forest Department: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Owner of the Forest AI Stack and State Forest Data Lake</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CHiPS: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Forest AI Stack architecture, RFP and GPU provisioning, Bhashini coordination and PoC solutioning</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Madhya Pradesh – Digital India BHASHINI Division: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MoU to embed translation APIs and voice-first AI across State platforms in Health, Agriculture and Revenue; Tripura and Assam have signed comparable MoUs</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Madhya Pradesh Forest Department: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India's first AI-based real-time forest alert system, piloted in five divisions using satellite imagery, Google Earth Engine and mobile field verification to detect encroachment and degradation</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09344">
                <a:tc>
                  <a:txBody>
                    <a:bodyPr/>
                    <a:lstStyle/>
                    <a:p>
                      <a:pPr marL="0" indent="0">
                        <a:buNone/>
                      </a:pPr>
                      <a:r>
                        <a:rPr lang="en-US" sz="1000" b="1" dirty="0">
                          <a:solidFill>
                            <a:schemeClr val="tx1"/>
                          </a:solidFill>
                          <a:latin typeface="Arial" pitchFamily="34" charset="0"/>
                          <a:ea typeface="Arial" pitchFamily="34" charset="-122"/>
                          <a:cs typeface="Arial" pitchFamily="34" charset="-120"/>
                        </a:rPr>
                        <a:t>Phase 3</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Scale &amp; Institutionalise</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Arial" pitchFamily="34" charset="0"/>
                          <a:ea typeface="Arial" pitchFamily="34" charset="-122"/>
                          <a:cs typeface="Arial" pitchFamily="34" charset="-120"/>
                        </a:rPr>
                        <a:t>• Scale successful use cases</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 Institutionalise half-yearly reviews and embed AI into workflows</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Departments: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Production deployment and staff adoption</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CHiPS: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Infrastructure sizing and Annual Work Plan</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Steering Committee: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Half-yearly and annual adoption review</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tc>
                  <a:txBody>
                    <a:bodyPr/>
                    <a:lstStyle/>
                    <a:p>
                      <a:pPr marL="0" indent="0">
                        <a:buNone/>
                      </a:pPr>
                      <a:r>
                        <a:rPr lang="en-US" sz="1000" b="1" dirty="0">
                          <a:solidFill>
                            <a:schemeClr val="tx1"/>
                          </a:solidFill>
                          <a:latin typeface="Arial" pitchFamily="34" charset="0"/>
                          <a:ea typeface="Arial" pitchFamily="34" charset="-122"/>
                          <a:cs typeface="Arial" pitchFamily="34" charset="-120"/>
                        </a:rPr>
                        <a:t>Forest Survey of India: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National near-real-time forest fire alert system using SNPP-VIIRS data processed by NRSC Hyderabad, with accuracy dependent on boundary data supplied by State Forest Departments (fsiforestfire.gov.in)</a:t>
                      </a:r>
                      <a:endParaRPr lang="en-US" sz="1000" dirty="0">
                        <a:solidFill>
                          <a:schemeClr val="tx1"/>
                        </a:solidFill>
                        <a:latin typeface="Arial" charset="0"/>
                        <a:ea typeface="Arial" charset="0"/>
                        <a:cs typeface="Arial" charset="0"/>
                      </a:endParaRPr>
                    </a:p>
                    <a:p>
                      <a:pPr marL="0" indent="0">
                        <a:buNone/>
                      </a:pPr>
                      <a:r>
                        <a:rPr lang="en-US" sz="1000" b="1" dirty="0">
                          <a:solidFill>
                            <a:schemeClr val="tx1"/>
                          </a:solidFill>
                          <a:latin typeface="Arial" pitchFamily="34" charset="0"/>
                          <a:ea typeface="Arial" pitchFamily="34" charset="-122"/>
                          <a:cs typeface="Arial" pitchFamily="34" charset="-120"/>
                        </a:rPr>
                        <a:t>Odisha – IIT Kanpur (Airawat Research Foundation): </a:t>
                      </a:r>
                      <a:endParaRPr lang="en-US" sz="1000" dirty="0">
                        <a:solidFill>
                          <a:schemeClr val="tx1"/>
                        </a:solidFill>
                        <a:latin typeface="Arial" charset="0"/>
                        <a:ea typeface="Arial" charset="0"/>
                        <a:cs typeface="Arial" charset="0"/>
                      </a:endParaRPr>
                    </a:p>
                    <a:p>
                      <a:pPr marL="0" indent="0">
                        <a:buNone/>
                      </a:pPr>
                      <a:r>
                        <a:rPr lang="en-US" sz="1000" dirty="0">
                          <a:solidFill>
                            <a:schemeClr val="tx1"/>
                          </a:solidFill>
                          <a:latin typeface="Arial" pitchFamily="34" charset="0"/>
                          <a:ea typeface="Arial" pitchFamily="34" charset="-122"/>
                          <a:cs typeface="Arial" pitchFamily="34" charset="-120"/>
                        </a:rPr>
                        <a:t>MoU  for strategic and technical support in adopting AI across the urban ecosystem (PTI)</a:t>
                      </a:r>
                      <a:endParaRPr lang="en-US" sz="1000" dirty="0">
                        <a:solidFill>
                          <a:schemeClr val="tx1"/>
                        </a:solidFill>
                        <a:latin typeface="Arial" charset="0"/>
                        <a:ea typeface="Arial" charset="0"/>
                        <a:cs typeface="Arial" charset="0"/>
                      </a:endParaRPr>
                    </a:p>
                  </a:txBody>
                  <a:tcPr marL="76200" marR="76200" marT="50800" marB="50800" anchor="ctr">
                    <a:lnL w="12700" cap="flat" cmpd="sng" algn="ctr">
                      <a:solidFill>
                        <a:srgbClr val="CDD7E1"/>
                      </a:solidFill>
                      <a:prstDash val="solid"/>
                      <a:round/>
                      <a:headEnd type="none" w="med" len="med"/>
                      <a:tailEnd type="none" w="med" len="med"/>
                    </a:lnL>
                    <a:lnR w="12700" cap="flat" cmpd="sng" algn="ctr">
                      <a:solidFill>
                        <a:srgbClr val="CDD7E1"/>
                      </a:solidFill>
                      <a:prstDash val="solid"/>
                      <a:round/>
                      <a:headEnd type="none" w="med" len="med"/>
                      <a:tailEnd type="none" w="med" len="med"/>
                    </a:lnR>
                    <a:lnT w="12700" cap="flat" cmpd="sng" algn="ctr">
                      <a:solidFill>
                        <a:srgbClr val="CDD7E1"/>
                      </a:solidFill>
                      <a:prstDash val="solid"/>
                      <a:round/>
                      <a:headEnd type="none" w="med" len="med"/>
                      <a:tailEnd type="none" w="med" len="med"/>
                    </a:lnT>
                    <a:lnB w="12700" cap="flat" cmpd="sng" algn="ctr">
                      <a:solidFill>
                        <a:srgbClr val="CDD7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FC6C440-75A3-097B-2532-D0EB4A80BD13}"/>
              </a:ext>
            </a:extLst>
          </p:cNvPr>
          <p:cNvSpPr/>
          <p:nvPr/>
        </p:nvSpPr>
        <p:spPr>
          <a:xfrm>
            <a:off x="0" y="0"/>
            <a:ext cx="12192000" cy="6858000"/>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FB6A7C6B-D9B3-7A96-3DD3-407575C52B72}"/>
              </a:ext>
            </a:extLst>
          </p:cNvPr>
          <p:cNvSpPr/>
          <p:nvPr/>
        </p:nvSpPr>
        <p:spPr>
          <a:xfrm>
            <a:off x="0" y="0"/>
            <a:ext cx="12192000" cy="6858000"/>
          </a:xfrm>
          <a:prstGeom prst="rect">
            <a:avLst/>
          </a:prstGeom>
          <a:solidFill>
            <a:schemeClr val="bg1">
              <a:lumMod val="9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798276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19</TotalTime>
  <Words>3479</Words>
  <Application>Microsoft Office PowerPoint</Application>
  <PresentationFormat>Widescreen</PresentationFormat>
  <Paragraphs>395</Paragraphs>
  <Slides>10</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Calibri</vt:lpstr>
      <vt:lpstr>Roboto</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Garg, Vibha</dc:creator>
  <cp:lastModifiedBy>Garg, Vibha</cp:lastModifiedBy>
  <cp:revision>1</cp:revision>
  <dcterms:created xsi:type="dcterms:W3CDTF">2026-09-15T10:28:26Z</dcterms:created>
  <dcterms:modified xsi:type="dcterms:W3CDTF">2026-09-15T10:48:08Z</dcterms:modified>
</cp:coreProperties>
</file>