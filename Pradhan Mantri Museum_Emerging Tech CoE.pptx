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1" r:id="rId2"/>
  </p:sldMasterIdLst>
  <p:notesMasterIdLst>
    <p:notesMasterId r:id="rId11"/>
  </p:notesMasterIdLst>
  <p:sldIdLst>
    <p:sldId id="387" r:id="rId3"/>
    <p:sldId id="2147473734" r:id="rId4"/>
    <p:sldId id="2147473753" r:id="rId5"/>
    <p:sldId id="2147473741" r:id="rId6"/>
    <p:sldId id="2147473738" r:id="rId7"/>
    <p:sldId id="2147473745" r:id="rId8"/>
    <p:sldId id="2147473740" r:id="rId9"/>
    <p:sldId id="214747374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A9"/>
    <a:srgbClr val="43B02A"/>
    <a:srgbClr val="86BC25"/>
    <a:srgbClr val="D9D9D9"/>
    <a:srgbClr val="F2F2F2"/>
    <a:srgbClr val="2C5234"/>
    <a:srgbClr val="00A3E0"/>
    <a:srgbClr val="0155A4"/>
    <a:srgbClr val="FFFFFF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1363" autoAdjust="0"/>
  </p:normalViewPr>
  <p:slideViewPr>
    <p:cSldViewPr snapToGrid="0">
      <p:cViewPr varScale="1">
        <p:scale>
          <a:sx n="74" d="100"/>
          <a:sy n="74" d="100"/>
        </p:scale>
        <p:origin x="3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18" d="100"/>
          <a:sy n="118" d="100"/>
        </p:scale>
        <p:origin x="1090" y="-20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g, Vibha" userId="16e899c9-7991-4bad-9c17-78ceeff485b1" providerId="ADAL" clId="{34E581C3-C194-41E5-8E7E-578880380DA0}"/>
    <pc:docChg chg="modSld">
      <pc:chgData name="Garg, Vibha" userId="16e899c9-7991-4bad-9c17-78ceeff485b1" providerId="ADAL" clId="{34E581C3-C194-41E5-8E7E-578880380DA0}" dt="2026-04-09T09:58:29.045" v="15" actId="20577"/>
      <pc:docMkLst>
        <pc:docMk/>
      </pc:docMkLst>
      <pc:sldChg chg="modSp mod">
        <pc:chgData name="Garg, Vibha" userId="16e899c9-7991-4bad-9c17-78ceeff485b1" providerId="ADAL" clId="{34E581C3-C194-41E5-8E7E-578880380DA0}" dt="2026-04-09T09:58:29.045" v="15" actId="20577"/>
        <pc:sldMkLst>
          <pc:docMk/>
          <pc:sldMk cId="1574868183" sldId="2147473734"/>
        </pc:sldMkLst>
        <pc:spChg chg="mod">
          <ac:chgData name="Garg, Vibha" userId="16e899c9-7991-4bad-9c17-78ceeff485b1" providerId="ADAL" clId="{34E581C3-C194-41E5-8E7E-578880380DA0}" dt="2026-04-09T09:58:29.045" v="15" actId="20577"/>
          <ac:spMkLst>
            <pc:docMk/>
            <pc:sldMk cId="1574868183" sldId="2147473734"/>
            <ac:spMk id="90" creationId="{08F5D27B-02B8-70F1-3BCF-E106864095D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B5D41C-AA20-49FE-88A5-EF7A97912F14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BEA8D974-B6A8-4127-925B-DF8A3D74AF58}">
      <dgm:prSet phldrT="[Text]"/>
      <dgm:spPr/>
      <dgm:t>
        <a:bodyPr/>
        <a:lstStyle/>
        <a:p>
          <a:r>
            <a:rPr lang="en-US" b="1" dirty="0"/>
            <a:t>Envision</a:t>
          </a:r>
          <a:endParaRPr lang="en-IN" b="1" dirty="0"/>
        </a:p>
      </dgm:t>
    </dgm:pt>
    <dgm:pt modelId="{E3CFAFF5-4C19-43FD-91DA-8A2F59835783}" type="parTrans" cxnId="{E5744B07-A37D-4728-84A5-90A5C0968CEC}">
      <dgm:prSet/>
      <dgm:spPr/>
      <dgm:t>
        <a:bodyPr/>
        <a:lstStyle/>
        <a:p>
          <a:endParaRPr lang="en-IN"/>
        </a:p>
      </dgm:t>
    </dgm:pt>
    <dgm:pt modelId="{7E3B7DCD-4C10-4D2F-BDB7-FCFFAAB19CC4}" type="sibTrans" cxnId="{E5744B07-A37D-4728-84A5-90A5C0968CEC}">
      <dgm:prSet/>
      <dgm:spPr/>
      <dgm:t>
        <a:bodyPr/>
        <a:lstStyle/>
        <a:p>
          <a:endParaRPr lang="en-IN"/>
        </a:p>
      </dgm:t>
    </dgm:pt>
    <dgm:pt modelId="{A3F5A622-3E20-49F0-831A-F542F6C84132}">
      <dgm:prSet phldrT="[Text]"/>
      <dgm:spPr/>
      <dgm:t>
        <a:bodyPr/>
        <a:lstStyle/>
        <a:p>
          <a:pPr>
            <a:buNone/>
          </a:pPr>
          <a:r>
            <a:rPr lang="en-IN" b="0" i="0" dirty="0"/>
            <a:t>Future-focused strategy shaping</a:t>
          </a:r>
          <a:endParaRPr lang="en-IN" dirty="0"/>
        </a:p>
      </dgm:t>
    </dgm:pt>
    <dgm:pt modelId="{FA819997-A7B0-4C2A-BF94-8F4AF3919FE1}" type="parTrans" cxnId="{6C1A2B17-41CF-4791-A890-2825A1CD9C4E}">
      <dgm:prSet/>
      <dgm:spPr/>
      <dgm:t>
        <a:bodyPr/>
        <a:lstStyle/>
        <a:p>
          <a:endParaRPr lang="en-IN"/>
        </a:p>
      </dgm:t>
    </dgm:pt>
    <dgm:pt modelId="{B6CA22FD-1652-41B6-8BE8-C559C41E2E82}" type="sibTrans" cxnId="{6C1A2B17-41CF-4791-A890-2825A1CD9C4E}">
      <dgm:prSet/>
      <dgm:spPr/>
      <dgm:t>
        <a:bodyPr/>
        <a:lstStyle/>
        <a:p>
          <a:endParaRPr lang="en-IN"/>
        </a:p>
      </dgm:t>
    </dgm:pt>
    <dgm:pt modelId="{5BD61117-7749-4311-8200-DF7CF951C638}">
      <dgm:prSet/>
      <dgm:spPr/>
      <dgm:t>
        <a:bodyPr/>
        <a:lstStyle/>
        <a:p>
          <a:pPr>
            <a:buNone/>
          </a:pPr>
          <a:r>
            <a:rPr lang="en-US" b="1" dirty="0"/>
            <a:t>Validate</a:t>
          </a:r>
          <a:endParaRPr lang="en-IN" b="1" dirty="0"/>
        </a:p>
      </dgm:t>
    </dgm:pt>
    <dgm:pt modelId="{155FFDE2-4966-435E-8837-E80A009DDED9}" type="parTrans" cxnId="{9AB5FEE8-6157-4E5A-A2C6-A94DB89190BB}">
      <dgm:prSet/>
      <dgm:spPr/>
      <dgm:t>
        <a:bodyPr/>
        <a:lstStyle/>
        <a:p>
          <a:endParaRPr lang="en-IN"/>
        </a:p>
      </dgm:t>
    </dgm:pt>
    <dgm:pt modelId="{0D946EEA-DA6E-41D6-A9E7-E16AAB343BDF}" type="sibTrans" cxnId="{9AB5FEE8-6157-4E5A-A2C6-A94DB89190BB}">
      <dgm:prSet/>
      <dgm:spPr/>
      <dgm:t>
        <a:bodyPr/>
        <a:lstStyle/>
        <a:p>
          <a:endParaRPr lang="en-IN"/>
        </a:p>
      </dgm:t>
    </dgm:pt>
    <dgm:pt modelId="{B39D8170-7675-4224-8DA9-8FF0D17EB608}">
      <dgm:prSet/>
      <dgm:spPr/>
      <dgm:t>
        <a:bodyPr/>
        <a:lstStyle/>
        <a:p>
          <a:pPr>
            <a:buNone/>
          </a:pPr>
          <a:r>
            <a:rPr lang="en-US" b="0" i="0" dirty="0"/>
            <a:t>Prototype, test, and iterate</a:t>
          </a:r>
          <a:endParaRPr lang="en-IN" dirty="0"/>
        </a:p>
      </dgm:t>
    </dgm:pt>
    <dgm:pt modelId="{88C02B5E-6116-4E3D-9C28-3DF87E868DCA}" type="parTrans" cxnId="{409DC61E-FAB1-4CD1-849D-9F2FF3937439}">
      <dgm:prSet/>
      <dgm:spPr/>
      <dgm:t>
        <a:bodyPr/>
        <a:lstStyle/>
        <a:p>
          <a:endParaRPr lang="en-IN"/>
        </a:p>
      </dgm:t>
    </dgm:pt>
    <dgm:pt modelId="{6253D23E-4694-4FEC-8972-6BB0BCA54FBC}" type="sibTrans" cxnId="{409DC61E-FAB1-4CD1-849D-9F2FF3937439}">
      <dgm:prSet/>
      <dgm:spPr/>
      <dgm:t>
        <a:bodyPr/>
        <a:lstStyle/>
        <a:p>
          <a:endParaRPr lang="en-IN"/>
        </a:p>
      </dgm:t>
    </dgm:pt>
    <dgm:pt modelId="{511235BA-BA70-4C1F-8674-830DAC575897}">
      <dgm:prSet/>
      <dgm:spPr/>
      <dgm:t>
        <a:bodyPr/>
        <a:lstStyle/>
        <a:p>
          <a:pPr>
            <a:buNone/>
          </a:pPr>
          <a:r>
            <a:rPr lang="en-US" b="1" dirty="0"/>
            <a:t>Operate</a:t>
          </a:r>
          <a:endParaRPr lang="en-IN" b="1" dirty="0"/>
        </a:p>
      </dgm:t>
    </dgm:pt>
    <dgm:pt modelId="{68CD359A-C5F1-46D8-824C-5301C4878036}" type="parTrans" cxnId="{6440F074-EBE6-4763-A78B-784CD4E93195}">
      <dgm:prSet/>
      <dgm:spPr/>
      <dgm:t>
        <a:bodyPr/>
        <a:lstStyle/>
        <a:p>
          <a:endParaRPr lang="en-IN"/>
        </a:p>
      </dgm:t>
    </dgm:pt>
    <dgm:pt modelId="{2E1CCA0B-AEBA-4099-97F9-1E2616503569}" type="sibTrans" cxnId="{6440F074-EBE6-4763-A78B-784CD4E93195}">
      <dgm:prSet/>
      <dgm:spPr/>
      <dgm:t>
        <a:bodyPr/>
        <a:lstStyle/>
        <a:p>
          <a:endParaRPr lang="en-IN"/>
        </a:p>
      </dgm:t>
    </dgm:pt>
    <dgm:pt modelId="{47BE962C-C596-4FAD-B2AA-60BDF9C12DC1}">
      <dgm:prSet/>
      <dgm:spPr/>
      <dgm:t>
        <a:bodyPr/>
        <a:lstStyle/>
        <a:p>
          <a:pPr>
            <a:buNone/>
          </a:pPr>
          <a:r>
            <a:rPr lang="en-US" b="0" i="0" dirty="0"/>
            <a:t>Execute and scale with agility</a:t>
          </a:r>
          <a:endParaRPr lang="en-IN" dirty="0"/>
        </a:p>
      </dgm:t>
    </dgm:pt>
    <dgm:pt modelId="{B7EE3FCB-FC91-48FE-9D60-62D5257BAF16}" type="parTrans" cxnId="{1D00381E-F097-4EA1-A3F6-7D5A8BC4C64F}">
      <dgm:prSet/>
      <dgm:spPr/>
      <dgm:t>
        <a:bodyPr/>
        <a:lstStyle/>
        <a:p>
          <a:endParaRPr lang="en-IN"/>
        </a:p>
      </dgm:t>
    </dgm:pt>
    <dgm:pt modelId="{47AF03E6-58EE-4779-8430-FF4A1C1FC6AA}" type="sibTrans" cxnId="{1D00381E-F097-4EA1-A3F6-7D5A8BC4C64F}">
      <dgm:prSet/>
      <dgm:spPr/>
      <dgm:t>
        <a:bodyPr/>
        <a:lstStyle/>
        <a:p>
          <a:endParaRPr lang="en-IN"/>
        </a:p>
      </dgm:t>
    </dgm:pt>
    <dgm:pt modelId="{3657F68C-8A8A-4B58-8645-9C2587AD4509}">
      <dgm:prSet/>
      <dgm:spPr/>
      <dgm:t>
        <a:bodyPr/>
        <a:lstStyle/>
        <a:p>
          <a:pPr>
            <a:buNone/>
          </a:pPr>
          <a:endParaRPr lang="en-IN" dirty="0"/>
        </a:p>
      </dgm:t>
    </dgm:pt>
    <dgm:pt modelId="{7477FC66-E912-4339-86B8-F2AC08C83462}" type="parTrans" cxnId="{27109F4A-7748-4710-8FDB-E27625AC856B}">
      <dgm:prSet/>
      <dgm:spPr/>
      <dgm:t>
        <a:bodyPr/>
        <a:lstStyle/>
        <a:p>
          <a:endParaRPr lang="en-IN"/>
        </a:p>
      </dgm:t>
    </dgm:pt>
    <dgm:pt modelId="{AD26CA58-65CA-43DB-92C3-23AF0DE35F0C}" type="sibTrans" cxnId="{27109F4A-7748-4710-8FDB-E27625AC856B}">
      <dgm:prSet/>
      <dgm:spPr/>
      <dgm:t>
        <a:bodyPr/>
        <a:lstStyle/>
        <a:p>
          <a:endParaRPr lang="en-IN"/>
        </a:p>
      </dgm:t>
    </dgm:pt>
    <dgm:pt modelId="{75B0D870-7209-4BFD-B239-AD1294B02E7A}" type="pres">
      <dgm:prSet presAssocID="{B7B5D41C-AA20-49FE-88A5-EF7A97912F14}" presName="CompostProcess" presStyleCnt="0">
        <dgm:presLayoutVars>
          <dgm:dir/>
          <dgm:resizeHandles val="exact"/>
        </dgm:presLayoutVars>
      </dgm:prSet>
      <dgm:spPr/>
    </dgm:pt>
    <dgm:pt modelId="{238BF1A5-5662-4851-9C7C-07E8DB553FA9}" type="pres">
      <dgm:prSet presAssocID="{B7B5D41C-AA20-49FE-88A5-EF7A97912F14}" presName="arrow" presStyleLbl="bgShp" presStyleIdx="0" presStyleCnt="1"/>
      <dgm:spPr/>
    </dgm:pt>
    <dgm:pt modelId="{120CB3EA-9EA1-40FE-8D6A-EF2E9FF59CAC}" type="pres">
      <dgm:prSet presAssocID="{B7B5D41C-AA20-49FE-88A5-EF7A97912F14}" presName="linearProcess" presStyleCnt="0"/>
      <dgm:spPr/>
    </dgm:pt>
    <dgm:pt modelId="{E9093742-EB65-4F73-8388-3F1DD78A32AE}" type="pres">
      <dgm:prSet presAssocID="{BEA8D974-B6A8-4127-925B-DF8A3D74AF58}" presName="textNode" presStyleLbl="node1" presStyleIdx="0" presStyleCnt="3">
        <dgm:presLayoutVars>
          <dgm:bulletEnabled val="1"/>
        </dgm:presLayoutVars>
      </dgm:prSet>
      <dgm:spPr/>
    </dgm:pt>
    <dgm:pt modelId="{37C576F3-B9B9-4B33-8DEF-CE541DAF6992}" type="pres">
      <dgm:prSet presAssocID="{7E3B7DCD-4C10-4D2F-BDB7-FCFFAAB19CC4}" presName="sibTrans" presStyleCnt="0"/>
      <dgm:spPr/>
    </dgm:pt>
    <dgm:pt modelId="{6385C5B1-9593-4A92-9924-7B7AB3717918}" type="pres">
      <dgm:prSet presAssocID="{5BD61117-7749-4311-8200-DF7CF951C638}" presName="textNode" presStyleLbl="node1" presStyleIdx="1" presStyleCnt="3">
        <dgm:presLayoutVars>
          <dgm:bulletEnabled val="1"/>
        </dgm:presLayoutVars>
      </dgm:prSet>
      <dgm:spPr/>
    </dgm:pt>
    <dgm:pt modelId="{3CA96F80-968F-4A2B-9438-8536FA82198C}" type="pres">
      <dgm:prSet presAssocID="{0D946EEA-DA6E-41D6-A9E7-E16AAB343BDF}" presName="sibTrans" presStyleCnt="0"/>
      <dgm:spPr/>
    </dgm:pt>
    <dgm:pt modelId="{032DF1B6-025D-46E9-88B3-97DAFB429AFA}" type="pres">
      <dgm:prSet presAssocID="{511235BA-BA70-4C1F-8674-830DAC57589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E5744B07-A37D-4728-84A5-90A5C0968CEC}" srcId="{B7B5D41C-AA20-49FE-88A5-EF7A97912F14}" destId="{BEA8D974-B6A8-4127-925B-DF8A3D74AF58}" srcOrd="0" destOrd="0" parTransId="{E3CFAFF5-4C19-43FD-91DA-8A2F59835783}" sibTransId="{7E3B7DCD-4C10-4D2F-BDB7-FCFFAAB19CC4}"/>
    <dgm:cxn modelId="{5D6CC308-F171-4622-B634-A6DCF5BDEAD7}" type="presOf" srcId="{A3F5A622-3E20-49F0-831A-F542F6C84132}" destId="{E9093742-EB65-4F73-8388-3F1DD78A32AE}" srcOrd="0" destOrd="1" presId="urn:microsoft.com/office/officeart/2005/8/layout/hProcess9"/>
    <dgm:cxn modelId="{6C1A2B17-41CF-4791-A890-2825A1CD9C4E}" srcId="{BEA8D974-B6A8-4127-925B-DF8A3D74AF58}" destId="{A3F5A622-3E20-49F0-831A-F542F6C84132}" srcOrd="0" destOrd="0" parTransId="{FA819997-A7B0-4C2A-BF94-8F4AF3919FE1}" sibTransId="{B6CA22FD-1652-41B6-8BE8-C559C41E2E82}"/>
    <dgm:cxn modelId="{1D00381E-F097-4EA1-A3F6-7D5A8BC4C64F}" srcId="{511235BA-BA70-4C1F-8674-830DAC575897}" destId="{47BE962C-C596-4FAD-B2AA-60BDF9C12DC1}" srcOrd="0" destOrd="0" parTransId="{B7EE3FCB-FC91-48FE-9D60-62D5257BAF16}" sibTransId="{47AF03E6-58EE-4779-8430-FF4A1C1FC6AA}"/>
    <dgm:cxn modelId="{409DC61E-FAB1-4CD1-849D-9F2FF3937439}" srcId="{5BD61117-7749-4311-8200-DF7CF951C638}" destId="{B39D8170-7675-4224-8DA9-8FF0D17EB608}" srcOrd="0" destOrd="0" parTransId="{88C02B5E-6116-4E3D-9C28-3DF87E868DCA}" sibTransId="{6253D23E-4694-4FEC-8972-6BB0BCA54FBC}"/>
    <dgm:cxn modelId="{747FBE5F-6AAE-4A09-B2D4-E1E9760E9E24}" type="presOf" srcId="{511235BA-BA70-4C1F-8674-830DAC575897}" destId="{032DF1B6-025D-46E9-88B3-97DAFB429AFA}" srcOrd="0" destOrd="0" presId="urn:microsoft.com/office/officeart/2005/8/layout/hProcess9"/>
    <dgm:cxn modelId="{27109F4A-7748-4710-8FDB-E27625AC856B}" srcId="{511235BA-BA70-4C1F-8674-830DAC575897}" destId="{3657F68C-8A8A-4B58-8645-9C2587AD4509}" srcOrd="1" destOrd="0" parTransId="{7477FC66-E912-4339-86B8-F2AC08C83462}" sibTransId="{AD26CA58-65CA-43DB-92C3-23AF0DE35F0C}"/>
    <dgm:cxn modelId="{6440F074-EBE6-4763-A78B-784CD4E93195}" srcId="{B7B5D41C-AA20-49FE-88A5-EF7A97912F14}" destId="{511235BA-BA70-4C1F-8674-830DAC575897}" srcOrd="2" destOrd="0" parTransId="{68CD359A-C5F1-46D8-824C-5301C4878036}" sibTransId="{2E1CCA0B-AEBA-4099-97F9-1E2616503569}"/>
    <dgm:cxn modelId="{C5E1028E-5A46-4CCB-B085-A17194D6C542}" type="presOf" srcId="{B39D8170-7675-4224-8DA9-8FF0D17EB608}" destId="{6385C5B1-9593-4A92-9924-7B7AB3717918}" srcOrd="0" destOrd="1" presId="urn:microsoft.com/office/officeart/2005/8/layout/hProcess9"/>
    <dgm:cxn modelId="{34B76690-B720-43C0-8D2B-CC9D13A03616}" type="presOf" srcId="{47BE962C-C596-4FAD-B2AA-60BDF9C12DC1}" destId="{032DF1B6-025D-46E9-88B3-97DAFB429AFA}" srcOrd="0" destOrd="1" presId="urn:microsoft.com/office/officeart/2005/8/layout/hProcess9"/>
    <dgm:cxn modelId="{53657694-AF05-4F10-B13B-15584F6ECDC5}" type="presOf" srcId="{B7B5D41C-AA20-49FE-88A5-EF7A97912F14}" destId="{75B0D870-7209-4BFD-B239-AD1294B02E7A}" srcOrd="0" destOrd="0" presId="urn:microsoft.com/office/officeart/2005/8/layout/hProcess9"/>
    <dgm:cxn modelId="{60C70CC7-85D3-421A-81E4-6D0DE20F6045}" type="presOf" srcId="{3657F68C-8A8A-4B58-8645-9C2587AD4509}" destId="{032DF1B6-025D-46E9-88B3-97DAFB429AFA}" srcOrd="0" destOrd="2" presId="urn:microsoft.com/office/officeart/2005/8/layout/hProcess9"/>
    <dgm:cxn modelId="{9AB5FEE8-6157-4E5A-A2C6-A94DB89190BB}" srcId="{B7B5D41C-AA20-49FE-88A5-EF7A97912F14}" destId="{5BD61117-7749-4311-8200-DF7CF951C638}" srcOrd="1" destOrd="0" parTransId="{155FFDE2-4966-435E-8837-E80A009DDED9}" sibTransId="{0D946EEA-DA6E-41D6-A9E7-E16AAB343BDF}"/>
    <dgm:cxn modelId="{624948E9-FFE5-4A01-AECF-F9DAEDB212B9}" type="presOf" srcId="{5BD61117-7749-4311-8200-DF7CF951C638}" destId="{6385C5B1-9593-4A92-9924-7B7AB3717918}" srcOrd="0" destOrd="0" presId="urn:microsoft.com/office/officeart/2005/8/layout/hProcess9"/>
    <dgm:cxn modelId="{D207E1FD-69D7-4792-9EF0-5161B08889D6}" type="presOf" srcId="{BEA8D974-B6A8-4127-925B-DF8A3D74AF58}" destId="{E9093742-EB65-4F73-8388-3F1DD78A32AE}" srcOrd="0" destOrd="0" presId="urn:microsoft.com/office/officeart/2005/8/layout/hProcess9"/>
    <dgm:cxn modelId="{81D394CD-2CF8-40D2-9255-521A9A98DFC1}" type="presParOf" srcId="{75B0D870-7209-4BFD-B239-AD1294B02E7A}" destId="{238BF1A5-5662-4851-9C7C-07E8DB553FA9}" srcOrd="0" destOrd="0" presId="urn:microsoft.com/office/officeart/2005/8/layout/hProcess9"/>
    <dgm:cxn modelId="{53049492-BDBD-414E-948A-2BDD2433C929}" type="presParOf" srcId="{75B0D870-7209-4BFD-B239-AD1294B02E7A}" destId="{120CB3EA-9EA1-40FE-8D6A-EF2E9FF59CAC}" srcOrd="1" destOrd="0" presId="urn:microsoft.com/office/officeart/2005/8/layout/hProcess9"/>
    <dgm:cxn modelId="{29F565E7-FF02-4F27-9558-C584DB568AB7}" type="presParOf" srcId="{120CB3EA-9EA1-40FE-8D6A-EF2E9FF59CAC}" destId="{E9093742-EB65-4F73-8388-3F1DD78A32AE}" srcOrd="0" destOrd="0" presId="urn:microsoft.com/office/officeart/2005/8/layout/hProcess9"/>
    <dgm:cxn modelId="{9D1659E0-33AA-4471-8FF2-5AAD00A0B72D}" type="presParOf" srcId="{120CB3EA-9EA1-40FE-8D6A-EF2E9FF59CAC}" destId="{37C576F3-B9B9-4B33-8DEF-CE541DAF6992}" srcOrd="1" destOrd="0" presId="urn:microsoft.com/office/officeart/2005/8/layout/hProcess9"/>
    <dgm:cxn modelId="{1393605E-71C1-4DAD-99E7-596C849F235B}" type="presParOf" srcId="{120CB3EA-9EA1-40FE-8D6A-EF2E9FF59CAC}" destId="{6385C5B1-9593-4A92-9924-7B7AB3717918}" srcOrd="2" destOrd="0" presId="urn:microsoft.com/office/officeart/2005/8/layout/hProcess9"/>
    <dgm:cxn modelId="{66689799-4185-43EE-B541-6283087EE268}" type="presParOf" srcId="{120CB3EA-9EA1-40FE-8D6A-EF2E9FF59CAC}" destId="{3CA96F80-968F-4A2B-9438-8536FA82198C}" srcOrd="3" destOrd="0" presId="urn:microsoft.com/office/officeart/2005/8/layout/hProcess9"/>
    <dgm:cxn modelId="{8ED3D411-6308-4A95-A7F4-BAAF7025DB0D}" type="presParOf" srcId="{120CB3EA-9EA1-40FE-8D6A-EF2E9FF59CAC}" destId="{032DF1B6-025D-46E9-88B3-97DAFB429AF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BF1A5-5662-4851-9C7C-07E8DB553FA9}">
      <dsp:nvSpPr>
        <dsp:cNvPr id="0" name=""/>
        <dsp:cNvSpPr/>
      </dsp:nvSpPr>
      <dsp:spPr>
        <a:xfrm>
          <a:off x="615625" y="0"/>
          <a:ext cx="6977084" cy="1807535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93742-EB65-4F73-8388-3F1DD78A32AE}">
      <dsp:nvSpPr>
        <dsp:cNvPr id="0" name=""/>
        <dsp:cNvSpPr/>
      </dsp:nvSpPr>
      <dsp:spPr>
        <a:xfrm>
          <a:off x="278153" y="542260"/>
          <a:ext cx="2462500" cy="72301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Envision</a:t>
          </a:r>
          <a:endParaRPr lang="en-IN" sz="1300" b="1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000" b="0" i="0" kern="1200" dirty="0"/>
            <a:t>Future-focused strategy shaping</a:t>
          </a:r>
          <a:endParaRPr lang="en-IN" sz="1000" kern="1200" dirty="0"/>
        </a:p>
      </dsp:txBody>
      <dsp:txXfrm>
        <a:off x="313448" y="577555"/>
        <a:ext cx="2391910" cy="652423"/>
      </dsp:txXfrm>
    </dsp:sp>
    <dsp:sp modelId="{6385C5B1-9593-4A92-9924-7B7AB3717918}">
      <dsp:nvSpPr>
        <dsp:cNvPr id="0" name=""/>
        <dsp:cNvSpPr/>
      </dsp:nvSpPr>
      <dsp:spPr>
        <a:xfrm>
          <a:off x="2872917" y="542260"/>
          <a:ext cx="2462500" cy="723013"/>
        </a:xfrm>
        <a:prstGeom prst="roundRect">
          <a:avLst/>
        </a:prstGeom>
        <a:solidFill>
          <a:schemeClr val="accent3">
            <a:hueOff val="755796"/>
            <a:satOff val="-932"/>
            <a:lumOff val="-115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Validate</a:t>
          </a:r>
          <a:endParaRPr lang="en-IN" sz="1300" b="1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b="0" i="0" kern="1200" dirty="0"/>
            <a:t>Prototype, test, and iterate</a:t>
          </a:r>
          <a:endParaRPr lang="en-IN" sz="1000" kern="1200" dirty="0"/>
        </a:p>
      </dsp:txBody>
      <dsp:txXfrm>
        <a:off x="2908212" y="577555"/>
        <a:ext cx="2391910" cy="652423"/>
      </dsp:txXfrm>
    </dsp:sp>
    <dsp:sp modelId="{032DF1B6-025D-46E9-88B3-97DAFB429AFA}">
      <dsp:nvSpPr>
        <dsp:cNvPr id="0" name=""/>
        <dsp:cNvSpPr/>
      </dsp:nvSpPr>
      <dsp:spPr>
        <a:xfrm>
          <a:off x="5467680" y="542260"/>
          <a:ext cx="2462500" cy="723013"/>
        </a:xfrm>
        <a:prstGeom prst="roundRect">
          <a:avLst/>
        </a:prstGeom>
        <a:solidFill>
          <a:schemeClr val="accent3">
            <a:hueOff val="1511591"/>
            <a:satOff val="-1865"/>
            <a:lumOff val="-231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Operate</a:t>
          </a:r>
          <a:endParaRPr lang="en-IN" sz="1300" b="1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b="0" i="0" kern="1200" dirty="0"/>
            <a:t>Execute and scale with agility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000" kern="1200" dirty="0"/>
        </a:p>
      </dsp:txBody>
      <dsp:txXfrm>
        <a:off x="5502975" y="577555"/>
        <a:ext cx="2391910" cy="652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CA06D-589D-4E53-9108-0B6DB121D30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135842-89AE-4AD2-8A4D-54DBB2A2E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65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64931">
              <a:defRPr/>
            </a:pPr>
            <a:fld id="{D759AF6D-BA0E-4594-94DB-478664329D2A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864931"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03355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135842-89AE-4AD2-8A4D-54DBB2A2E8E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47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135842-89AE-4AD2-8A4D-54DBB2A2E8E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79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135842-89AE-4AD2-8A4D-54DBB2A2E8E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57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135842-89AE-4AD2-8A4D-54DBB2A2E8E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72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>
          <a:xfrm>
            <a:off x="2489813" y="727200"/>
            <a:ext cx="7200000" cy="54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501651" y="5549440"/>
            <a:ext cx="5594349" cy="324000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18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01651" y="5864230"/>
            <a:ext cx="5594348" cy="5056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5594349" cy="29845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671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3336000" y="1368000"/>
            <a:ext cx="5520000" cy="414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4200"/>
              </a:lnSpc>
              <a:defRPr sz="36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01651" y="5864230"/>
            <a:ext cx="5594348" cy="5056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5594349" cy="29845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03988" y="378000"/>
            <a:ext cx="1906703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 8"/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Freeform 13"/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8" name="Freeform 14"/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7437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800760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28775"/>
            <a:ext cx="9277349" cy="4752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22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7122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/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25586" y="1700214"/>
            <a:ext cx="2766255" cy="4656835"/>
          </a:xfrm>
        </p:spPr>
        <p:txBody>
          <a:bodyPr/>
          <a:lstStyle>
            <a:lvl1pPr>
              <a:spcBef>
                <a:spcPts val="0"/>
              </a:spcBef>
              <a:spcAft>
                <a:spcPts val="554"/>
              </a:spcAft>
              <a:defRPr sz="969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700212"/>
            <a:ext cx="7886049" cy="4657726"/>
          </a:xfrm>
        </p:spPr>
        <p:txBody>
          <a:bodyPr/>
          <a:lstStyle>
            <a:lvl1pPr>
              <a:spcBef>
                <a:spcPts val="1662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03988" y="378000"/>
            <a:ext cx="216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2559057"/>
      </p:ext>
    </p:extLst>
  </p:cSld>
  <p:clrMapOvr>
    <a:masterClrMapping/>
  </p:clrMapOvr>
  <p:transition>
    <p:fade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/>
          <a:lstStyle>
            <a:lvl1pPr>
              <a:tabLst>
                <a:tab pos="6729413" algn="r"/>
              </a:tabLst>
              <a:defRPr/>
            </a:lvl1pPr>
            <a:lvl2pPr>
              <a:tabLst>
                <a:tab pos="6729413" algn="r"/>
              </a:tabLst>
              <a:defRPr/>
            </a:lvl2pPr>
            <a:lvl3pPr>
              <a:tabLst>
                <a:tab pos="6729413" algn="r"/>
              </a:tabLst>
              <a:defRPr/>
            </a:lvl3pPr>
            <a:lvl4pPr>
              <a:tabLst>
                <a:tab pos="6729413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2" y="317500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58672053"/>
      </p:ext>
    </p:extLst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1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701801"/>
            <a:ext cx="6240000" cy="4679950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4690038"/>
      </p:ext>
    </p:extLst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698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16312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11165416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95561"/>
      </p:ext>
    </p:extLst>
  </p:cSld>
  <p:clrMapOvr>
    <a:masterClrMapping/>
  </p:clrMapOvr>
  <p:transition>
    <p:fad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11165416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4689153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700214"/>
            <a:ext cx="11188699" cy="3571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2560369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65289"/>
            <a:ext cx="3562351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03184" y="2051999"/>
            <a:ext cx="3561616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03185" y="1665289"/>
            <a:ext cx="3561615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26397" y="2051999"/>
            <a:ext cx="3563953" cy="4069014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26396" y="1659145"/>
            <a:ext cx="3563955" cy="39825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7547551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0"/>
            <a:ext cx="1120266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20266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5252471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5305580" cy="47164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83999" y="1665289"/>
            <a:ext cx="5306351" cy="47164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1600"/>
            </a:lvl1pPr>
            <a:lvl2pPr>
              <a:tabLst>
                <a:tab pos="5029200" algn="r"/>
              </a:tabLst>
              <a:defRPr sz="1600"/>
            </a:lvl2pPr>
            <a:lvl3pPr>
              <a:tabLst>
                <a:tab pos="5029200" algn="r"/>
              </a:tabLst>
              <a:defRPr sz="1600"/>
            </a:lvl3pPr>
            <a:lvl4pPr>
              <a:tabLst>
                <a:tab pos="5029200" algn="r"/>
              </a:tabLst>
              <a:defRPr sz="1600"/>
            </a:lvl4pPr>
            <a:lvl5pPr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7394130"/>
      </p:ext>
    </p:extLst>
  </p:cSld>
  <p:clrMapOvr>
    <a:masterClrMapping/>
  </p:clrMapOvr>
  <p:transition>
    <p:fade/>
  </p:transition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/>
          <a:lstStyle/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3398967"/>
      </p:ext>
    </p:extLst>
  </p:cSld>
  <p:clrMapOvr>
    <a:masterClrMapping/>
  </p:clrMapOvr>
  <p:transition>
    <p:fade/>
  </p:transition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1" y="2125013"/>
            <a:ext cx="5339063" cy="3996000"/>
          </a:xfr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39064" cy="4206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5889190"/>
      </p:ext>
    </p:extLst>
  </p:cSld>
  <p:clrMapOvr>
    <a:masterClrMapping/>
  </p:clrMapOvr>
  <p:transition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2" y="317500"/>
            <a:ext cx="1118869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700214"/>
            <a:ext cx="6240000" cy="4681537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62726817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0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22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/>
          <a:lstStyle>
            <a:lvl1pPr>
              <a:tabLst>
                <a:tab pos="5029200" algn="r"/>
              </a:tabLst>
              <a:defRPr/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2" y="651600"/>
            <a:ext cx="1118869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69091931"/>
      </p:ext>
    </p:extLst>
  </p:cSld>
  <p:clrMapOvr>
    <a:masterClrMapping/>
  </p:clrMapOvr>
  <p:transition>
    <p:fade/>
  </p:transition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88700" cy="698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0"/>
              </a:spcAft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34017311"/>
      </p:ext>
    </p:extLst>
  </p:cSld>
  <p:clrMapOvr>
    <a:masterClrMapping/>
  </p:clrMapOvr>
  <p:transition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88700" cy="6985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504000" y="1707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4085" y="1700213"/>
            <a:ext cx="5475067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000" y="4065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24085" y="4065173"/>
            <a:ext cx="547506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504000" y="1880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24085" y="1880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504000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24085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683483" y="1880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396560" y="1880213"/>
            <a:ext cx="3302592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683483" y="4256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396560" y="4256213"/>
            <a:ext cx="3302592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772800"/>
      </p:ext>
    </p:extLst>
  </p:cSld>
  <p:clrMapOvr>
    <a:masterClrMapping/>
  </p:clrMapOvr>
  <p:transition>
    <p:fade/>
  </p:transition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2"/>
            <a:ext cx="11188700" cy="6984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700214"/>
            <a:ext cx="3695700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700214"/>
            <a:ext cx="3683953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700214"/>
            <a:ext cx="3657600" cy="1971675"/>
          </a:xfrm>
        </p:spPr>
        <p:txBody>
          <a:bodyPr/>
          <a:lstStyle/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14751842"/>
      </p:ext>
    </p:extLst>
  </p:cSld>
  <p:clrMapOvr>
    <a:masterClrMapping/>
  </p:clrMapOvr>
  <p:transition>
    <p:fade/>
  </p:transition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5614796"/>
      </p:ext>
    </p:extLst>
  </p:cSld>
  <p:clrMapOvr>
    <a:masterClrMapping/>
  </p:clrMapOvr>
  <p:transition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1857892"/>
            <a:ext cx="5466824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44156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2"/>
            <a:ext cx="11188700" cy="698499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63917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24617" y="1857893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82740197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1857892"/>
            <a:ext cx="5468941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54668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6978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24617" y="1857893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504000" y="4249682"/>
            <a:ext cx="5466824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246194" y="4249682"/>
            <a:ext cx="5452959" cy="1695450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4001" y="4103518"/>
            <a:ext cx="546894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6194" y="4103518"/>
            <a:ext cx="5444716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54494" y="4255707"/>
            <a:ext cx="123938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24617" y="4249683"/>
            <a:ext cx="124416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975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63917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5237162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4320000" y="1705968"/>
            <a:ext cx="355611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000" y="1700214"/>
            <a:ext cx="356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15300" y="1705968"/>
            <a:ext cx="358385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325712" y="1851441"/>
            <a:ext cx="3540577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4000" y="1851441"/>
            <a:ext cx="3560000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128000" y="1851441"/>
            <a:ext cx="3571153" cy="3845754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7765944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705184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400" indent="-176400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400" indent="-176400">
              <a:spcAft>
                <a:spcPts val="1000"/>
              </a:spcAft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1021157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27725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03162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95277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/>
            </a:lvl1pPr>
          </a:lstStyle>
          <a:p>
            <a:r>
              <a:rPr lang="en-GB" sz="900" dirty="0"/>
              <a:t>Insert sponsorship mark here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/>
          <a:lstStyle>
            <a:lvl1pPr>
              <a:lnSpc>
                <a:spcPct val="100000"/>
              </a:lnSpc>
              <a:defRPr sz="95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03988" y="378000"/>
            <a:ext cx="216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354494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600" b="0" i="0" baseline="0" err="1">
              <a:latin typeface="Chronicle Display Black" pitchFamily="50" charset="0"/>
              <a:sym typeface="Chronicle Display Black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145B99-FA34-F6BE-D71E-5DBF8FEC52D7}"/>
              </a:ext>
            </a:extLst>
          </p:cNvPr>
          <p:cNvSpPr/>
          <p:nvPr userDrawn="1"/>
        </p:nvSpPr>
        <p:spPr>
          <a:xfrm>
            <a:off x="11572819" y="6527117"/>
            <a:ext cx="12182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586198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30491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9500616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9500616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C64DB2-3F91-371C-105B-B808EC853199}"/>
              </a:ext>
            </a:extLst>
          </p:cNvPr>
          <p:cNvCxnSpPr>
            <a:cxnSpLocks/>
          </p:cNvCxnSpPr>
          <p:nvPr userDrawn="1"/>
        </p:nvCxnSpPr>
        <p:spPr>
          <a:xfrm>
            <a:off x="0" y="1499591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DB2B6D-0829-1CF4-9EE2-3558C61DB57B}"/>
              </a:ext>
            </a:extLst>
          </p:cNvPr>
          <p:cNvCxnSpPr>
            <a:cxnSpLocks/>
          </p:cNvCxnSpPr>
          <p:nvPr userDrawn="1"/>
        </p:nvCxnSpPr>
        <p:spPr>
          <a:xfrm>
            <a:off x="0" y="900579"/>
            <a:ext cx="12192000" cy="0"/>
          </a:xfrm>
          <a:prstGeom prst="line">
            <a:avLst/>
          </a:prstGeom>
          <a:ln w="12700">
            <a:solidFill>
              <a:srgbClr val="48B7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998267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47" y="317500"/>
            <a:ext cx="9495792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66FDEE-0831-D9E8-2A13-9041D3EC53E0}"/>
              </a:ext>
            </a:extLst>
          </p:cNvPr>
          <p:cNvCxnSpPr>
            <a:cxnSpLocks/>
          </p:cNvCxnSpPr>
          <p:nvPr userDrawn="1"/>
        </p:nvCxnSpPr>
        <p:spPr>
          <a:xfrm>
            <a:off x="0" y="900579"/>
            <a:ext cx="12192000" cy="0"/>
          </a:xfrm>
          <a:prstGeom prst="line">
            <a:avLst/>
          </a:prstGeom>
          <a:ln w="12700">
            <a:solidFill>
              <a:srgbClr val="48B7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20883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C3D760-B2B5-4196-AF50-151DD18CC2E1}"/>
              </a:ext>
            </a:extLst>
          </p:cNvPr>
          <p:cNvSpPr/>
          <p:nvPr userDrawn="1"/>
        </p:nvSpPr>
        <p:spPr bwMode="gray">
          <a:xfrm>
            <a:off x="0" y="2853369"/>
            <a:ext cx="12192000" cy="4004631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36909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62329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C3D760-B2B5-4196-AF50-151DD18CC2E1}"/>
              </a:ext>
            </a:extLst>
          </p:cNvPr>
          <p:cNvSpPr/>
          <p:nvPr userDrawn="1"/>
        </p:nvSpPr>
        <p:spPr bwMode="gray">
          <a:xfrm>
            <a:off x="0" y="2853369"/>
            <a:ext cx="12192000" cy="4004631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332198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4388297"/>
      </p:ext>
    </p:extLst>
  </p:cSld>
  <p:clrMapOvr>
    <a:masterClrMapping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hite Renewable Energy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55569" y="1289448"/>
            <a:ext cx="4276294" cy="427629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CD49502-F49A-48BB-97F4-E6037BADEE3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95300" y="4983726"/>
            <a:ext cx="3172968" cy="826508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702AFA4-87B2-4E0D-9DC5-2DAB5ED3D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6435989"/>
            <a:ext cx="6327775" cy="215444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16EB38B-A5B1-4E5E-BDDB-5712AFFE5C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6191497"/>
            <a:ext cx="5594350" cy="215444"/>
          </a:xfrm>
        </p:spPr>
        <p:txBody>
          <a:bodyPr>
            <a:spAutoFit/>
          </a:bodyPr>
          <a:lstStyle>
            <a:lvl1pPr>
              <a:defRPr sz="1400" b="1">
                <a:solidFill>
                  <a:schemeClr val="bg1"/>
                </a:solidFill>
                <a:latin typeface="+mj-lt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 sz="1400">
                <a:solidFill>
                  <a:schemeClr val="bg1"/>
                </a:solidFill>
                <a:latin typeface="+mj-lt"/>
              </a:defRPr>
            </a:lvl4pPr>
            <a:lvl5pPr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D3DC4AF-01B1-437A-B01B-42287D42BF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5300" y="5839283"/>
            <a:ext cx="5120640" cy="323165"/>
          </a:xfrm>
        </p:spPr>
        <p:txBody>
          <a:bodyPr>
            <a:spAutoFit/>
          </a:bodyPr>
          <a:lstStyle>
            <a:lvl1pPr>
              <a:defRPr sz="21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100">
                <a:solidFill>
                  <a:schemeClr val="bg1"/>
                </a:solidFill>
                <a:latin typeface="+mj-lt"/>
              </a:defRPr>
            </a:lvl2pPr>
            <a:lvl3pPr>
              <a:defRPr sz="2100">
                <a:solidFill>
                  <a:schemeClr val="bg1"/>
                </a:solidFill>
                <a:latin typeface="+mj-lt"/>
              </a:defRPr>
            </a:lvl3pPr>
            <a:lvl4pPr>
              <a:defRPr sz="2100">
                <a:solidFill>
                  <a:schemeClr val="bg1"/>
                </a:solidFill>
                <a:latin typeface="+mj-lt"/>
              </a:defRPr>
            </a:lvl4pPr>
            <a:lvl5pPr>
              <a:defRPr sz="21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02205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white Renewable Energy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CD49502-F49A-48BB-97F4-E6037BADEE30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gray">
          <a:xfrm>
            <a:off x="495299" y="4110069"/>
            <a:ext cx="3600839" cy="826508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algn="l">
              <a:lnSpc>
                <a:spcPts val="3200"/>
              </a:lnSpc>
              <a:defRPr sz="3000" b="0">
                <a:solidFill>
                  <a:schemeClr val="accen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702AFA4-87B2-4E0D-9DC5-2DAB5ED3D3A3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495300" y="6435989"/>
            <a:ext cx="6327775" cy="215444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16EB38B-A5B1-4E5E-BDDB-5712AFFE5C4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95300" y="6191497"/>
            <a:ext cx="5594350" cy="215444"/>
          </a:xfrm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 sz="1400">
                <a:solidFill>
                  <a:schemeClr val="bg1"/>
                </a:solidFill>
                <a:latin typeface="+mj-lt"/>
              </a:defRPr>
            </a:lvl4pPr>
            <a:lvl5pPr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D3DC4AF-01B1-437A-B01B-42287D42BFFD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95300" y="4965626"/>
            <a:ext cx="4846320" cy="292388"/>
          </a:xfrm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100">
                <a:solidFill>
                  <a:schemeClr val="bg1"/>
                </a:solidFill>
                <a:latin typeface="+mj-lt"/>
              </a:defRPr>
            </a:lvl2pPr>
            <a:lvl3pPr>
              <a:defRPr sz="2100">
                <a:solidFill>
                  <a:schemeClr val="bg1"/>
                </a:solidFill>
                <a:latin typeface="+mj-lt"/>
              </a:defRPr>
            </a:lvl3pPr>
            <a:lvl4pPr>
              <a:defRPr sz="2100">
                <a:solidFill>
                  <a:schemeClr val="bg1"/>
                </a:solidFill>
                <a:latin typeface="+mj-lt"/>
              </a:defRPr>
            </a:lvl4pPr>
            <a:lvl5pPr>
              <a:defRPr sz="21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53213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9177809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Open Sans"/>
                <a:cs typeface="Open Sans"/>
              </a:defRPr>
            </a:lvl1pPr>
          </a:lstStyle>
          <a:p>
            <a:endParaRPr lang="en-GB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604" y="6419779"/>
            <a:ext cx="3365500" cy="123111"/>
          </a:xfrm>
        </p:spPr>
        <p:txBody>
          <a:bodyPr lIns="0" tIns="0" rIns="0" bIns="0"/>
          <a:lstStyle>
            <a:lvl1pPr>
              <a:defRPr sz="800" b="0" i="0">
                <a:solidFill>
                  <a:srgbClr val="ADADAD"/>
                </a:solidFill>
                <a:latin typeface="Open Sans"/>
                <a:cs typeface="Open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7314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600" b="0" i="0" baseline="0" err="1">
              <a:latin typeface="Chronicle Display Black" pitchFamily="50" charset="0"/>
              <a:sym typeface="Chronicle Display Black" pitchFamily="5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145B99-FA34-F6BE-D71E-5DBF8FEC52D7}"/>
              </a:ext>
            </a:extLst>
          </p:cNvPr>
          <p:cNvSpPr/>
          <p:nvPr userDrawn="1"/>
        </p:nvSpPr>
        <p:spPr>
          <a:xfrm>
            <a:off x="11572819" y="6527117"/>
            <a:ext cx="12182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2685761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4B04C0E-4976-4784-A48D-3E129B60BB5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138FAAF-994E-4146-9855-BE71C4EB70D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b="6278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C159B18-D617-40B9-BD05-6B19D6A035D4}"/>
                </a:ext>
              </a:extLst>
            </p:cNvPr>
            <p:cNvSpPr/>
            <p:nvPr userDrawn="1"/>
          </p:nvSpPr>
          <p:spPr bwMode="gray"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24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GB" sz="1600" b="1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843742C-26CB-411F-8564-503092419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2217870"/>
            <a:ext cx="4446269" cy="2730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ADDA35-0590-4771-9879-88CE0238551F}"/>
              </a:ext>
            </a:extLst>
          </p:cNvPr>
          <p:cNvGrpSpPr/>
          <p:nvPr userDrawn="1"/>
        </p:nvGrpSpPr>
        <p:grpSpPr>
          <a:xfrm>
            <a:off x="463296" y="352221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3FD17B1A-A918-439D-AFAD-ECE9421735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79359716-9ACF-4041-A7F0-2E04E36D86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EE3C6AB2-FF26-4D74-983F-E8C9540B703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B600C838-AB18-404F-AF64-5BE6309AC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37EF79B8-3321-4A68-A438-F7CA9AB20D0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9EB266B0-2723-40E9-BD24-9B88F113710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90C5C28F-BB95-44AD-9700-55D9AE2BE2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42500885-66FF-4752-A3E1-7C0FA9778A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165DB8AE-A24F-4086-963B-1C7F379D21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282083A4-2C11-43E4-9516-9622E1E74D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A7C729B7-24CD-4887-BCB2-9B9E69736A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63296" y="1039855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bg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AI for </a:t>
            </a:r>
            <a:r>
              <a:rPr lang="en-US" noProof="0" dirty="0" err="1"/>
              <a:t>Pradhanmantri</a:t>
            </a:r>
            <a:r>
              <a:rPr lang="en-US" noProof="0" dirty="0"/>
              <a:t> Sangrahalaya</a:t>
            </a:r>
          </a:p>
        </p:txBody>
      </p:sp>
    </p:spTree>
    <p:extLst>
      <p:ext uri="{BB962C8B-B14F-4D97-AF65-F5344CB8AC3E}">
        <p14:creationId xmlns:p14="http://schemas.microsoft.com/office/powerpoint/2010/main" val="273161141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3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493277736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270" imgH="270" progId="TCLayout.ActiveDocument.1">
                  <p:embed/>
                </p:oleObj>
              </mc:Choice>
              <mc:Fallback>
                <p:oleObj name="think-cell Slide" r:id="rId3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692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F332B-DC7A-40D4-BB74-586ABDDDD4D9}"/>
              </a:ext>
            </a:extLst>
          </p:cNvPr>
          <p:cNvSpPr txBox="1"/>
          <p:nvPr userDrawn="1"/>
        </p:nvSpPr>
        <p:spPr>
          <a:xfrm>
            <a:off x="11785597" y="6567499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37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740" r:id="rId3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10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56400" indent="-1764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1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32800" indent="-1764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1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4">
          <p15:clr>
            <a:srgbClr val="F26B43"/>
          </p15:clr>
        </p15:guide>
        <p15:guide id="4" pos="237">
          <p15:clr>
            <a:srgbClr val="F26B43"/>
          </p15:clr>
        </p15:guide>
        <p15:guide id="5" pos="5523">
          <p15:clr>
            <a:srgbClr val="F26B43"/>
          </p15:clr>
        </p15:guide>
        <p15:guide id="10" pos="3721">
          <p15:clr>
            <a:srgbClr val="F26B43"/>
          </p15:clr>
        </p15:guide>
        <p15:guide id="12" pos="1022">
          <p15:clr>
            <a:srgbClr val="F26B43"/>
          </p15:clr>
        </p15:guide>
        <p15:guide id="13" pos="1137">
          <p15:clr>
            <a:srgbClr val="F26B43"/>
          </p15:clr>
        </p15:guide>
        <p15:guide id="14" pos="1920">
          <p15:clr>
            <a:srgbClr val="F26B43"/>
          </p15:clr>
        </p15:guide>
        <p15:guide id="15" pos="2033">
          <p15:clr>
            <a:srgbClr val="F26B43"/>
          </p15:clr>
        </p15:guide>
        <p15:guide id="16" pos="4620">
          <p15:clr>
            <a:srgbClr val="F26B43"/>
          </p15:clr>
        </p15:guide>
        <p15:guide id="17" pos="2823">
          <p15:clr>
            <a:srgbClr val="F26B43"/>
          </p15:clr>
        </p15:guide>
        <p15:guide id="18" pos="2937">
          <p15:clr>
            <a:srgbClr val="F26B43"/>
          </p15:clr>
        </p15:guide>
        <p15:guide id="19" pos="2880">
          <p15:clr>
            <a:srgbClr val="F26B43"/>
          </p15:clr>
        </p15:guide>
        <p15:guide id="20" pos="4734">
          <p15:clr>
            <a:srgbClr val="F26B43"/>
          </p15:clr>
        </p15:guide>
        <p15:guide id="23" pos="5112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orient="horz" pos="4020">
          <p15:clr>
            <a:srgbClr val="F26B43"/>
          </p15:clr>
        </p15:guide>
        <p15:guide id="26" pos="316">
          <p15:clr>
            <a:srgbClr val="F26B43"/>
          </p15:clr>
        </p15:guide>
        <p15:guide id="27" pos="7364">
          <p15:clr>
            <a:srgbClr val="F26B43"/>
          </p15:clr>
        </p15:guide>
        <p15:guide id="28" orient="horz" pos="1071">
          <p15:clr>
            <a:srgbClr val="F26B43"/>
          </p15:clr>
        </p15:guide>
        <p15:guide id="29" orient="horz" pos="200">
          <p15:clr>
            <a:srgbClr val="F26B43"/>
          </p15:clr>
        </p15:guide>
        <p15:guide id="30" orient="horz" pos="4080">
          <p15:clr>
            <a:srgbClr val="F26B43"/>
          </p15:clr>
        </p15:guide>
        <p15:guide id="31" pos="4961">
          <p15:clr>
            <a:srgbClr val="F26B43"/>
          </p15:clr>
        </p15:guide>
        <p15:guide id="32" orient="horz" pos="236">
          <p15:clr>
            <a:srgbClr val="F26B43"/>
          </p15:clr>
        </p15:guide>
        <p15:guide id="33" pos="1363">
          <p15:clr>
            <a:srgbClr val="F26B43"/>
          </p15:clr>
        </p15:guide>
        <p15:guide id="34" pos="1516">
          <p15:clr>
            <a:srgbClr val="F26B43"/>
          </p15:clr>
        </p15:guide>
        <p15:guide id="35" pos="2560">
          <p15:clr>
            <a:srgbClr val="F26B43"/>
          </p15:clr>
        </p15:guide>
        <p15:guide id="36" pos="2711">
          <p15:clr>
            <a:srgbClr val="F26B43"/>
          </p15:clr>
        </p15:guide>
        <p15:guide id="37" pos="6160">
          <p15:clr>
            <a:srgbClr val="F26B43"/>
          </p15:clr>
        </p15:guide>
        <p15:guide id="38" pos="3764">
          <p15:clr>
            <a:srgbClr val="F26B43"/>
          </p15:clr>
        </p15:guide>
        <p15:guide id="39" pos="3916">
          <p15:clr>
            <a:srgbClr val="F26B43"/>
          </p15:clr>
        </p15:guide>
        <p15:guide id="40" pos="3840">
          <p15:clr>
            <a:srgbClr val="F26B43"/>
          </p15:clr>
        </p15:guide>
        <p15:guide id="41" pos="6312">
          <p15:clr>
            <a:srgbClr val="F26B43"/>
          </p15:clr>
        </p15:guide>
        <p15:guide id="42" orient="horz" pos="1049">
          <p15:clr>
            <a:srgbClr val="F26B43"/>
          </p15:clr>
        </p15:guide>
        <p15:guide id="43" orient="horz" pos="6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08715144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969264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5" name="CaseCode"/>
          <p:cNvSpPr txBox="1"/>
          <p:nvPr/>
        </p:nvSpPr>
        <p:spPr>
          <a:xfrm>
            <a:off x="6512952" y="6477000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Pradhanmantri</a:t>
            </a:r>
            <a:r>
              <a:rPr lang="en-US" sz="9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Sangrahalaya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76400"/>
            <a:ext cx="11188700" cy="47053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DBDC7-DF0D-40FE-8DE0-1C33F8DF42EC}"/>
              </a:ext>
            </a:extLst>
          </p:cNvPr>
          <p:cNvSpPr/>
          <p:nvPr userDrawn="1"/>
        </p:nvSpPr>
        <p:spPr>
          <a:xfrm>
            <a:off x="11562048" y="6473952"/>
            <a:ext cx="134652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fld id="{C58DF478-B544-4ED8-9ED4-6A2648E2D233}" type="slidenum">
              <a:rPr lang="en-US" sz="900" noProof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68322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2" r:id="rId10"/>
    <p:sldLayoutId id="2147483753" r:id="rId11"/>
    <p:sldLayoutId id="2147483754" r:id="rId12"/>
    <p:sldLayoutId id="2147483755" r:id="rId13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82880" indent="-18288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1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365760" indent="-18288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12">
          <p15:clr>
            <a:srgbClr val="F26B43"/>
          </p15:clr>
        </p15:guide>
        <p15:guide id="5">
          <p15:clr>
            <a:srgbClr val="F26B43"/>
          </p15:clr>
        </p15:guide>
        <p15:guide id="7" pos="3768">
          <p15:clr>
            <a:srgbClr val="F26B43"/>
          </p15:clr>
        </p15:guide>
        <p15:guide id="8" pos="7368">
          <p15:clr>
            <a:srgbClr val="F26B43"/>
          </p15:clr>
        </p15:guide>
        <p15:guide id="13" pos="3912">
          <p15:clr>
            <a:srgbClr val="F26B43"/>
          </p15:clr>
        </p15:guide>
        <p15:guide id="14" orient="horz" pos="4104">
          <p15:clr>
            <a:srgbClr val="F26B43"/>
          </p15:clr>
        </p15:guide>
        <p15:guide id="15" orient="horz" pos="4032">
          <p15:clr>
            <a:srgbClr val="F26B43"/>
          </p15:clr>
        </p15:guide>
        <p15:guide id="17" orient="horz" pos="1056">
          <p15:clr>
            <a:srgbClr val="F26B43"/>
          </p15:clr>
        </p15:guide>
        <p15:guide id="18" orient="horz" pos="1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7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6.png"/><Relationship Id="rId21" Type="http://schemas.openxmlformats.org/officeDocument/2006/relationships/image" Target="../media/image19.sv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diagramData" Target="../diagrams/data1.xml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7.svg"/><Relationship Id="rId9" Type="http://schemas.microsoft.com/office/2007/relationships/diagramDrawing" Target="../diagrams/drawing1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svg"/><Relationship Id="rId20" Type="http://schemas.openxmlformats.org/officeDocument/2006/relationships/image" Target="../media/image49.sv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19" Type="http://schemas.openxmlformats.org/officeDocument/2006/relationships/image" Target="../media/image48.pn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43.svg"/><Relationship Id="rId22" Type="http://schemas.openxmlformats.org/officeDocument/2006/relationships/image" Target="../media/image5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5E1960-841C-4865-9CE2-7BFE165A7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008" y="2358883"/>
            <a:ext cx="5003853" cy="92444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Emerging Technology </a:t>
            </a:r>
            <a:r>
              <a:rPr lang="en-US" sz="3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CoE</a:t>
            </a: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for </a:t>
            </a:r>
            <a:r>
              <a:rPr lang="en-US" sz="32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Pradhanmantri</a:t>
            </a: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Sangrahalaya – Enhanced Visitor Experience</a:t>
            </a:r>
            <a:endParaRPr lang="de-CH" sz="32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6DE2262-349B-4408-932F-838369AA4ED9}"/>
              </a:ext>
            </a:extLst>
          </p:cNvPr>
          <p:cNvSpPr txBox="1">
            <a:spLocks/>
          </p:cNvSpPr>
          <p:nvPr/>
        </p:nvSpPr>
        <p:spPr>
          <a:xfrm>
            <a:off x="445008" y="5797931"/>
            <a:ext cx="4446269" cy="2730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spcBef>
                <a:spcPts val="200"/>
              </a:spcBef>
              <a:spcAft>
                <a:spcPts val="0"/>
              </a:spcAft>
              <a:buSzPct val="100000"/>
              <a:buFontTx/>
              <a:buNone/>
              <a:defRPr sz="1400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85800" rtl="0" eaLnBrk="1" latinLnBrk="0" hangingPunct="1">
              <a:spcBef>
                <a:spcPts val="2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None/>
              <a:defRPr lang="en-US" sz="1300" b="1" kern="1200">
                <a:solidFill>
                  <a:schemeClr val="bg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180975" indent="-180975" algn="l" defTabSz="685800" rtl="0" eaLnBrk="1" latinLnBrk="0" hangingPunct="1">
              <a:spcBef>
                <a:spcPts val="2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352425" indent="-171450" algn="l" defTabSz="685800" rtl="0" eaLnBrk="1" latinLnBrk="0" hangingPunct="1">
              <a:spcBef>
                <a:spcPts val="200"/>
              </a:spcBef>
              <a:spcAft>
                <a:spcPts val="400"/>
              </a:spcAft>
              <a:buClrTx/>
              <a:buSzPct val="80000"/>
              <a:buFont typeface="Arial" panose="020B0604020202020204" pitchFamily="34" charset="0"/>
              <a:buChar char="─"/>
              <a:defRPr lang="en-US" sz="1200" kern="1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0" indent="0" algn="l" defTabSz="598885" rtl="0" eaLnBrk="1" latinLnBrk="0" hangingPunct="1">
              <a:spcBef>
                <a:spcPts val="2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en-US" sz="1200" kern="1200" baseline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GB" sz="1600" b="0" dirty="0">
                <a:solidFill>
                  <a:prstClr val="white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April 2026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7652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radhanmantri Sangrahalaya by Sikka Associates Architects | Institutional  Architecture">
            <a:extLst>
              <a:ext uri="{FF2B5EF4-FFF2-40B4-BE49-F238E27FC236}">
                <a16:creationId xmlns:a16="http://schemas.microsoft.com/office/drawing/2014/main" id="{BC5FE113-10A3-40DD-1D45-261BEBD51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850" y="0"/>
            <a:ext cx="72841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151243BC-9780-0D78-863A-42C6ECE659E7}"/>
              </a:ext>
            </a:extLst>
          </p:cNvPr>
          <p:cNvSpPr/>
          <p:nvPr/>
        </p:nvSpPr>
        <p:spPr>
          <a:xfrm>
            <a:off x="-9903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06277E-D37A-DD62-13BB-1031D720B0E0}"/>
              </a:ext>
            </a:extLst>
          </p:cNvPr>
          <p:cNvSpPr/>
          <p:nvPr/>
        </p:nvSpPr>
        <p:spPr bwMode="gray">
          <a:xfrm>
            <a:off x="-9903" y="0"/>
            <a:ext cx="5250729" cy="6858438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C23F8459-939F-48EE-A33C-EBEC9F3119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C23F8459-939F-48EE-A33C-EBEC9F3119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ED81189-41D1-4478-03E3-DB24349F25CB}"/>
              </a:ext>
            </a:extLst>
          </p:cNvPr>
          <p:cNvSpPr/>
          <p:nvPr/>
        </p:nvSpPr>
        <p:spPr>
          <a:xfrm>
            <a:off x="1" y="487740"/>
            <a:ext cx="6549656" cy="56304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DBC9409-7DDA-07A7-5DCA-C20CC0FF82F9}"/>
              </a:ext>
            </a:extLst>
          </p:cNvPr>
          <p:cNvCxnSpPr>
            <a:cxnSpLocks/>
          </p:cNvCxnSpPr>
          <p:nvPr/>
        </p:nvCxnSpPr>
        <p:spPr>
          <a:xfrm>
            <a:off x="6485859" y="487740"/>
            <a:ext cx="0" cy="5630475"/>
          </a:xfrm>
          <a:prstGeom prst="line">
            <a:avLst/>
          </a:prstGeom>
          <a:noFill/>
          <a:ln w="127000" cap="flat" cmpd="sng" algn="ctr">
            <a:solidFill>
              <a:schemeClr val="accent4"/>
            </a:solidFill>
            <a:prstDash val="solid"/>
            <a:miter lim="800000"/>
          </a:ln>
          <a:effectLst/>
        </p:spPr>
      </p:cxnSp>
      <p:sp>
        <p:nvSpPr>
          <p:cNvPr id="25" name="Title 9">
            <a:extLst>
              <a:ext uri="{FF2B5EF4-FFF2-40B4-BE49-F238E27FC236}">
                <a16:creationId xmlns:a16="http://schemas.microsoft.com/office/drawing/2014/main" id="{CA338523-5AF1-D390-530C-DCD38CEC5A55}"/>
              </a:ext>
            </a:extLst>
          </p:cNvPr>
          <p:cNvSpPr txBox="1">
            <a:spLocks/>
          </p:cNvSpPr>
          <p:nvPr/>
        </p:nvSpPr>
        <p:spPr>
          <a:xfrm>
            <a:off x="914400" y="694944"/>
            <a:ext cx="10363200" cy="594360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cap="none" spc="-75" baseline="0" dirty="0">
                <a:solidFill>
                  <a:schemeClr val="tx1"/>
                </a:solidFill>
                <a:latin typeface="+mj-lt"/>
                <a:ea typeface="Bebas Neue" charset="0"/>
                <a:cs typeface="Chronicle Display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kumimoji="0" lang="en-US" sz="3600" b="0" i="0" u="none" strike="noStrike" kern="1200" cap="none" spc="-7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A00358B-11D5-C535-9A9D-A45827D01FF1}"/>
              </a:ext>
            </a:extLst>
          </p:cNvPr>
          <p:cNvGrpSpPr/>
          <p:nvPr/>
        </p:nvGrpSpPr>
        <p:grpSpPr>
          <a:xfrm>
            <a:off x="929800" y="2984522"/>
            <a:ext cx="2824644" cy="646750"/>
            <a:chOff x="929800" y="2239804"/>
            <a:chExt cx="2824644" cy="6467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DF3653-71F4-F6B9-B680-D70DD4788FBD}"/>
                </a:ext>
              </a:extLst>
            </p:cNvPr>
            <p:cNvSpPr txBox="1"/>
            <p:nvPr/>
          </p:nvSpPr>
          <p:spPr>
            <a:xfrm>
              <a:off x="929800" y="2367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AA799F8-FD51-FCDC-3D6C-0AFEC98C9AFA}"/>
                </a:ext>
              </a:extLst>
            </p:cNvPr>
            <p:cNvCxnSpPr/>
            <p:nvPr/>
          </p:nvCxnSpPr>
          <p:spPr>
            <a:xfrm>
              <a:off x="1580796" y="2239804"/>
              <a:ext cx="0" cy="646750"/>
            </a:xfrm>
            <a:prstGeom prst="line">
              <a:avLst/>
            </a:prstGeom>
            <a:ln w="635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8F5D27B-02B8-70F1-3BCF-E106864095DD}"/>
                </a:ext>
              </a:extLst>
            </p:cNvPr>
            <p:cNvSpPr txBox="1"/>
            <p:nvPr/>
          </p:nvSpPr>
          <p:spPr>
            <a:xfrm>
              <a:off x="1777493" y="2378513"/>
              <a:ext cx="19769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b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Potential Offerings</a:t>
              </a:r>
              <a:endPara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077501-8F52-84CF-20D0-90374484FF46}"/>
              </a:ext>
            </a:extLst>
          </p:cNvPr>
          <p:cNvGrpSpPr/>
          <p:nvPr/>
        </p:nvGrpSpPr>
        <p:grpSpPr>
          <a:xfrm>
            <a:off x="964763" y="4312409"/>
            <a:ext cx="5352818" cy="646750"/>
            <a:chOff x="964763" y="4868593"/>
            <a:chExt cx="5352818" cy="64675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0B8918-A39F-B9BC-75A9-61EDE5BFBEEA}"/>
                </a:ext>
              </a:extLst>
            </p:cNvPr>
            <p:cNvSpPr txBox="1"/>
            <p:nvPr/>
          </p:nvSpPr>
          <p:spPr>
            <a:xfrm>
              <a:off x="1780954" y="4998106"/>
              <a:ext cx="4536627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Approach - Establishment &amp; Implementation 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BE56174-78AD-0B4A-AA5C-B9E35A51C68D}"/>
                </a:ext>
              </a:extLst>
            </p:cNvPr>
            <p:cNvCxnSpPr/>
            <p:nvPr/>
          </p:nvCxnSpPr>
          <p:spPr>
            <a:xfrm>
              <a:off x="1584144" y="4868593"/>
              <a:ext cx="0" cy="646750"/>
            </a:xfrm>
            <a:prstGeom prst="line">
              <a:avLst/>
            </a:prstGeom>
            <a:ln w="63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F83D29-FF44-296B-B072-A1BBA63B7F5C}"/>
                </a:ext>
              </a:extLst>
            </p:cNvPr>
            <p:cNvSpPr txBox="1"/>
            <p:nvPr/>
          </p:nvSpPr>
          <p:spPr>
            <a:xfrm>
              <a:off x="964763" y="50056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6F96F54-16E8-E33A-4C68-CDF645C66530}"/>
              </a:ext>
            </a:extLst>
          </p:cNvPr>
          <p:cNvGrpSpPr/>
          <p:nvPr/>
        </p:nvGrpSpPr>
        <p:grpSpPr>
          <a:xfrm>
            <a:off x="965642" y="1779359"/>
            <a:ext cx="5025076" cy="646750"/>
            <a:chOff x="965642" y="1364579"/>
            <a:chExt cx="5025076" cy="6467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C2AE8D-985E-7CE7-0234-EDAE6E4261D5}"/>
                </a:ext>
              </a:extLst>
            </p:cNvPr>
            <p:cNvSpPr txBox="1"/>
            <p:nvPr/>
          </p:nvSpPr>
          <p:spPr>
            <a:xfrm>
              <a:off x="1799699" y="1522470"/>
              <a:ext cx="41910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Roadmap to setting up Emerging Tech </a:t>
              </a:r>
              <a:r>
                <a:rPr lang="en-US" b="1" dirty="0" err="1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CoE</a:t>
              </a:r>
              <a:endPara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DA53C8F-4858-E6AE-F858-5E32866024A1}"/>
                </a:ext>
              </a:extLst>
            </p:cNvPr>
            <p:cNvCxnSpPr/>
            <p:nvPr/>
          </p:nvCxnSpPr>
          <p:spPr>
            <a:xfrm>
              <a:off x="1569909" y="1364579"/>
              <a:ext cx="0" cy="646750"/>
            </a:xfrm>
            <a:prstGeom prst="line">
              <a:avLst/>
            </a:prstGeom>
            <a:ln w="635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064CE53-5342-C25F-A576-523D0E7DC586}"/>
                </a:ext>
              </a:extLst>
            </p:cNvPr>
            <p:cNvSpPr txBox="1"/>
            <p:nvPr/>
          </p:nvSpPr>
          <p:spPr>
            <a:xfrm>
              <a:off x="965642" y="153034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486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89A3D-53EB-7725-E791-16B6E08D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9A876D7-9A33-FBEB-DCFD-9B6A21DDE53F}"/>
              </a:ext>
            </a:extLst>
          </p:cNvPr>
          <p:cNvGrpSpPr/>
          <p:nvPr/>
        </p:nvGrpSpPr>
        <p:grpSpPr>
          <a:xfrm>
            <a:off x="0" y="118234"/>
            <a:ext cx="12192000" cy="378417"/>
            <a:chOff x="0" y="118234"/>
            <a:chExt cx="12192000" cy="3784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FEE65ED-8B7F-6017-5028-4C71E037231A}"/>
                </a:ext>
              </a:extLst>
            </p:cNvPr>
            <p:cNvSpPr txBox="1"/>
            <p:nvPr/>
          </p:nvSpPr>
          <p:spPr>
            <a:xfrm>
              <a:off x="308264" y="118234"/>
              <a:ext cx="11575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spcBef>
                  <a:spcPct val="0"/>
                </a:spcBef>
                <a:defRPr/>
              </a:pPr>
              <a:r>
                <a:rPr lang="en-US" b="1" dirty="0">
                  <a:solidFill>
                    <a:prstClr val="black"/>
                  </a:solidFill>
                  <a:latin typeface="Verdana"/>
                </a:rPr>
                <a:t>#1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. </a:t>
              </a:r>
              <a:r>
                <a:rPr lang="en-US" b="1" dirty="0">
                  <a:solidFill>
                    <a:prstClr val="black"/>
                  </a:solidFill>
                  <a:ea typeface="Verdana" panose="020B0604030504040204" pitchFamily="34" charset="0"/>
                  <a:cs typeface="Calibri" panose="020F0502020204030204" pitchFamily="34" charset="0"/>
                </a:rPr>
                <a:t>Roadmap to setting up the Emerging Tech Center of Excellence (</a:t>
              </a:r>
              <a:r>
                <a:rPr lang="en-US" b="1" dirty="0" err="1">
                  <a:solidFill>
                    <a:prstClr val="black"/>
                  </a:solidFill>
                  <a:ea typeface="Verdana" panose="020B0604030504040204" pitchFamily="34" charset="0"/>
                  <a:cs typeface="Calibri" panose="020F0502020204030204" pitchFamily="34" charset="0"/>
                </a:rPr>
                <a:t>CoE</a:t>
              </a:r>
              <a:r>
                <a:rPr lang="en-US" b="1" dirty="0">
                  <a:solidFill>
                    <a:prstClr val="black"/>
                  </a:solidFill>
                  <a:ea typeface="Verdana" panose="020B0604030504040204" pitchFamily="34" charset="0"/>
                  <a:cs typeface="Calibri" panose="020F0502020204030204" pitchFamily="34" charset="0"/>
                </a:rPr>
                <a:t>)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0089E9-4101-029D-29D8-12A9C51CC976}"/>
                </a:ext>
              </a:extLst>
            </p:cNvPr>
            <p:cNvCxnSpPr/>
            <p:nvPr/>
          </p:nvCxnSpPr>
          <p:spPr>
            <a:xfrm>
              <a:off x="0" y="496651"/>
              <a:ext cx="12192000" cy="0"/>
            </a:xfrm>
            <a:prstGeom prst="line">
              <a:avLst/>
            </a:prstGeom>
            <a:ln w="6350" cmpd="dbl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BF4837-E57F-34F1-0203-6D1DAB6A848C}"/>
              </a:ext>
            </a:extLst>
          </p:cNvPr>
          <p:cNvSpPr txBox="1"/>
          <p:nvPr/>
        </p:nvSpPr>
        <p:spPr>
          <a:xfrm>
            <a:off x="250433" y="1010552"/>
            <a:ext cx="12030171" cy="669959"/>
          </a:xfrm>
          <a:prstGeom prst="rect">
            <a:avLst/>
          </a:prstGeom>
          <a:solidFill>
            <a:schemeClr val="tx2">
              <a:lumMod val="20000"/>
              <a:lumOff val="80000"/>
              <a:alpha val="39000"/>
            </a:schemeClr>
          </a:solidFill>
          <a:ln>
            <a:noFill/>
          </a:ln>
        </p:spPr>
        <p:txBody>
          <a:bodyPr wrap="square" tIns="25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Establish a future-ready </a:t>
            </a:r>
            <a:r>
              <a:rPr lang="en-US" sz="1200" dirty="0"/>
              <a:t>Emerging Tech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Centre of Excellence to transform Pradhan Mantri Sangrahalaya into a global benchmark for AI and AR-enabled cultural preservation, immersive storytelling, and inclusive citizen engagement.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EFF44EBC-7588-DDBF-CD61-3F594771EBED}"/>
              </a:ext>
            </a:extLst>
          </p:cNvPr>
          <p:cNvSpPr/>
          <p:nvPr/>
        </p:nvSpPr>
        <p:spPr bwMode="gray">
          <a:xfrm>
            <a:off x="112391" y="695679"/>
            <a:ext cx="2043225" cy="503815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vert="horz" wrap="none" lIns="576000" tIns="36000" rIns="0" bIns="36000"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Calibri Light" panose="020F0302020204030204" pitchFamily="34" charset="0"/>
              </a:rPr>
              <a:t>Vision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0" name="Freeform 603">
            <a:extLst>
              <a:ext uri="{FF2B5EF4-FFF2-40B4-BE49-F238E27FC236}">
                <a16:creationId xmlns:a16="http://schemas.microsoft.com/office/drawing/2014/main" id="{9D95B206-C046-45FF-17AF-5CB392418E80}"/>
              </a:ext>
            </a:extLst>
          </p:cNvPr>
          <p:cNvSpPr>
            <a:spLocks noEditPoints="1"/>
          </p:cNvSpPr>
          <p:nvPr/>
        </p:nvSpPr>
        <p:spPr bwMode="auto">
          <a:xfrm>
            <a:off x="167025" y="773496"/>
            <a:ext cx="404174" cy="369676"/>
          </a:xfrm>
          <a:custGeom>
            <a:avLst/>
            <a:gdLst>
              <a:gd name="T0" fmla="*/ 256 w 512"/>
              <a:gd name="T1" fmla="*/ 21 h 512"/>
              <a:gd name="T2" fmla="*/ 490 w 512"/>
              <a:gd name="T3" fmla="*/ 256 h 512"/>
              <a:gd name="T4" fmla="*/ 256 w 512"/>
              <a:gd name="T5" fmla="*/ 490 h 512"/>
              <a:gd name="T6" fmla="*/ 21 w 512"/>
              <a:gd name="T7" fmla="*/ 256 h 512"/>
              <a:gd name="T8" fmla="*/ 256 w 512"/>
              <a:gd name="T9" fmla="*/ 21 h 512"/>
              <a:gd name="T10" fmla="*/ 256 w 512"/>
              <a:gd name="T11" fmla="*/ 0 h 512"/>
              <a:gd name="T12" fmla="*/ 0 w 512"/>
              <a:gd name="T13" fmla="*/ 256 h 512"/>
              <a:gd name="T14" fmla="*/ 256 w 512"/>
              <a:gd name="T15" fmla="*/ 512 h 512"/>
              <a:gd name="T16" fmla="*/ 512 w 512"/>
              <a:gd name="T17" fmla="*/ 256 h 512"/>
              <a:gd name="T18" fmla="*/ 256 w 512"/>
              <a:gd name="T1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12" h="512">
                <a:moveTo>
                  <a:pt x="256" y="21"/>
                </a:moveTo>
                <a:cubicBezTo>
                  <a:pt x="385" y="21"/>
                  <a:pt x="490" y="126"/>
                  <a:pt x="490" y="256"/>
                </a:cubicBezTo>
                <a:cubicBezTo>
                  <a:pt x="490" y="385"/>
                  <a:pt x="385" y="490"/>
                  <a:pt x="256" y="490"/>
                </a:cubicBezTo>
                <a:cubicBezTo>
                  <a:pt x="126" y="490"/>
                  <a:pt x="21" y="385"/>
                  <a:pt x="21" y="256"/>
                </a:cubicBezTo>
                <a:cubicBezTo>
                  <a:pt x="21" y="126"/>
                  <a:pt x="126" y="21"/>
                  <a:pt x="256" y="21"/>
                </a:cubicBezTo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85" name="Graphic 84" descr="Lightbulb and pencil with solid fill">
            <a:extLst>
              <a:ext uri="{FF2B5EF4-FFF2-40B4-BE49-F238E27FC236}">
                <a16:creationId xmlns:a16="http://schemas.microsoft.com/office/drawing/2014/main" id="{950A485C-5482-B837-57C4-FFC54DE44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112" y="832334"/>
            <a:ext cx="252000" cy="252000"/>
          </a:xfrm>
          <a:prstGeom prst="rect">
            <a:avLst/>
          </a:prstGeom>
        </p:spPr>
      </p:pic>
      <p:sp>
        <p:nvSpPr>
          <p:cNvPr id="150" name="Rectangle 149">
            <a:extLst>
              <a:ext uri="{FF2B5EF4-FFF2-40B4-BE49-F238E27FC236}">
                <a16:creationId xmlns:a16="http://schemas.microsoft.com/office/drawing/2014/main" id="{0567C290-F117-4919-680B-4CBE7150A58A}"/>
              </a:ext>
            </a:extLst>
          </p:cNvPr>
          <p:cNvSpPr/>
          <p:nvPr/>
        </p:nvSpPr>
        <p:spPr bwMode="gray">
          <a:xfrm>
            <a:off x="0" y="5624613"/>
            <a:ext cx="12192000" cy="153864"/>
          </a:xfrm>
          <a:prstGeom prst="rect">
            <a:avLst/>
          </a:prstGeom>
          <a:solidFill>
            <a:srgbClr val="F2F2F2"/>
          </a:solidFill>
          <a:ln w="3175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endParaRPr lang="en-IN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5FEB319F-7861-3513-1A4B-C10EDB8DBC1E}"/>
              </a:ext>
            </a:extLst>
          </p:cNvPr>
          <p:cNvSpPr/>
          <p:nvPr/>
        </p:nvSpPr>
        <p:spPr bwMode="gray">
          <a:xfrm>
            <a:off x="372119" y="5723109"/>
            <a:ext cx="1737360" cy="548640"/>
          </a:xfrm>
          <a:prstGeom prst="roundRect">
            <a:avLst/>
          </a:prstGeom>
          <a:solidFill>
            <a:srgbClr val="F2F2F2"/>
          </a:solidFill>
          <a:ln w="317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Enhanced Revenue Streams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628F6E4-3FA0-D014-8E0C-8895D97D238B}"/>
              </a:ext>
            </a:extLst>
          </p:cNvPr>
          <p:cNvSpPr/>
          <p:nvPr/>
        </p:nvSpPr>
        <p:spPr bwMode="gray">
          <a:xfrm>
            <a:off x="2750187" y="5723109"/>
            <a:ext cx="1737360" cy="548640"/>
          </a:xfrm>
          <a:prstGeom prst="roundRect">
            <a:avLst/>
          </a:prstGeom>
          <a:solidFill>
            <a:srgbClr val="F2F2F2"/>
          </a:solidFill>
          <a:ln w="317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Responsible AI Governance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6C9976F-6BAC-2AFF-07DB-D1B9A24C9DAF}"/>
              </a:ext>
            </a:extLst>
          </p:cNvPr>
          <p:cNvSpPr/>
          <p:nvPr/>
        </p:nvSpPr>
        <p:spPr bwMode="gray">
          <a:xfrm>
            <a:off x="5128255" y="5723109"/>
            <a:ext cx="1737360" cy="548640"/>
          </a:xfrm>
          <a:prstGeom prst="roundRect">
            <a:avLst/>
          </a:prstGeom>
          <a:solidFill>
            <a:srgbClr val="F2F2F2"/>
          </a:solidFill>
          <a:ln w="317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IN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Immersive Visitor Experience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F352F893-A69F-0617-64D7-780C286DC7D1}"/>
              </a:ext>
            </a:extLst>
          </p:cNvPr>
          <p:cNvSpPr/>
          <p:nvPr/>
        </p:nvSpPr>
        <p:spPr bwMode="gray">
          <a:xfrm>
            <a:off x="7506323" y="5723109"/>
            <a:ext cx="1737360" cy="548640"/>
          </a:xfrm>
          <a:prstGeom prst="roundRect">
            <a:avLst/>
          </a:prstGeom>
          <a:solidFill>
            <a:srgbClr val="F2F2F2"/>
          </a:solidFill>
          <a:ln w="317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Multilingual Voice Interfaces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FD87100F-9958-9987-6150-6F8B66DC216A}"/>
              </a:ext>
            </a:extLst>
          </p:cNvPr>
          <p:cNvSpPr/>
          <p:nvPr/>
        </p:nvSpPr>
        <p:spPr bwMode="gray">
          <a:xfrm>
            <a:off x="9884392" y="5723109"/>
            <a:ext cx="1737360" cy="548640"/>
          </a:xfrm>
          <a:prstGeom prst="roundRect">
            <a:avLst/>
          </a:prstGeom>
          <a:solidFill>
            <a:srgbClr val="F2F2F2"/>
          </a:solidFill>
          <a:ln w="317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Inclusive Experience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0916E58-BDA2-EE6C-C2EF-D703EAF94D88}"/>
              </a:ext>
            </a:extLst>
          </p:cNvPr>
          <p:cNvGrpSpPr/>
          <p:nvPr/>
        </p:nvGrpSpPr>
        <p:grpSpPr>
          <a:xfrm>
            <a:off x="0" y="1823999"/>
            <a:ext cx="11669569" cy="2460061"/>
            <a:chOff x="0" y="1760201"/>
            <a:chExt cx="11669569" cy="2460061"/>
          </a:xfrm>
        </p:grpSpPr>
        <p:graphicFrame>
          <p:nvGraphicFramePr>
            <p:cNvPr id="110" name="Diagram 109">
              <a:extLst>
                <a:ext uri="{FF2B5EF4-FFF2-40B4-BE49-F238E27FC236}">
                  <a16:creationId xmlns:a16="http://schemas.microsoft.com/office/drawing/2014/main" id="{1FEFA952-4347-8984-6D63-D165A3932DB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48816520"/>
                </p:ext>
              </p:extLst>
            </p:nvPr>
          </p:nvGraphicFramePr>
          <p:xfrm>
            <a:off x="0" y="1920285"/>
            <a:ext cx="8208335" cy="180753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7E631B8-FA4C-7C74-F6A5-8ABE2C3F4C4E}"/>
                </a:ext>
              </a:extLst>
            </p:cNvPr>
            <p:cNvSpPr txBox="1"/>
            <p:nvPr/>
          </p:nvSpPr>
          <p:spPr>
            <a:xfrm>
              <a:off x="250433" y="3358488"/>
              <a:ext cx="243960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Stakeholder Workshops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Emerging Tech Use Cases Definition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000" dirty="0">
                  <a:solidFill>
                    <a:prstClr val="black"/>
                  </a:solidFill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Data and Systems readiness assessment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30A9AC8-B851-219B-B6D3-9C4F0C7FC98E}"/>
                </a:ext>
              </a:extLst>
            </p:cNvPr>
            <p:cNvSpPr txBox="1"/>
            <p:nvPr/>
          </p:nvSpPr>
          <p:spPr>
            <a:xfrm>
              <a:off x="2786228" y="3385394"/>
              <a:ext cx="243960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Innovation Sandbox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Proof of Concept Validation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Conduct Pilot Program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14D695C-55CC-9D0A-A46A-62E748C3BB8E}"/>
                </a:ext>
              </a:extLst>
            </p:cNvPr>
            <p:cNvSpPr txBox="1"/>
            <p:nvPr/>
          </p:nvSpPr>
          <p:spPr>
            <a:xfrm>
              <a:off x="5497281" y="3358488"/>
              <a:ext cx="243960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Value Realization Model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Deployment Strategy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Verdana" panose="020B0604030504040204" pitchFamily="34" charset="0"/>
                  <a:cs typeface="Verdana" panose="020B0604030504040204" pitchFamily="34" charset="0"/>
                </a:rPr>
                <a:t>Full-scale Implementation</a:t>
              </a:r>
            </a:p>
          </p:txBody>
        </p:sp>
        <p:pic>
          <p:nvPicPr>
            <p:cNvPr id="139" name="Graphic 138" descr="Lightbulb and gear with solid fill">
              <a:extLst>
                <a:ext uri="{FF2B5EF4-FFF2-40B4-BE49-F238E27FC236}">
                  <a16:creationId xmlns:a16="http://schemas.microsoft.com/office/drawing/2014/main" id="{14B69A53-6691-3493-3BDB-970D13CA2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9966" y="1911199"/>
              <a:ext cx="548640" cy="548640"/>
            </a:xfrm>
            <a:prstGeom prst="rect">
              <a:avLst/>
            </a:prstGeom>
          </p:spPr>
        </p:pic>
        <p:pic>
          <p:nvPicPr>
            <p:cNvPr id="140" name="Graphic 139" descr="Gears with solid fill">
              <a:extLst>
                <a:ext uri="{FF2B5EF4-FFF2-40B4-BE49-F238E27FC236}">
                  <a16:creationId xmlns:a16="http://schemas.microsoft.com/office/drawing/2014/main" id="{04390F01-503C-4E02-8D2A-6702DECCA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5427764" y="1911199"/>
              <a:ext cx="548640" cy="548640"/>
            </a:xfrm>
            <a:prstGeom prst="rect">
              <a:avLst/>
            </a:prstGeom>
          </p:spPr>
        </p:pic>
        <p:pic>
          <p:nvPicPr>
            <p:cNvPr id="141" name="Graphic 140" descr="Clipboard Mixed with solid fill">
              <a:extLst>
                <a:ext uri="{FF2B5EF4-FFF2-40B4-BE49-F238E27FC236}">
                  <a16:creationId xmlns:a16="http://schemas.microsoft.com/office/drawing/2014/main" id="{6757FE8E-8391-4DB4-34B8-4CAB0785C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2938628" y="1911199"/>
              <a:ext cx="548640" cy="548640"/>
            </a:xfrm>
            <a:prstGeom prst="rect">
              <a:avLst/>
            </a:prstGeom>
          </p:spPr>
        </p:pic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2F1C86DC-5FD9-3246-E3A0-A8B3EFF71FCC}"/>
                </a:ext>
              </a:extLst>
            </p:cNvPr>
            <p:cNvGrpSpPr/>
            <p:nvPr/>
          </p:nvGrpSpPr>
          <p:grpSpPr>
            <a:xfrm>
              <a:off x="9383569" y="1760201"/>
              <a:ext cx="2286000" cy="2194560"/>
              <a:chOff x="8479785" y="1760201"/>
              <a:chExt cx="2286000" cy="2194560"/>
            </a:xfrm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3B2FDC78-6EA1-348D-554C-11B2F2077354}"/>
                  </a:ext>
                </a:extLst>
              </p:cNvPr>
              <p:cNvGrpSpPr/>
              <p:nvPr/>
            </p:nvGrpSpPr>
            <p:grpSpPr>
              <a:xfrm>
                <a:off x="8479785" y="1760201"/>
                <a:ext cx="2286000" cy="2194560"/>
                <a:chOff x="8823889" y="1782061"/>
                <a:chExt cx="2095748" cy="2083981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29C97494-2C2D-F24E-FB43-788EBB4366CB}"/>
                    </a:ext>
                  </a:extLst>
                </p:cNvPr>
                <p:cNvSpPr/>
                <p:nvPr/>
              </p:nvSpPr>
              <p:spPr bwMode="gray">
                <a:xfrm>
                  <a:off x="8835656" y="1782061"/>
                  <a:ext cx="2083981" cy="2083981"/>
                </a:xfrm>
                <a:prstGeom prst="ellipse">
                  <a:avLst/>
                </a:prstGeom>
                <a:solidFill>
                  <a:schemeClr val="accent3"/>
                </a:solidFill>
                <a:ln w="19050" algn="ctr">
                  <a:noFill/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algn="ctr">
                    <a:lnSpc>
                      <a:spcPct val="106000"/>
                    </a:lnSpc>
                    <a:buFont typeface="Wingdings 2" pitchFamily="18" charset="2"/>
                    <a:buNone/>
                  </a:pPr>
                  <a:endParaRPr lang="en-IN" sz="16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ADB52504-21B0-B99E-E0F1-91FFCB6D447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8823889" y="1863931"/>
                  <a:ext cx="1920240" cy="1920240"/>
                </a:xfrm>
                <a:prstGeom prst="ellipse">
                  <a:avLst/>
                </a:prstGeom>
                <a:solidFill>
                  <a:schemeClr val="bg1"/>
                </a:solidFill>
                <a:ln w="19050" algn="ctr">
                  <a:noFill/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algn="ctr">
                    <a:lnSpc>
                      <a:spcPct val="106000"/>
                    </a:lnSpc>
                    <a:buFont typeface="Wingdings 2" pitchFamily="18" charset="2"/>
                    <a:buNone/>
                  </a:pPr>
                  <a:endParaRPr lang="en-IN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42" name="Graphic 141" descr="Lightbulb and gear with solid fill">
                <a:extLst>
                  <a:ext uri="{FF2B5EF4-FFF2-40B4-BE49-F238E27FC236}">
                    <a16:creationId xmlns:a16="http://schemas.microsoft.com/office/drawing/2014/main" id="{8C02B1DD-953B-171B-62FC-26726BC3F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252744" y="1846415"/>
                <a:ext cx="548640" cy="548640"/>
              </a:xfrm>
              <a:prstGeom prst="rect">
                <a:avLst/>
              </a:prstGeom>
            </p:spPr>
          </p:pic>
          <p:pic>
            <p:nvPicPr>
              <p:cNvPr id="143" name="Graphic 142" descr="Clipboard Mixed with solid fill">
                <a:extLst>
                  <a:ext uri="{FF2B5EF4-FFF2-40B4-BE49-F238E27FC236}">
                    <a16:creationId xmlns:a16="http://schemas.microsoft.com/office/drawing/2014/main" id="{EAC1BE66-E0C0-448F-A1F9-51C32542B1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9698243" y="2813016"/>
                <a:ext cx="548640" cy="548640"/>
              </a:xfrm>
              <a:prstGeom prst="rect">
                <a:avLst/>
              </a:prstGeom>
            </p:spPr>
          </p:pic>
          <p:pic>
            <p:nvPicPr>
              <p:cNvPr id="145" name="Graphic 144" descr="Gears with solid fill">
                <a:extLst>
                  <a:ext uri="{FF2B5EF4-FFF2-40B4-BE49-F238E27FC236}">
                    <a16:creationId xmlns:a16="http://schemas.microsoft.com/office/drawing/2014/main" id="{E6526A73-D5AE-EC67-1CF0-EFCE5224E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8844516" y="2809848"/>
                <a:ext cx="548640" cy="548640"/>
              </a:xfrm>
              <a:prstGeom prst="rect">
                <a:avLst/>
              </a:prstGeom>
            </p:spPr>
          </p:pic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3172D5E3-670F-0EB8-18BA-C427AB67D226}"/>
                  </a:ext>
                </a:extLst>
              </p:cNvPr>
              <p:cNvSpPr txBox="1"/>
              <p:nvPr/>
            </p:nvSpPr>
            <p:spPr>
              <a:xfrm>
                <a:off x="9104675" y="2350464"/>
                <a:ext cx="85173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100" b="1" dirty="0">
                    <a:solidFill>
                      <a:srgbClr val="00A3E0"/>
                    </a:solidFill>
                  </a:rPr>
                  <a:t>Envision</a:t>
                </a:r>
                <a:endParaRPr lang="en-IN" sz="1100" dirty="0">
                  <a:solidFill>
                    <a:srgbClr val="00A3E0"/>
                  </a:solidFill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C438BF5-8853-43FD-1FDD-CBCB5BCA5794}"/>
                  </a:ext>
                </a:extLst>
              </p:cNvPr>
              <p:cNvSpPr txBox="1"/>
              <p:nvPr/>
            </p:nvSpPr>
            <p:spPr>
              <a:xfrm>
                <a:off x="9544015" y="3298195"/>
                <a:ext cx="85173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100" b="1" dirty="0">
                    <a:solidFill>
                      <a:srgbClr val="0155A4"/>
                    </a:solidFill>
                  </a:rPr>
                  <a:t>Validate</a:t>
                </a:r>
                <a:endParaRPr lang="en-IN" sz="1100" dirty="0">
                  <a:solidFill>
                    <a:srgbClr val="0155A4"/>
                  </a:solidFill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8EEE63D-7E01-E30D-586A-D855F92C6D94}"/>
                  </a:ext>
                </a:extLst>
              </p:cNvPr>
              <p:cNvSpPr txBox="1"/>
              <p:nvPr/>
            </p:nvSpPr>
            <p:spPr>
              <a:xfrm>
                <a:off x="8656754" y="3298195"/>
                <a:ext cx="85173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100" b="1" dirty="0">
                    <a:solidFill>
                      <a:srgbClr val="0155A4"/>
                    </a:solidFill>
                  </a:rPr>
                  <a:t>Operate</a:t>
                </a:r>
                <a:endParaRPr lang="en-IN" sz="1100" dirty="0">
                  <a:solidFill>
                    <a:srgbClr val="0155A4"/>
                  </a:solidFill>
                </a:endParaRP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E60534D-49BC-685E-476C-3A4FE60BC976}"/>
                </a:ext>
              </a:extLst>
            </p:cNvPr>
            <p:cNvSpPr txBox="1"/>
            <p:nvPr/>
          </p:nvSpPr>
          <p:spPr>
            <a:xfrm>
              <a:off x="7935503" y="2409121"/>
              <a:ext cx="1968021" cy="9387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100" b="1" dirty="0">
                  <a:solidFill>
                    <a:srgbClr val="00A3E0"/>
                  </a:solidFill>
                </a:rPr>
                <a:t>Enhanced Revenue Streams</a:t>
              </a:r>
            </a:p>
            <a:p>
              <a:pPr lvl="0" algn="ctr"/>
              <a:endParaRPr lang="en-US" sz="1100" b="1" dirty="0">
                <a:solidFill>
                  <a:srgbClr val="00A3E0"/>
                </a:solidFill>
              </a:endParaRPr>
            </a:p>
            <a:p>
              <a:pPr lvl="0" algn="ctr"/>
              <a:r>
                <a:rPr lang="en-US" sz="1100" b="1" dirty="0">
                  <a:solidFill>
                    <a:srgbClr val="00A3E0"/>
                  </a:solidFill>
                </a:rPr>
                <a:t>Immersive Visitor Experience</a:t>
              </a:r>
              <a:endParaRPr lang="en-IN" sz="1100" dirty="0">
                <a:solidFill>
                  <a:srgbClr val="00A3E0"/>
                </a:solidFill>
              </a:endParaRPr>
            </a:p>
          </p:txBody>
        </p:sp>
      </p:grp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786A0E5-72D4-9C64-6B55-0AEFC59B6E0C}"/>
              </a:ext>
            </a:extLst>
          </p:cNvPr>
          <p:cNvSpPr/>
          <p:nvPr/>
        </p:nvSpPr>
        <p:spPr bwMode="gray">
          <a:xfrm>
            <a:off x="784218" y="4386482"/>
            <a:ext cx="1008942" cy="548640"/>
          </a:xfrm>
          <a:prstGeom prst="roundRect">
            <a:avLst/>
          </a:prstGeom>
          <a:noFill/>
          <a:ln w="3175" algn="ctr">
            <a:noFill/>
            <a:prstDash val="sys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Strategy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9" name="Graphic 168" descr="Target with solid fill">
            <a:extLst>
              <a:ext uri="{FF2B5EF4-FFF2-40B4-BE49-F238E27FC236}">
                <a16:creationId xmlns:a16="http://schemas.microsoft.com/office/drawing/2014/main" id="{E8F95024-F47B-5BB7-99B8-DEFC7EB1444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235578" y="4386482"/>
            <a:ext cx="548640" cy="548640"/>
          </a:xfrm>
          <a:prstGeom prst="rect">
            <a:avLst/>
          </a:prstGeom>
        </p:spPr>
      </p:pic>
      <p:sp>
        <p:nvSpPr>
          <p:cNvPr id="170" name="Left Brace 169">
            <a:extLst>
              <a:ext uri="{FF2B5EF4-FFF2-40B4-BE49-F238E27FC236}">
                <a16:creationId xmlns:a16="http://schemas.microsoft.com/office/drawing/2014/main" id="{55EC5770-A074-670B-4A8A-D466393C6136}"/>
              </a:ext>
            </a:extLst>
          </p:cNvPr>
          <p:cNvSpPr/>
          <p:nvPr/>
        </p:nvSpPr>
        <p:spPr>
          <a:xfrm rot="5400000">
            <a:off x="5956200" y="-1340104"/>
            <a:ext cx="88179" cy="11338560"/>
          </a:xfrm>
          <a:prstGeom prst="leftBrace">
            <a:avLst/>
          </a:prstGeom>
          <a:ln>
            <a:solidFill>
              <a:srgbClr val="2C52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B6289F4B-B122-E979-4AAE-0D5F13F9116E}"/>
              </a:ext>
            </a:extLst>
          </p:cNvPr>
          <p:cNvSpPr/>
          <p:nvPr/>
        </p:nvSpPr>
        <p:spPr bwMode="gray">
          <a:xfrm>
            <a:off x="10584720" y="4386482"/>
            <a:ext cx="1256483" cy="548640"/>
          </a:xfrm>
          <a:prstGeom prst="roundRect">
            <a:avLst/>
          </a:prstGeom>
          <a:noFill/>
          <a:ln w="3175" algn="ctr">
            <a:noFill/>
            <a:prstDash val="sys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Technology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2" name="Graphic 171" descr="Robot with solid fill">
            <a:extLst>
              <a:ext uri="{FF2B5EF4-FFF2-40B4-BE49-F238E27FC236}">
                <a16:creationId xmlns:a16="http://schemas.microsoft.com/office/drawing/2014/main" id="{28590D8D-54D3-540B-E34F-8DFB7A4B3A1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008459" y="4386482"/>
            <a:ext cx="548640" cy="548640"/>
          </a:xfrm>
          <a:prstGeom prst="rect">
            <a:avLst/>
          </a:prstGeom>
        </p:spPr>
      </p:pic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7C213BE7-3E9A-8975-7B9E-29AF5539F5D4}"/>
              </a:ext>
            </a:extLst>
          </p:cNvPr>
          <p:cNvSpPr/>
          <p:nvPr/>
        </p:nvSpPr>
        <p:spPr bwMode="gray">
          <a:xfrm>
            <a:off x="4051052" y="4386482"/>
            <a:ext cx="1008942" cy="548640"/>
          </a:xfrm>
          <a:prstGeom prst="roundRect">
            <a:avLst/>
          </a:prstGeom>
          <a:noFill/>
          <a:ln w="3175" algn="ctr">
            <a:noFill/>
            <a:prstDash val="sys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People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4" name="Graphic 173" descr="Users with solid fill">
            <a:extLst>
              <a:ext uri="{FF2B5EF4-FFF2-40B4-BE49-F238E27FC236}">
                <a16:creationId xmlns:a16="http://schemas.microsoft.com/office/drawing/2014/main" id="{F9242BD9-C970-E811-7D3C-7638955EE75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3493205" y="4386482"/>
            <a:ext cx="548640" cy="548640"/>
          </a:xfrm>
          <a:prstGeom prst="rect">
            <a:avLst/>
          </a:prstGeom>
        </p:spPr>
      </p:pic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9D6F20E1-47F4-C9D4-4C1D-774C853DA6A7}"/>
              </a:ext>
            </a:extLst>
          </p:cNvPr>
          <p:cNvSpPr/>
          <p:nvPr/>
        </p:nvSpPr>
        <p:spPr bwMode="gray">
          <a:xfrm>
            <a:off x="7317886" y="4386482"/>
            <a:ext cx="1008942" cy="548640"/>
          </a:xfrm>
          <a:prstGeom prst="roundRect">
            <a:avLst/>
          </a:prstGeom>
          <a:noFill/>
          <a:ln w="3175" algn="ctr">
            <a:noFill/>
            <a:prstDash val="sys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Process</a:t>
            </a:r>
            <a:endParaRPr lang="en-IN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6" name="Graphic 175" descr="Circles with lines with solid fill">
            <a:extLst>
              <a:ext uri="{FF2B5EF4-FFF2-40B4-BE49-F238E27FC236}">
                <a16:creationId xmlns:a16="http://schemas.microsoft.com/office/drawing/2014/main" id="{0D92E227-1AC3-3B7F-0CBE-7286C66A011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6750832" y="4386482"/>
            <a:ext cx="548640" cy="548640"/>
          </a:xfrm>
          <a:prstGeom prst="rect">
            <a:avLst/>
          </a:prstGeom>
        </p:spPr>
      </p:pic>
      <p:sp>
        <p:nvSpPr>
          <p:cNvPr id="180" name="Rectangle: Top Corners Snipped 179">
            <a:extLst>
              <a:ext uri="{FF2B5EF4-FFF2-40B4-BE49-F238E27FC236}">
                <a16:creationId xmlns:a16="http://schemas.microsoft.com/office/drawing/2014/main" id="{6C352FCC-3947-79D7-875C-1AF43A40C631}"/>
              </a:ext>
            </a:extLst>
          </p:cNvPr>
          <p:cNvSpPr/>
          <p:nvPr/>
        </p:nvSpPr>
        <p:spPr bwMode="gray">
          <a:xfrm>
            <a:off x="3535679" y="5351302"/>
            <a:ext cx="5120640" cy="307777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 w="190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C94A987-1A02-7405-AB83-131CE4E34F15}"/>
              </a:ext>
            </a:extLst>
          </p:cNvPr>
          <p:cNvSpPr txBox="1"/>
          <p:nvPr/>
        </p:nvSpPr>
        <p:spPr>
          <a:xfrm>
            <a:off x="3256195" y="5332603"/>
            <a:ext cx="5400124" cy="307777"/>
          </a:xfrm>
          <a:prstGeom prst="rect">
            <a:avLst/>
          </a:prstGeom>
          <a:noFill/>
          <a:ln>
            <a:solidFill>
              <a:srgbClr val="D9D9D9"/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Execution Pillars of the Emerging Tech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CoE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78893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CFD9-D440-919B-191E-BD0DE924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0EF570-8AA2-54B0-C242-13F35FC16705}"/>
              </a:ext>
            </a:extLst>
          </p:cNvPr>
          <p:cNvGrpSpPr/>
          <p:nvPr/>
        </p:nvGrpSpPr>
        <p:grpSpPr>
          <a:xfrm>
            <a:off x="0" y="118234"/>
            <a:ext cx="12192000" cy="378417"/>
            <a:chOff x="0" y="118234"/>
            <a:chExt cx="12192000" cy="3784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D8A4FF-A4C0-ADAB-1751-F3A5B6FED7C9}"/>
                </a:ext>
              </a:extLst>
            </p:cNvPr>
            <p:cNvSpPr txBox="1"/>
            <p:nvPr/>
          </p:nvSpPr>
          <p:spPr>
            <a:xfrm>
              <a:off x="308264" y="118234"/>
              <a:ext cx="11575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prstClr val="black"/>
                  </a:solidFill>
                  <a:latin typeface="Verdana"/>
                </a:rPr>
                <a:t>#2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. Potential Offerings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FC6FF2-08A8-5EA6-B3A8-036A75E0503A}"/>
                </a:ext>
              </a:extLst>
            </p:cNvPr>
            <p:cNvCxnSpPr/>
            <p:nvPr/>
          </p:nvCxnSpPr>
          <p:spPr>
            <a:xfrm>
              <a:off x="0" y="496651"/>
              <a:ext cx="12192000" cy="0"/>
            </a:xfrm>
            <a:prstGeom prst="line">
              <a:avLst/>
            </a:prstGeom>
            <a:ln w="6350" cmpd="dbl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400CA1E-DF07-FFCF-4D61-3D27FA7388A4}"/>
              </a:ext>
            </a:extLst>
          </p:cNvPr>
          <p:cNvSpPr txBox="1"/>
          <p:nvPr/>
        </p:nvSpPr>
        <p:spPr>
          <a:xfrm>
            <a:off x="1573274" y="742113"/>
            <a:ext cx="924799" cy="26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62B5E5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Areas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62B5E5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7DB992-2B01-C23F-47A6-68928AC24266}"/>
              </a:ext>
            </a:extLst>
          </p:cNvPr>
          <p:cNvSpPr txBox="1"/>
          <p:nvPr/>
        </p:nvSpPr>
        <p:spPr>
          <a:xfrm>
            <a:off x="3838755" y="742114"/>
            <a:ext cx="17089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62B5E5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Description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B48B9-7E9D-F9E1-8363-773F118840B6}"/>
              </a:ext>
            </a:extLst>
          </p:cNvPr>
          <p:cNvSpPr txBox="1"/>
          <p:nvPr/>
        </p:nvSpPr>
        <p:spPr>
          <a:xfrm>
            <a:off x="6888421" y="742113"/>
            <a:ext cx="1349597" cy="26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62B5E5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Interface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893FE7-8B23-F610-19EB-D945B6CCDB9F}"/>
              </a:ext>
            </a:extLst>
          </p:cNvPr>
          <p:cNvSpPr txBox="1"/>
          <p:nvPr/>
        </p:nvSpPr>
        <p:spPr>
          <a:xfrm>
            <a:off x="9260660" y="742113"/>
            <a:ext cx="2623075" cy="44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62B5E5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Expected Outcomes / 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62B5E5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05B5872-5E8E-FDDA-7588-CCD549EA3296}"/>
              </a:ext>
            </a:extLst>
          </p:cNvPr>
          <p:cNvGrpSpPr/>
          <p:nvPr/>
        </p:nvGrpSpPr>
        <p:grpSpPr>
          <a:xfrm>
            <a:off x="314675" y="1123726"/>
            <a:ext cx="11217607" cy="1015663"/>
            <a:chOff x="314675" y="1020029"/>
            <a:chExt cx="11217607" cy="10156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C2799D2-43ED-1FDA-1ED9-7B33CDCD10DD}"/>
                </a:ext>
              </a:extLst>
            </p:cNvPr>
            <p:cNvSpPr/>
            <p:nvPr/>
          </p:nvSpPr>
          <p:spPr>
            <a:xfrm>
              <a:off x="430228" y="1106833"/>
              <a:ext cx="83958" cy="637229"/>
            </a:xfrm>
            <a:prstGeom prst="rect">
              <a:avLst/>
            </a:prstGeom>
            <a:solidFill>
              <a:schemeClr val="accent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29418A4-BFAB-95E5-AE6A-56A16108EAFA}"/>
                </a:ext>
              </a:extLst>
            </p:cNvPr>
            <p:cNvSpPr/>
            <p:nvPr/>
          </p:nvSpPr>
          <p:spPr>
            <a:xfrm>
              <a:off x="314675" y="1250806"/>
              <a:ext cx="330081" cy="328387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chemeClr val="accent4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86BC25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E3C880-5501-DBAA-CDFF-2F9772F72F39}"/>
                </a:ext>
              </a:extLst>
            </p:cNvPr>
            <p:cNvSpPr txBox="1"/>
            <p:nvPr/>
          </p:nvSpPr>
          <p:spPr>
            <a:xfrm>
              <a:off x="1573274" y="1134381"/>
              <a:ext cx="134867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Immersive Storytelling through AR in mobile app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D34D91-93FD-9FDA-B9ED-60A08C284AEE}"/>
                </a:ext>
              </a:extLst>
            </p:cNvPr>
            <p:cNvSpPr txBox="1"/>
            <p:nvPr/>
          </p:nvSpPr>
          <p:spPr>
            <a:xfrm>
              <a:off x="3402723" y="1094245"/>
              <a:ext cx="28699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AR/VR experience of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Pradhanmantri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 Sangrahalaya through the mobile app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978962-E979-1162-71F5-E0DF636F5151}"/>
                </a:ext>
              </a:extLst>
            </p:cNvPr>
            <p:cNvSpPr txBox="1"/>
            <p:nvPr/>
          </p:nvSpPr>
          <p:spPr>
            <a:xfrm>
              <a:off x="6630837" y="1179275"/>
              <a:ext cx="22716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Mobile App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343F5D-238B-4EE1-98E6-63CB31DBEF08}"/>
                </a:ext>
              </a:extLst>
            </p:cNvPr>
            <p:cNvSpPr txBox="1"/>
            <p:nvPr/>
          </p:nvSpPr>
          <p:spPr>
            <a:xfrm>
              <a:off x="9260660" y="1020029"/>
              <a:ext cx="227162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New </a:t>
              </a:r>
              <a:r>
                <a:rPr lang="en-US" sz="1200" b="0" dirty="0">
                  <a:solidFill>
                    <a:prstClr val="black"/>
                  </a:solidFill>
                  <a:latin typeface="Verdana"/>
                </a:rPr>
                <a:t>monetization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streams – extension to schools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Enhanced storytelling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04E2E02-2B2B-EB04-6F2A-CBB2B553A178}"/>
              </a:ext>
            </a:extLst>
          </p:cNvPr>
          <p:cNvGrpSpPr/>
          <p:nvPr/>
        </p:nvGrpSpPr>
        <p:grpSpPr>
          <a:xfrm>
            <a:off x="314582" y="2290724"/>
            <a:ext cx="11217607" cy="1257327"/>
            <a:chOff x="314675" y="1968788"/>
            <a:chExt cx="11217607" cy="125732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193D86-0A1B-A8BA-F5AF-50DC148C297D}"/>
                </a:ext>
              </a:extLst>
            </p:cNvPr>
            <p:cNvSpPr/>
            <p:nvPr/>
          </p:nvSpPr>
          <p:spPr>
            <a:xfrm>
              <a:off x="430228" y="2107283"/>
              <a:ext cx="83958" cy="637229"/>
            </a:xfrm>
            <a:prstGeom prst="rect">
              <a:avLst/>
            </a:prstGeom>
            <a:solidFill>
              <a:schemeClr val="accent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8422E80-C0BE-1549-3067-41887329C3C9}"/>
                </a:ext>
              </a:extLst>
            </p:cNvPr>
            <p:cNvSpPr/>
            <p:nvPr/>
          </p:nvSpPr>
          <p:spPr>
            <a:xfrm>
              <a:off x="314675" y="2254121"/>
              <a:ext cx="330081" cy="328387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chemeClr val="accent5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3B02A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166D29-4AB8-0B0C-453B-EE60583D1240}"/>
                </a:ext>
              </a:extLst>
            </p:cNvPr>
            <p:cNvSpPr txBox="1"/>
            <p:nvPr/>
          </p:nvSpPr>
          <p:spPr>
            <a:xfrm>
              <a:off x="1573274" y="2160777"/>
              <a:ext cx="13486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Multilingual Visitor Engagement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18659B-DC4C-951B-AAE3-68D5FF6C6BAC}"/>
                </a:ext>
              </a:extLst>
            </p:cNvPr>
            <p:cNvSpPr txBox="1"/>
            <p:nvPr/>
          </p:nvSpPr>
          <p:spPr>
            <a:xfrm>
              <a:off x="3387785" y="2025786"/>
              <a:ext cx="295387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Multi-lingual voice-based visitor queries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b="0" dirty="0">
                  <a:solidFill>
                    <a:prstClr val="black"/>
                  </a:solidFill>
                </a:rPr>
                <a:t>Real-time translation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b="0" dirty="0">
                  <a:solidFill>
                    <a:prstClr val="black"/>
                  </a:solidFill>
                </a:rPr>
                <a:t>Speech-to-text and Text-to-speech guides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15E252-60C5-D13B-A5DB-2068144F5A73}"/>
                </a:ext>
              </a:extLst>
            </p:cNvPr>
            <p:cNvSpPr txBox="1"/>
            <p:nvPr/>
          </p:nvSpPr>
          <p:spPr>
            <a:xfrm>
              <a:off x="6508260" y="1968788"/>
              <a:ext cx="22716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b="0" dirty="0">
                  <a:solidFill>
                    <a:prstClr val="black"/>
                  </a:solidFill>
                </a:rPr>
                <a:t>Mobile App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Integration with audio systems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D71B354-10F6-97D7-7316-6600415D78D0}"/>
                </a:ext>
              </a:extLst>
            </p:cNvPr>
            <p:cNvSpPr txBox="1"/>
            <p:nvPr/>
          </p:nvSpPr>
          <p:spPr>
            <a:xfrm>
              <a:off x="9260660" y="1968788"/>
              <a:ext cx="227162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Inclusive engagement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B598B5-BC28-FFC4-A493-E5C261F07E2E}"/>
              </a:ext>
            </a:extLst>
          </p:cNvPr>
          <p:cNvGrpSpPr/>
          <p:nvPr/>
        </p:nvGrpSpPr>
        <p:grpSpPr>
          <a:xfrm>
            <a:off x="314675" y="3486002"/>
            <a:ext cx="11217607" cy="1015663"/>
            <a:chOff x="314675" y="2856266"/>
            <a:chExt cx="11217607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EEB2AB-7675-8A53-99D0-BB505593E765}"/>
                </a:ext>
              </a:extLst>
            </p:cNvPr>
            <p:cNvSpPr/>
            <p:nvPr/>
          </p:nvSpPr>
          <p:spPr>
            <a:xfrm>
              <a:off x="430228" y="2964858"/>
              <a:ext cx="83958" cy="637229"/>
            </a:xfrm>
            <a:prstGeom prst="rect">
              <a:avLst/>
            </a:pr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E5ACA51-0810-F750-97A7-C18A0E2D4230}"/>
                </a:ext>
              </a:extLst>
            </p:cNvPr>
            <p:cNvSpPr/>
            <p:nvPr/>
          </p:nvSpPr>
          <p:spPr>
            <a:xfrm>
              <a:off x="314675" y="3114562"/>
              <a:ext cx="330081" cy="328387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chemeClr val="accent5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6890D">
                      <a:lumMod val="75000"/>
                    </a:srgbClr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1F7D29-5416-A7B7-D04A-97C9566A9C77}"/>
                </a:ext>
              </a:extLst>
            </p:cNvPr>
            <p:cNvSpPr txBox="1"/>
            <p:nvPr/>
          </p:nvSpPr>
          <p:spPr>
            <a:xfrm>
              <a:off x="1573274" y="2994787"/>
              <a:ext cx="143662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IN" sz="1200" b="1" dirty="0"/>
                <a:t>Engaging Content</a:t>
              </a: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DBD51E-6CA9-21C5-08D9-5C5E6B657230}"/>
                </a:ext>
              </a:extLst>
            </p:cNvPr>
            <p:cNvSpPr txBox="1"/>
            <p:nvPr/>
          </p:nvSpPr>
          <p:spPr>
            <a:xfrm>
              <a:off x="3387692" y="2960404"/>
              <a:ext cx="295387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Enhanced videos displayed in areas like Helicopter ride and other display areas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662873-5315-B640-C49C-F8AD9B7ADECC}"/>
                </a:ext>
              </a:extLst>
            </p:cNvPr>
            <p:cNvSpPr txBox="1"/>
            <p:nvPr/>
          </p:nvSpPr>
          <p:spPr>
            <a:xfrm>
              <a:off x="6508260" y="2856266"/>
              <a:ext cx="22716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Screens in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Pradhanmantri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 Sangrahalaya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589AB34-C918-ED02-2BD1-5C4F5C55DA00}"/>
                </a:ext>
              </a:extLst>
            </p:cNvPr>
            <p:cNvSpPr txBox="1"/>
            <p:nvPr/>
          </p:nvSpPr>
          <p:spPr>
            <a:xfrm>
              <a:off x="9260660" y="2856266"/>
              <a:ext cx="227162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Deeper emotional connect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b="0" dirty="0">
                  <a:solidFill>
                    <a:prstClr val="black"/>
                  </a:solidFill>
                  <a:latin typeface="Verdana"/>
                </a:rPr>
                <a:t>Enhanced user experience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76C063F-4556-5824-0DEB-C59CE85404E0}"/>
              </a:ext>
            </a:extLst>
          </p:cNvPr>
          <p:cNvGrpSpPr/>
          <p:nvPr/>
        </p:nvGrpSpPr>
        <p:grpSpPr>
          <a:xfrm>
            <a:off x="314676" y="4624719"/>
            <a:ext cx="11217606" cy="715580"/>
            <a:chOff x="314676" y="3839333"/>
            <a:chExt cx="11217606" cy="71558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A4F1721-ABBB-7EBF-ED5B-A28243FEC82D}"/>
                </a:ext>
              </a:extLst>
            </p:cNvPr>
            <p:cNvSpPr/>
            <p:nvPr/>
          </p:nvSpPr>
          <p:spPr>
            <a:xfrm>
              <a:off x="430228" y="3917684"/>
              <a:ext cx="83958" cy="6372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19FB610-C7F6-295F-3BAE-86F3D4CF1862}"/>
                </a:ext>
              </a:extLst>
            </p:cNvPr>
            <p:cNvSpPr/>
            <p:nvPr/>
          </p:nvSpPr>
          <p:spPr>
            <a:xfrm>
              <a:off x="314676" y="4070252"/>
              <a:ext cx="330081" cy="328387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46A38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A5F33E3-C6E8-74A7-A8C9-5A8CE7C4CC12}"/>
                </a:ext>
              </a:extLst>
            </p:cNvPr>
            <p:cNvSpPr txBox="1"/>
            <p:nvPr/>
          </p:nvSpPr>
          <p:spPr>
            <a:xfrm>
              <a:off x="1573274" y="3977855"/>
              <a:ext cx="134867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Visitor Analysis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77202A-F309-784D-CC4E-E2364260D165}"/>
                </a:ext>
              </a:extLst>
            </p:cNvPr>
            <p:cNvSpPr txBox="1"/>
            <p:nvPr/>
          </p:nvSpPr>
          <p:spPr>
            <a:xfrm>
              <a:off x="3360744" y="3893651"/>
              <a:ext cx="295387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AI-driven insights</a:t>
              </a:r>
              <a:r>
                <a:rPr lang="en-US" sz="1200" b="0" dirty="0">
                  <a:solidFill>
                    <a:prstClr val="black"/>
                  </a:solidFill>
                  <a:latin typeface="Verdana"/>
                </a:rPr>
                <a:t> on visitors to explore new revenue streams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2B8E669-3101-7700-1984-A38661946ECF}"/>
                </a:ext>
              </a:extLst>
            </p:cNvPr>
            <p:cNvSpPr txBox="1"/>
            <p:nvPr/>
          </p:nvSpPr>
          <p:spPr>
            <a:xfrm>
              <a:off x="6508260" y="3839333"/>
              <a:ext cx="22716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b="0" dirty="0">
                  <a:solidFill>
                    <a:prstClr val="black"/>
                  </a:solidFill>
                </a:rPr>
                <a:t>Dashboards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ACCE67E-0C9D-8C21-3170-AC0E7B6F28C1}"/>
                </a:ext>
              </a:extLst>
            </p:cNvPr>
            <p:cNvSpPr txBox="1"/>
            <p:nvPr/>
          </p:nvSpPr>
          <p:spPr>
            <a:xfrm>
              <a:off x="9260660" y="3839333"/>
              <a:ext cx="227162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b="0" dirty="0">
                  <a:solidFill>
                    <a:prstClr val="black"/>
                  </a:solidFill>
                  <a:latin typeface="Verdana"/>
                </a:rPr>
                <a:t>Assess new revenue streams opportunities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C884174-F5C6-6D38-A804-F477DDAB2FA3}"/>
              </a:ext>
            </a:extLst>
          </p:cNvPr>
          <p:cNvCxnSpPr/>
          <p:nvPr/>
        </p:nvCxnSpPr>
        <p:spPr>
          <a:xfrm>
            <a:off x="473775" y="1059928"/>
            <a:ext cx="11409960" cy="0"/>
          </a:xfrm>
          <a:prstGeom prst="line">
            <a:avLst/>
          </a:prstGeom>
          <a:ln w="317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C4F35BA-5E40-088F-25C6-C2B931159BEA}"/>
              </a:ext>
            </a:extLst>
          </p:cNvPr>
          <p:cNvCxnSpPr/>
          <p:nvPr/>
        </p:nvCxnSpPr>
        <p:spPr>
          <a:xfrm>
            <a:off x="473775" y="716139"/>
            <a:ext cx="11409960" cy="0"/>
          </a:xfrm>
          <a:prstGeom prst="line">
            <a:avLst/>
          </a:prstGeom>
          <a:ln w="3175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Open book with solid fill">
            <a:extLst>
              <a:ext uri="{FF2B5EF4-FFF2-40B4-BE49-F238E27FC236}">
                <a16:creationId xmlns:a16="http://schemas.microsoft.com/office/drawing/2014/main" id="{45892486-C0D9-7A7C-BC4E-9FD6421D3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922" y="4731831"/>
            <a:ext cx="576000" cy="576000"/>
          </a:xfrm>
          <a:prstGeom prst="rect">
            <a:avLst/>
          </a:prstGeom>
        </p:spPr>
      </p:pic>
      <p:pic>
        <p:nvPicPr>
          <p:cNvPr id="71" name="Graphic 70" descr="Folder Search with solid fill">
            <a:extLst>
              <a:ext uri="{FF2B5EF4-FFF2-40B4-BE49-F238E27FC236}">
                <a16:creationId xmlns:a16="http://schemas.microsoft.com/office/drawing/2014/main" id="{FF529A64-B0B3-DDF7-E82C-6F8E85150D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922" y="3624523"/>
            <a:ext cx="576000" cy="576000"/>
          </a:xfrm>
          <a:prstGeom prst="rect">
            <a:avLst/>
          </a:prstGeom>
        </p:spPr>
      </p:pic>
      <p:pic>
        <p:nvPicPr>
          <p:cNvPr id="73" name="Graphic 72" descr="Chat with solid fill">
            <a:extLst>
              <a:ext uri="{FF2B5EF4-FFF2-40B4-BE49-F238E27FC236}">
                <a16:creationId xmlns:a16="http://schemas.microsoft.com/office/drawing/2014/main" id="{9EBF77A0-5E4C-2DC1-FE18-542C702C3F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922" y="2477648"/>
            <a:ext cx="576000" cy="576000"/>
          </a:xfrm>
          <a:prstGeom prst="rect">
            <a:avLst/>
          </a:prstGeom>
        </p:spPr>
      </p:pic>
      <p:pic>
        <p:nvPicPr>
          <p:cNvPr id="75" name="Graphic 74" descr="Fairy female with solid fill">
            <a:extLst>
              <a:ext uri="{FF2B5EF4-FFF2-40B4-BE49-F238E27FC236}">
                <a16:creationId xmlns:a16="http://schemas.microsoft.com/office/drawing/2014/main" id="{ACA02211-49D8-1A71-8439-847F3CE6DD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052" y="125559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24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A488-88FD-C81A-E1CA-5BDDFB2D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96B0B8-DF1F-A154-1189-0E00197C85B1}"/>
              </a:ext>
            </a:extLst>
          </p:cNvPr>
          <p:cNvGrpSpPr/>
          <p:nvPr/>
        </p:nvGrpSpPr>
        <p:grpSpPr>
          <a:xfrm>
            <a:off x="0" y="118234"/>
            <a:ext cx="12192000" cy="378417"/>
            <a:chOff x="0" y="118234"/>
            <a:chExt cx="12192000" cy="3784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3093F1-86B1-8FEF-4187-817EC210C4E2}"/>
                </a:ext>
              </a:extLst>
            </p:cNvPr>
            <p:cNvSpPr txBox="1"/>
            <p:nvPr/>
          </p:nvSpPr>
          <p:spPr>
            <a:xfrm>
              <a:off x="308264" y="118234"/>
              <a:ext cx="11575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#3.1. Approach to </a:t>
              </a:r>
              <a:r>
                <a:rPr lang="en-US" b="1" dirty="0">
                  <a:solidFill>
                    <a:prstClr val="black"/>
                  </a:solidFill>
                  <a:latin typeface="Verdana"/>
                </a:rPr>
                <a:t>AI </a:t>
              </a:r>
              <a:r>
                <a:rPr lang="en-US" b="1" dirty="0" err="1">
                  <a:solidFill>
                    <a:prstClr val="black"/>
                  </a:solidFill>
                  <a:latin typeface="Verdana"/>
                </a:rPr>
                <a:t>CoE</a:t>
              </a:r>
              <a:r>
                <a:rPr lang="en-US" b="1" dirty="0">
                  <a:solidFill>
                    <a:prstClr val="black"/>
                  </a:solidFill>
                  <a:latin typeface="Verdana"/>
                </a:rPr>
                <a:t> Establishment and Pilot Use Cases Implementation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EEB4AC6-8C28-AADC-E82B-DA919E5D64ED}"/>
                </a:ext>
              </a:extLst>
            </p:cNvPr>
            <p:cNvCxnSpPr/>
            <p:nvPr/>
          </p:nvCxnSpPr>
          <p:spPr>
            <a:xfrm>
              <a:off x="0" y="496651"/>
              <a:ext cx="12192000" cy="0"/>
            </a:xfrm>
            <a:prstGeom prst="line">
              <a:avLst/>
            </a:prstGeom>
            <a:ln w="6350" cmpd="dbl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5198A1C-DE11-0462-B4A4-C5E8A6AAB781}"/>
              </a:ext>
            </a:extLst>
          </p:cNvPr>
          <p:cNvGrpSpPr/>
          <p:nvPr/>
        </p:nvGrpSpPr>
        <p:grpSpPr>
          <a:xfrm>
            <a:off x="308264" y="3755393"/>
            <a:ext cx="11556644" cy="2560073"/>
            <a:chOff x="446712" y="3782361"/>
            <a:chExt cx="11556644" cy="256007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BA909D8-EA83-CABF-EBDE-4B0D1F797B13}"/>
                </a:ext>
              </a:extLst>
            </p:cNvPr>
            <p:cNvSpPr/>
            <p:nvPr/>
          </p:nvSpPr>
          <p:spPr bwMode="gray">
            <a:xfrm>
              <a:off x="446712" y="4119929"/>
              <a:ext cx="2088000" cy="2222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Establish Emerging Tech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CoE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under 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Pradhanmantri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Sangrahalaya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Define governance structure, roles, and compliance.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3190EB9-663C-9FA1-147E-74893FFA6590}"/>
                </a:ext>
              </a:extLst>
            </p:cNvPr>
            <p:cNvSpPr/>
            <p:nvPr/>
          </p:nvSpPr>
          <p:spPr bwMode="gray">
            <a:xfrm>
              <a:off x="1169726" y="3782361"/>
              <a:ext cx="606056" cy="561197"/>
            </a:xfrm>
            <a:prstGeom prst="ellipse">
              <a:avLst/>
            </a:prstGeom>
            <a:solidFill>
              <a:srgbClr val="86BC25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F1B0820-05EF-AA44-7C1B-3C784C7705B9}"/>
                </a:ext>
              </a:extLst>
            </p:cNvPr>
            <p:cNvSpPr/>
            <p:nvPr/>
          </p:nvSpPr>
          <p:spPr bwMode="gray">
            <a:xfrm>
              <a:off x="2810650" y="4119929"/>
              <a:ext cx="2088000" cy="2222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Integrate with required Systems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72BF2F4A-437E-AA22-ABF1-0E9239C8D360}"/>
                </a:ext>
              </a:extLst>
            </p:cNvPr>
            <p:cNvSpPr/>
            <p:nvPr/>
          </p:nvSpPr>
          <p:spPr bwMode="gray">
            <a:xfrm>
              <a:off x="3533664" y="3782361"/>
              <a:ext cx="606056" cy="561197"/>
            </a:xfrm>
            <a:prstGeom prst="ellipse">
              <a:avLst/>
            </a:prstGeom>
            <a:solidFill>
              <a:srgbClr val="86BC25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8496D49-2379-F815-61AA-651ED8428B1A}"/>
                </a:ext>
              </a:extLst>
            </p:cNvPr>
            <p:cNvSpPr/>
            <p:nvPr/>
          </p:nvSpPr>
          <p:spPr bwMode="gray">
            <a:xfrm>
              <a:off x="5174588" y="4119929"/>
              <a:ext cx="2088000" cy="2222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Define cost implications for different deployment strategies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Enable artefacts for </a:t>
              </a:r>
              <a:r>
                <a:rPr lang="en-US" sz="1100" dirty="0">
                  <a:solidFill>
                    <a:prstClr val="black"/>
                  </a:solidFill>
                  <a:latin typeface="Calibri"/>
                </a:rPr>
                <a:t>providing guidance on deployment strategy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R="0" lvl="0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4B1C84F-A5AA-61AD-9CD7-0D144769ECDF}"/>
                </a:ext>
              </a:extLst>
            </p:cNvPr>
            <p:cNvSpPr/>
            <p:nvPr/>
          </p:nvSpPr>
          <p:spPr bwMode="gray">
            <a:xfrm>
              <a:off x="5897602" y="3782361"/>
              <a:ext cx="606056" cy="561197"/>
            </a:xfrm>
            <a:prstGeom prst="ellipse">
              <a:avLst/>
            </a:prstGeom>
            <a:solidFill>
              <a:srgbClr val="86BC25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D761820-8123-EF34-FACE-39837BD1A5DB}"/>
                </a:ext>
              </a:extLst>
            </p:cNvPr>
            <p:cNvSpPr/>
            <p:nvPr/>
          </p:nvSpPr>
          <p:spPr bwMode="gray">
            <a:xfrm>
              <a:off x="7531833" y="4119929"/>
              <a:ext cx="2088000" cy="2222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Deploy </a:t>
              </a:r>
              <a:r>
                <a:rPr lang="en-US" sz="1100" dirty="0">
                  <a:solidFill>
                    <a:prstClr val="black"/>
                  </a:solidFill>
                  <a:latin typeface="Calibri"/>
                </a:rPr>
                <a:t>the 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use cases along with system integration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Optimize</a:t>
              </a:r>
              <a:r>
                <a:rPr lang="en-US" sz="1100" dirty="0">
                  <a:solidFill>
                    <a:prstClr val="black"/>
                  </a:solidFill>
                  <a:latin typeface="Calibri"/>
                </a:rPr>
                <a:t> model performance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Scale solutions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114C5DA-190A-73D2-D2E6-23837388B866}"/>
                </a:ext>
              </a:extLst>
            </p:cNvPr>
            <p:cNvSpPr/>
            <p:nvPr/>
          </p:nvSpPr>
          <p:spPr bwMode="gray">
            <a:xfrm>
              <a:off x="8261540" y="3782361"/>
              <a:ext cx="606056" cy="561197"/>
            </a:xfrm>
            <a:prstGeom prst="ellipse">
              <a:avLst/>
            </a:prstGeom>
            <a:solidFill>
              <a:srgbClr val="86BC25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02F56AA-7D1D-8E98-2949-780BCB022AD9}"/>
                </a:ext>
              </a:extLst>
            </p:cNvPr>
            <p:cNvSpPr/>
            <p:nvPr/>
          </p:nvSpPr>
          <p:spPr bwMode="gray">
            <a:xfrm>
              <a:off x="9902463" y="4119929"/>
              <a:ext cx="2088000" cy="2222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Monitor impact using dashboards and KPIs.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Ensure compliance with the required guidelines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1626FB1-346D-EACE-00EF-220FE9D93AAD}"/>
                </a:ext>
              </a:extLst>
            </p:cNvPr>
            <p:cNvSpPr/>
            <p:nvPr/>
          </p:nvSpPr>
          <p:spPr bwMode="gray">
            <a:xfrm>
              <a:off x="10625477" y="3782361"/>
              <a:ext cx="606056" cy="561197"/>
            </a:xfrm>
            <a:prstGeom prst="ellipse">
              <a:avLst/>
            </a:prstGeom>
            <a:solidFill>
              <a:srgbClr val="86BC25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FF9830D2-B7C5-DCFD-8011-4EDF606B4ECB}"/>
                </a:ext>
              </a:extLst>
            </p:cNvPr>
            <p:cNvSpPr/>
            <p:nvPr/>
          </p:nvSpPr>
          <p:spPr bwMode="gray">
            <a:xfrm>
              <a:off x="446712" y="4440892"/>
              <a:ext cx="2088000" cy="316334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Emerging Tech CoE &amp; Governance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FB4303D-1F63-6385-5277-732E74FB443A}"/>
                </a:ext>
              </a:extLst>
            </p:cNvPr>
            <p:cNvSpPr/>
            <p:nvPr/>
          </p:nvSpPr>
          <p:spPr bwMode="gray">
            <a:xfrm>
              <a:off x="9915356" y="4440892"/>
              <a:ext cx="2088000" cy="316334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Monitoring &amp; Compliance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3C70F870-6DA6-6B4B-792E-F2D2439D4AD0}"/>
                </a:ext>
              </a:extLst>
            </p:cNvPr>
            <p:cNvSpPr/>
            <p:nvPr/>
          </p:nvSpPr>
          <p:spPr bwMode="gray">
            <a:xfrm>
              <a:off x="2810157" y="4440892"/>
              <a:ext cx="2088000" cy="316334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 dirty="0">
                  <a:solidFill>
                    <a:prstClr val="white"/>
                  </a:solidFill>
                  <a:latin typeface="Calibri"/>
                </a:rPr>
                <a:t>Systems </a:t>
              </a: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Integration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7CD8DF6-8817-DFAF-009A-2844029B2AD3}"/>
                </a:ext>
              </a:extLst>
            </p:cNvPr>
            <p:cNvSpPr/>
            <p:nvPr/>
          </p:nvSpPr>
          <p:spPr bwMode="gray">
            <a:xfrm>
              <a:off x="5187481" y="4440892"/>
              <a:ext cx="2088000" cy="316334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Infrastructure &amp; Hosting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202084E-7F56-24DA-2E83-A91AF3449D92}"/>
                </a:ext>
              </a:extLst>
            </p:cNvPr>
            <p:cNvSpPr/>
            <p:nvPr/>
          </p:nvSpPr>
          <p:spPr bwMode="gray">
            <a:xfrm>
              <a:off x="7544726" y="4440892"/>
              <a:ext cx="2088000" cy="316334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Delivery and Scaling</a:t>
              </a:r>
            </a:p>
          </p:txBody>
        </p:sp>
        <p:pic>
          <p:nvPicPr>
            <p:cNvPr id="161" name="Graphic 160" descr="Abacus with solid fill">
              <a:extLst>
                <a:ext uri="{FF2B5EF4-FFF2-40B4-BE49-F238E27FC236}">
                  <a16:creationId xmlns:a16="http://schemas.microsoft.com/office/drawing/2014/main" id="{6837662E-1192-80BE-E660-64A330351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4568" y="3892923"/>
              <a:ext cx="360000" cy="351483"/>
            </a:xfrm>
            <a:prstGeom prst="rect">
              <a:avLst/>
            </a:prstGeom>
          </p:spPr>
        </p:pic>
        <p:pic>
          <p:nvPicPr>
            <p:cNvPr id="162" name="Graphic 161" descr="Anemone and clownfish with solid fill">
              <a:extLst>
                <a:ext uri="{FF2B5EF4-FFF2-40B4-BE49-F238E27FC236}">
                  <a16:creationId xmlns:a16="http://schemas.microsoft.com/office/drawing/2014/main" id="{E619B49A-09E9-06E7-6D5C-4A93E4FC1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20630" y="3889759"/>
              <a:ext cx="360000" cy="351483"/>
            </a:xfrm>
            <a:prstGeom prst="rect">
              <a:avLst/>
            </a:prstGeom>
          </p:spPr>
        </p:pic>
        <p:pic>
          <p:nvPicPr>
            <p:cNvPr id="163" name="Graphic 162" descr="Server with solid fill">
              <a:extLst>
                <a:ext uri="{FF2B5EF4-FFF2-40B4-BE49-F238E27FC236}">
                  <a16:creationId xmlns:a16="http://schemas.microsoft.com/office/drawing/2014/main" id="{BAA9B694-F652-FA9C-2FB8-971957C2D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56692" y="3889759"/>
              <a:ext cx="360000" cy="351483"/>
            </a:xfrm>
            <a:prstGeom prst="rect">
              <a:avLst/>
            </a:prstGeom>
          </p:spPr>
        </p:pic>
        <p:pic>
          <p:nvPicPr>
            <p:cNvPr id="164" name="Graphic 163" descr="City with solid fill">
              <a:extLst>
                <a:ext uri="{FF2B5EF4-FFF2-40B4-BE49-F238E27FC236}">
                  <a16:creationId xmlns:a16="http://schemas.microsoft.com/office/drawing/2014/main" id="{182A17D5-348E-2B2D-0FC6-75FAB8719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92754" y="3889759"/>
              <a:ext cx="360000" cy="351483"/>
            </a:xfrm>
            <a:prstGeom prst="rect">
              <a:avLst/>
            </a:prstGeom>
          </p:spPr>
        </p:pic>
        <p:pic>
          <p:nvPicPr>
            <p:cNvPr id="165" name="Graphic 164" descr="Battery charging with solid fill">
              <a:extLst>
                <a:ext uri="{FF2B5EF4-FFF2-40B4-BE49-F238E27FC236}">
                  <a16:creationId xmlns:a16="http://schemas.microsoft.com/office/drawing/2014/main" id="{AC167A88-529B-BDC6-2B08-2B28907C5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8505" y="3896881"/>
              <a:ext cx="360000" cy="351483"/>
            </a:xfrm>
            <a:prstGeom prst="rect">
              <a:avLst/>
            </a:prstGeom>
          </p:spPr>
        </p:pic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CE0F0F5-C936-52C2-A04E-D70FBCBC436C}"/>
              </a:ext>
            </a:extLst>
          </p:cNvPr>
          <p:cNvGrpSpPr/>
          <p:nvPr/>
        </p:nvGrpSpPr>
        <p:grpSpPr>
          <a:xfrm>
            <a:off x="308264" y="960110"/>
            <a:ext cx="11557137" cy="2297739"/>
            <a:chOff x="446712" y="1026509"/>
            <a:chExt cx="11557137" cy="2297739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4D25493-C0C7-7E93-439E-9EBD0F92F420}"/>
                </a:ext>
              </a:extLst>
            </p:cNvPr>
            <p:cNvSpPr/>
            <p:nvPr/>
          </p:nvSpPr>
          <p:spPr bwMode="gray">
            <a:xfrm>
              <a:off x="446712" y="1268832"/>
              <a:ext cx="2088089" cy="205541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56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Hold workshops with museum officials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Identify and define emerging tech use cases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Assess use cases for impact, data readiness, and feasibility.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9732A549-F7F3-64F8-C0C9-90B6D1552EA2}"/>
                </a:ext>
              </a:extLst>
            </p:cNvPr>
            <p:cNvSpPr/>
            <p:nvPr/>
          </p:nvSpPr>
          <p:spPr bwMode="gray">
            <a:xfrm>
              <a:off x="1169264" y="1026509"/>
              <a:ext cx="606082" cy="574796"/>
            </a:xfrm>
            <a:prstGeom prst="ellipse">
              <a:avLst/>
            </a:prstGeom>
            <a:solidFill>
              <a:schemeClr val="accent6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F1C0B3B-946A-C072-B9C9-CD1471C70B46}"/>
                </a:ext>
              </a:extLst>
            </p:cNvPr>
            <p:cNvSpPr/>
            <p:nvPr/>
          </p:nvSpPr>
          <p:spPr bwMode="gray">
            <a:xfrm>
              <a:off x="2810258" y="1268832"/>
              <a:ext cx="2088089" cy="205541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Set up a secure Sandbox.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Enable controlled PoC development and testing.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84FF32D9-BC13-C059-DC34-77BA279DA661}"/>
                </a:ext>
              </a:extLst>
            </p:cNvPr>
            <p:cNvSpPr/>
            <p:nvPr/>
          </p:nvSpPr>
          <p:spPr bwMode="gray">
            <a:xfrm>
              <a:off x="3533303" y="1026509"/>
              <a:ext cx="606082" cy="574796"/>
            </a:xfrm>
            <a:prstGeom prst="ellipse">
              <a:avLst/>
            </a:prstGeom>
            <a:solidFill>
              <a:schemeClr val="accent6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104F7A2-4F03-2907-9B81-5074F15DB1CD}"/>
                </a:ext>
              </a:extLst>
            </p:cNvPr>
            <p:cNvSpPr/>
            <p:nvPr/>
          </p:nvSpPr>
          <p:spPr bwMode="gray">
            <a:xfrm>
              <a:off x="5174297" y="1268832"/>
              <a:ext cx="2088089" cy="205541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Define data flows, integrations, and </a:t>
              </a:r>
              <a:r>
                <a:rPr lang="en-US" sz="1100" dirty="0">
                  <a:solidFill>
                    <a:prstClr val="black"/>
                  </a:solidFill>
                  <a:latin typeface="Calibri"/>
                </a:rPr>
                <a:t>other 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layers.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Establish security controls and governance framework.</a:t>
              </a: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007FCB54-7F6F-2D19-1E24-B0EF63314966}"/>
                </a:ext>
              </a:extLst>
            </p:cNvPr>
            <p:cNvSpPr/>
            <p:nvPr/>
          </p:nvSpPr>
          <p:spPr bwMode="gray">
            <a:xfrm>
              <a:off x="5897342" y="1026509"/>
              <a:ext cx="606082" cy="574796"/>
            </a:xfrm>
            <a:prstGeom prst="ellipse">
              <a:avLst/>
            </a:prstGeom>
            <a:solidFill>
              <a:schemeClr val="accent6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8CAFEEB-7162-A588-FD93-CAEC658437D2}"/>
                </a:ext>
              </a:extLst>
            </p:cNvPr>
            <p:cNvSpPr/>
            <p:nvPr/>
          </p:nvSpPr>
          <p:spPr bwMode="gray">
            <a:xfrm>
              <a:off x="7538336" y="1268832"/>
              <a:ext cx="2088089" cy="205541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Develop Proof of Concepts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Validate pilots with concerned departments.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824CB69B-0CD2-AE99-A211-B27FB1C2CDE8}"/>
                </a:ext>
              </a:extLst>
            </p:cNvPr>
            <p:cNvSpPr/>
            <p:nvPr/>
          </p:nvSpPr>
          <p:spPr bwMode="gray">
            <a:xfrm>
              <a:off x="8261380" y="1026509"/>
              <a:ext cx="606082" cy="574796"/>
            </a:xfrm>
            <a:prstGeom prst="ellipse">
              <a:avLst/>
            </a:prstGeom>
            <a:solidFill>
              <a:schemeClr val="accent6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1905BB2-EDE0-EC11-421F-89C37FDA1064}"/>
                </a:ext>
              </a:extLst>
            </p:cNvPr>
            <p:cNvSpPr/>
            <p:nvPr/>
          </p:nvSpPr>
          <p:spPr bwMode="gray">
            <a:xfrm>
              <a:off x="9902373" y="1268832"/>
              <a:ext cx="2088089" cy="205541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72000" tIns="792000" rIns="72000" bIns="0" rtlCol="0" anchor="t" anchorCtr="0"/>
            <a:lstStyle/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Demonstrate pilots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Incorporate review feedback.</a:t>
              </a:r>
            </a:p>
            <a:p>
              <a:pPr marL="182563" marR="0" lvl="0" indent="-182563" algn="l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Prepare phased rollout roadmap</a:t>
              </a: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DBF6FC24-EA54-65C7-FC6E-0700734F9616}"/>
                </a:ext>
              </a:extLst>
            </p:cNvPr>
            <p:cNvSpPr/>
            <p:nvPr/>
          </p:nvSpPr>
          <p:spPr bwMode="gray">
            <a:xfrm>
              <a:off x="10625418" y="1026509"/>
              <a:ext cx="606082" cy="574796"/>
            </a:xfrm>
            <a:prstGeom prst="ellipse">
              <a:avLst/>
            </a:prstGeom>
            <a:solidFill>
              <a:schemeClr val="accent6"/>
            </a:solidFill>
            <a:ln w="762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7C679412-0BFE-571B-8001-2E9E8D15B400}"/>
                </a:ext>
              </a:extLst>
            </p:cNvPr>
            <p:cNvSpPr/>
            <p:nvPr/>
          </p:nvSpPr>
          <p:spPr bwMode="gray">
            <a:xfrm>
              <a:off x="446712" y="1654744"/>
              <a:ext cx="2088089" cy="292579"/>
            </a:xfrm>
            <a:prstGeom prst="rect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Consultation &amp; Use Cases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D8D06B54-AF04-1EC2-A457-5FAAFE8D7328}"/>
                </a:ext>
              </a:extLst>
            </p:cNvPr>
            <p:cNvSpPr/>
            <p:nvPr/>
          </p:nvSpPr>
          <p:spPr bwMode="gray">
            <a:xfrm>
              <a:off x="9915760" y="1689589"/>
              <a:ext cx="2088089" cy="292579"/>
            </a:xfrm>
            <a:prstGeom prst="rect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Demonstration &amp; AI Roadmap</a:t>
              </a: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31FE0D3-05FA-DE32-295B-5B7FC5328480}"/>
                </a:ext>
              </a:extLst>
            </p:cNvPr>
            <p:cNvSpPr/>
            <p:nvPr/>
          </p:nvSpPr>
          <p:spPr bwMode="gray">
            <a:xfrm>
              <a:off x="2810258" y="1689589"/>
              <a:ext cx="2088089" cy="292579"/>
            </a:xfrm>
            <a:prstGeom prst="rect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Sandbox Setup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F420BC7-4866-8F96-36BF-9E025EDC8CDC}"/>
                </a:ext>
              </a:extLst>
            </p:cNvPr>
            <p:cNvSpPr/>
            <p:nvPr/>
          </p:nvSpPr>
          <p:spPr bwMode="gray">
            <a:xfrm>
              <a:off x="5187683" y="1689589"/>
              <a:ext cx="2088089" cy="292579"/>
            </a:xfrm>
            <a:prstGeom prst="rect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Architecture &amp; Governance</a:t>
              </a: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B5F4ED59-8FC3-2298-7FC8-92B2C5F6E31D}"/>
                </a:ext>
              </a:extLst>
            </p:cNvPr>
            <p:cNvSpPr/>
            <p:nvPr/>
          </p:nvSpPr>
          <p:spPr bwMode="gray">
            <a:xfrm>
              <a:off x="7545029" y="1698057"/>
              <a:ext cx="2088089" cy="292579"/>
            </a:xfrm>
            <a:prstGeom prst="rect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0" rIns="889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Pilot / PoC Development</a:t>
              </a:r>
            </a:p>
          </p:txBody>
        </p:sp>
        <p:pic>
          <p:nvPicPr>
            <p:cNvPr id="182" name="Graphic 181" descr="Gears with solid fill">
              <a:extLst>
                <a:ext uri="{FF2B5EF4-FFF2-40B4-BE49-F238E27FC236}">
                  <a16:creationId xmlns:a16="http://schemas.microsoft.com/office/drawing/2014/main" id="{6587B288-3728-DF57-B0C6-E818F67A3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20375" y="1141730"/>
              <a:ext cx="360015" cy="325088"/>
            </a:xfrm>
            <a:prstGeom prst="rect">
              <a:avLst/>
            </a:prstGeom>
          </p:spPr>
        </p:pic>
        <p:pic>
          <p:nvPicPr>
            <p:cNvPr id="183" name="Graphic 182" descr="Quadcopter with solid fill">
              <a:extLst>
                <a:ext uri="{FF2B5EF4-FFF2-40B4-BE49-F238E27FC236}">
                  <a16:creationId xmlns:a16="http://schemas.microsoft.com/office/drawing/2014/main" id="{E60B20E1-0988-1338-FEC5-5898A6E48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384414" y="1178105"/>
              <a:ext cx="360015" cy="325088"/>
            </a:xfrm>
            <a:prstGeom prst="rect">
              <a:avLst/>
            </a:prstGeom>
          </p:spPr>
        </p:pic>
        <p:pic>
          <p:nvPicPr>
            <p:cNvPr id="184" name="Graphic 183" descr="Grocery bag with solid fill">
              <a:extLst>
                <a:ext uri="{FF2B5EF4-FFF2-40B4-BE49-F238E27FC236}">
                  <a16:creationId xmlns:a16="http://schemas.microsoft.com/office/drawing/2014/main" id="{EBB1E58A-73A8-1321-CF6B-E441E0BEB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656336" y="1158615"/>
              <a:ext cx="360015" cy="325088"/>
            </a:xfrm>
            <a:prstGeom prst="rect">
              <a:avLst/>
            </a:prstGeom>
          </p:spPr>
        </p:pic>
        <p:pic>
          <p:nvPicPr>
            <p:cNvPr id="185" name="Graphic 184" descr="Train Tracks with solid fill">
              <a:extLst>
                <a:ext uri="{FF2B5EF4-FFF2-40B4-BE49-F238E27FC236}">
                  <a16:creationId xmlns:a16="http://schemas.microsoft.com/office/drawing/2014/main" id="{6BCC425E-12EE-20B4-A307-F2DECBB96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748451" y="1141730"/>
              <a:ext cx="360015" cy="325088"/>
            </a:xfrm>
            <a:prstGeom prst="rect">
              <a:avLst/>
            </a:prstGeom>
          </p:spPr>
        </p:pic>
        <p:pic>
          <p:nvPicPr>
            <p:cNvPr id="186" name="Graphic 185" descr="Puppet with solid fill">
              <a:extLst>
                <a:ext uri="{FF2B5EF4-FFF2-40B4-BE49-F238E27FC236}">
                  <a16:creationId xmlns:a16="http://schemas.microsoft.com/office/drawing/2014/main" id="{D85673E2-9024-59F2-A963-0DF983E88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292297" y="1160600"/>
              <a:ext cx="360015" cy="325088"/>
            </a:xfrm>
            <a:prstGeom prst="rect">
              <a:avLst/>
            </a:prstGeom>
          </p:spPr>
        </p:pic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9A7B6FA7-8CFF-5D79-A9DF-D5F3416B2CB0}"/>
              </a:ext>
            </a:extLst>
          </p:cNvPr>
          <p:cNvSpPr txBox="1"/>
          <p:nvPr/>
        </p:nvSpPr>
        <p:spPr>
          <a:xfrm>
            <a:off x="315584" y="745224"/>
            <a:ext cx="553715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A: Sandbox Environment Setup &amp; Pilot development - 0 to 6 Months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4FB8053-4858-33E0-263F-C7C7278A1664}"/>
              </a:ext>
            </a:extLst>
          </p:cNvPr>
          <p:cNvSpPr txBox="1"/>
          <p:nvPr/>
        </p:nvSpPr>
        <p:spPr>
          <a:xfrm>
            <a:off x="315584" y="3499614"/>
            <a:ext cx="60115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B: Full Scale Implementation of successful Pilot Use Cases - 7 to 18 Months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C82034E-B7D9-9DCD-9CDC-D77C00F79B5A}"/>
              </a:ext>
            </a:extLst>
          </p:cNvPr>
          <p:cNvSpPr txBox="1"/>
          <p:nvPr/>
        </p:nvSpPr>
        <p:spPr>
          <a:xfrm>
            <a:off x="392143" y="1243288"/>
            <a:ext cx="2003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A1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D2074F0-14C6-DC22-0FF9-F779ACBD8385}"/>
              </a:ext>
            </a:extLst>
          </p:cNvPr>
          <p:cNvSpPr txBox="1"/>
          <p:nvPr/>
        </p:nvSpPr>
        <p:spPr>
          <a:xfrm>
            <a:off x="2758855" y="1243288"/>
            <a:ext cx="2003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A2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3CAF475-2A85-781B-E45C-D395A763FC36}"/>
              </a:ext>
            </a:extLst>
          </p:cNvPr>
          <p:cNvSpPr txBox="1"/>
          <p:nvPr/>
        </p:nvSpPr>
        <p:spPr>
          <a:xfrm>
            <a:off x="5125567" y="1243288"/>
            <a:ext cx="2003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A3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CAAD07D-2BA8-10EF-66B3-2204329C0DC4}"/>
              </a:ext>
            </a:extLst>
          </p:cNvPr>
          <p:cNvSpPr txBox="1"/>
          <p:nvPr/>
        </p:nvSpPr>
        <p:spPr>
          <a:xfrm>
            <a:off x="7492279" y="1243288"/>
            <a:ext cx="2003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A4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23AD9EE-56BA-89B5-2968-D10AB3F526DD}"/>
              </a:ext>
            </a:extLst>
          </p:cNvPr>
          <p:cNvSpPr txBox="1"/>
          <p:nvPr/>
        </p:nvSpPr>
        <p:spPr>
          <a:xfrm>
            <a:off x="9858991" y="1243288"/>
            <a:ext cx="2003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A5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DAEF4A7-3668-34F0-B173-7C2CC7DA845C}"/>
              </a:ext>
            </a:extLst>
          </p:cNvPr>
          <p:cNvSpPr txBox="1"/>
          <p:nvPr/>
        </p:nvSpPr>
        <p:spPr>
          <a:xfrm>
            <a:off x="388895" y="4148579"/>
            <a:ext cx="1923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B1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7893502-8644-B841-9262-670098E42773}"/>
              </a:ext>
            </a:extLst>
          </p:cNvPr>
          <p:cNvSpPr txBox="1"/>
          <p:nvPr/>
        </p:nvSpPr>
        <p:spPr>
          <a:xfrm>
            <a:off x="2755607" y="4148579"/>
            <a:ext cx="1923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B2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7333BA8-A241-F6A2-93CE-7838D9C34932}"/>
              </a:ext>
            </a:extLst>
          </p:cNvPr>
          <p:cNvSpPr txBox="1"/>
          <p:nvPr/>
        </p:nvSpPr>
        <p:spPr>
          <a:xfrm>
            <a:off x="5122319" y="4148579"/>
            <a:ext cx="1923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B3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BC84608-7E8C-9907-F306-8063750F1F17}"/>
              </a:ext>
            </a:extLst>
          </p:cNvPr>
          <p:cNvSpPr txBox="1"/>
          <p:nvPr/>
        </p:nvSpPr>
        <p:spPr>
          <a:xfrm>
            <a:off x="7489031" y="4148579"/>
            <a:ext cx="1923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B4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E589D17-C84B-143C-4A66-E92D6C134C97}"/>
              </a:ext>
            </a:extLst>
          </p:cNvPr>
          <p:cNvSpPr txBox="1"/>
          <p:nvPr/>
        </p:nvSpPr>
        <p:spPr>
          <a:xfrm>
            <a:off x="9855743" y="4148579"/>
            <a:ext cx="1923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B5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5670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2D40-BB1E-D4DF-E2D4-580E8560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Arrow: Down 59">
            <a:extLst>
              <a:ext uri="{FF2B5EF4-FFF2-40B4-BE49-F238E27FC236}">
                <a16:creationId xmlns:a16="http://schemas.microsoft.com/office/drawing/2014/main" id="{E1470914-B33C-9111-5654-865307B1C006}"/>
              </a:ext>
            </a:extLst>
          </p:cNvPr>
          <p:cNvSpPr/>
          <p:nvPr/>
        </p:nvSpPr>
        <p:spPr bwMode="gray">
          <a:xfrm>
            <a:off x="2915169" y="923725"/>
            <a:ext cx="227271" cy="1634360"/>
          </a:xfrm>
          <a:prstGeom prst="downArrow">
            <a:avLst/>
          </a:prstGeom>
          <a:solidFill>
            <a:schemeClr val="accent2">
              <a:lumMod val="40000"/>
              <a:lumOff val="60000"/>
              <a:alpha val="41000"/>
            </a:schemeClr>
          </a:solidFill>
          <a:ln w="635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N" sz="1200" b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9DEB56-33F9-04BA-9C21-C759BDBA8182}"/>
              </a:ext>
            </a:extLst>
          </p:cNvPr>
          <p:cNvGrpSpPr/>
          <p:nvPr/>
        </p:nvGrpSpPr>
        <p:grpSpPr>
          <a:xfrm>
            <a:off x="0" y="118234"/>
            <a:ext cx="12192000" cy="378417"/>
            <a:chOff x="0" y="118234"/>
            <a:chExt cx="12192000" cy="3784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A573EA-36CB-4C43-DA42-A2E6C58BCF51}"/>
                </a:ext>
              </a:extLst>
            </p:cNvPr>
            <p:cNvSpPr txBox="1"/>
            <p:nvPr/>
          </p:nvSpPr>
          <p:spPr>
            <a:xfrm>
              <a:off x="308264" y="118234"/>
              <a:ext cx="11575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#3.2 Approach to onboarding resources under AI </a:t>
              </a:r>
              <a:r>
                <a:rPr kumimoji="0" lang="en-US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CoE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4693F2-389B-FCC8-DEC7-B34753C2697C}"/>
                </a:ext>
              </a:extLst>
            </p:cNvPr>
            <p:cNvCxnSpPr/>
            <p:nvPr/>
          </p:nvCxnSpPr>
          <p:spPr>
            <a:xfrm>
              <a:off x="0" y="496651"/>
              <a:ext cx="12192000" cy="0"/>
            </a:xfrm>
            <a:prstGeom prst="line">
              <a:avLst/>
            </a:prstGeom>
            <a:ln w="6350" cmpd="dbl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EC8885F-667B-C342-2647-C1FC4958F854}"/>
              </a:ext>
            </a:extLst>
          </p:cNvPr>
          <p:cNvSpPr/>
          <p:nvPr/>
        </p:nvSpPr>
        <p:spPr bwMode="gray">
          <a:xfrm>
            <a:off x="164607" y="545222"/>
            <a:ext cx="2160000" cy="28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spcAft>
                <a:spcPts val="300"/>
              </a:spcAft>
              <a:buFont typeface="Wingdings 2" pitchFamily="18" charset="2"/>
              <a:buNone/>
            </a:pPr>
            <a:r>
              <a:rPr lang="en-US" sz="1200" b="1" dirty="0"/>
              <a:t>Open RFP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CE39D0-0703-1DE6-D240-A73A64F882B4}"/>
              </a:ext>
            </a:extLst>
          </p:cNvPr>
          <p:cNvSpPr/>
          <p:nvPr/>
        </p:nvSpPr>
        <p:spPr bwMode="gray">
          <a:xfrm>
            <a:off x="3859976" y="503478"/>
            <a:ext cx="2160000" cy="288000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spcAft>
                <a:spcPts val="300"/>
              </a:spcAft>
            </a:pPr>
            <a:r>
              <a:rPr lang="en-US" sz="1200" b="1" dirty="0"/>
              <a:t>Empanelment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EAA66F-03D1-F921-B890-5EEB6CE10BAC}"/>
              </a:ext>
            </a:extLst>
          </p:cNvPr>
          <p:cNvSpPr txBox="1"/>
          <p:nvPr/>
        </p:nvSpPr>
        <p:spPr>
          <a:xfrm>
            <a:off x="3261521" y="1100843"/>
            <a:ext cx="2910503" cy="75405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>
            <a:defPPr>
              <a:defRPr lang="en-US"/>
            </a:defPPr>
            <a:lvl1pPr marL="180975" indent="-180975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US" sz="1000" dirty="0"/>
              <a:t>Scope, evaluation criteria</a:t>
            </a:r>
          </a:p>
          <a:p>
            <a:r>
              <a:rPr lang="en-US" sz="1000" dirty="0"/>
              <a:t>Department vetting/approval</a:t>
            </a:r>
          </a:p>
          <a:p>
            <a:r>
              <a:rPr lang="en-US" sz="1000" dirty="0"/>
              <a:t>Invitation to NeGD empaneled agencies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92533C-87A1-ABA7-BB55-63925A41A760}"/>
              </a:ext>
            </a:extLst>
          </p:cNvPr>
          <p:cNvSpPr txBox="1"/>
          <p:nvPr/>
        </p:nvSpPr>
        <p:spPr>
          <a:xfrm>
            <a:off x="315842" y="837165"/>
            <a:ext cx="1280160" cy="244682"/>
          </a:xfrm>
          <a:prstGeom prst="rect">
            <a:avLst/>
          </a:prstGeom>
          <a:solidFill>
            <a:srgbClr val="00ABAB"/>
          </a:solidFill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50" i="1" kern="1200" dirty="0">
                <a:solidFill>
                  <a:schemeClr val="bg1"/>
                </a:solidFill>
              </a:rPr>
              <a:t>M1 to M2</a:t>
            </a:r>
            <a:endParaRPr lang="en-IN" sz="1050" i="1" kern="120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4D836A-AE7F-7E71-A46B-BB10B83FCD32}"/>
              </a:ext>
            </a:extLst>
          </p:cNvPr>
          <p:cNvSpPr txBox="1"/>
          <p:nvPr/>
        </p:nvSpPr>
        <p:spPr>
          <a:xfrm>
            <a:off x="4349243" y="847193"/>
            <a:ext cx="1280160" cy="244682"/>
          </a:xfrm>
          <a:prstGeom prst="rect">
            <a:avLst/>
          </a:prstGeom>
          <a:solidFill>
            <a:srgbClr val="00ABAB"/>
          </a:solidFill>
          <a:ln>
            <a:noFill/>
          </a:ln>
        </p:spPr>
        <p:txBody>
          <a:bodyPr wrap="square" rtlCol="0" anchor="ctr" anchorCtr="1">
            <a:spAutoFit/>
          </a:bodyPr>
          <a:lstStyle>
            <a:defPPr>
              <a:defRPr lang="en-US"/>
            </a:defPPr>
            <a:lvl1pPr indent="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sz="1050" dirty="0"/>
              <a:t>M0.5</a:t>
            </a:r>
            <a:endParaRPr lang="en-IN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C27CC-3633-9E3C-BFFB-7805D1E290D6}"/>
              </a:ext>
            </a:extLst>
          </p:cNvPr>
          <p:cNvSpPr txBox="1"/>
          <p:nvPr/>
        </p:nvSpPr>
        <p:spPr>
          <a:xfrm>
            <a:off x="2241881" y="703676"/>
            <a:ext cx="1584000" cy="27071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 anchor="ctr" anchorCtr="1">
            <a:spAutoFit/>
          </a:bodyPr>
          <a:lstStyle>
            <a:defPPr>
              <a:defRPr lang="en-US"/>
            </a:defPPr>
            <a:lvl1pPr indent="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sz="1400" b="1"/>
            </a:lvl1pPr>
          </a:lstStyle>
          <a:p>
            <a:r>
              <a:rPr lang="en-US" sz="1100" dirty="0"/>
              <a:t>Draft RFP / </a:t>
            </a:r>
            <a:r>
              <a:rPr lang="en-US" sz="1100" dirty="0" err="1"/>
              <a:t>ToR</a:t>
            </a:r>
            <a:endParaRPr lang="en-IN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91EFBC-EC7E-C203-CFC9-6EAF192A8B39}"/>
              </a:ext>
            </a:extLst>
          </p:cNvPr>
          <p:cNvSpPr txBox="1"/>
          <p:nvPr/>
        </p:nvSpPr>
        <p:spPr>
          <a:xfrm>
            <a:off x="225387" y="1103791"/>
            <a:ext cx="2651760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marL="180975" indent="-180975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000" kern="1200" dirty="0"/>
              <a:t>Scope, eligibility criteria, </a:t>
            </a:r>
          </a:p>
          <a:p>
            <a:pPr marL="180975" indent="-180975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000" kern="1200" dirty="0"/>
              <a:t>Drafting RFP</a:t>
            </a:r>
          </a:p>
          <a:p>
            <a:pPr marL="180975" indent="-180975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Department </a:t>
            </a:r>
            <a:r>
              <a:rPr lang="en-US" sz="1000" kern="1200" dirty="0"/>
              <a:t>vetting/approval</a:t>
            </a:r>
            <a:endParaRPr lang="en-IN" sz="1000" kern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72A3D-B9BC-5DA6-DAA0-C99118514C97}"/>
              </a:ext>
            </a:extLst>
          </p:cNvPr>
          <p:cNvSpPr txBox="1"/>
          <p:nvPr/>
        </p:nvSpPr>
        <p:spPr>
          <a:xfrm>
            <a:off x="315842" y="2037537"/>
            <a:ext cx="1280160" cy="244682"/>
          </a:xfrm>
          <a:prstGeom prst="rect">
            <a:avLst/>
          </a:prstGeom>
          <a:solidFill>
            <a:srgbClr val="00ABAB"/>
          </a:solidFill>
          <a:ln>
            <a:noFill/>
          </a:ln>
        </p:spPr>
        <p:txBody>
          <a:bodyPr wrap="square" rtlCol="0" anchor="ctr" anchorCtr="1">
            <a:spAutoFit/>
          </a:bodyPr>
          <a:lstStyle>
            <a:defPPr>
              <a:defRPr lang="en-US"/>
            </a:defPPr>
            <a:lvl1pPr indent="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sz="1050" dirty="0"/>
              <a:t>M2 to M4</a:t>
            </a:r>
            <a:endParaRPr lang="en-IN" sz="10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41658E-B9CE-48BE-6F30-D5019729A669}"/>
              </a:ext>
            </a:extLst>
          </p:cNvPr>
          <p:cNvSpPr txBox="1"/>
          <p:nvPr/>
        </p:nvSpPr>
        <p:spPr>
          <a:xfrm>
            <a:off x="4349243" y="2046716"/>
            <a:ext cx="1280160" cy="244682"/>
          </a:xfrm>
          <a:prstGeom prst="rect">
            <a:avLst/>
          </a:prstGeom>
          <a:solidFill>
            <a:srgbClr val="00ABAB"/>
          </a:solidFill>
          <a:ln>
            <a:noFill/>
          </a:ln>
        </p:spPr>
        <p:txBody>
          <a:bodyPr wrap="square" rtlCol="0" anchor="ctr" anchorCtr="1">
            <a:spAutoFit/>
          </a:bodyPr>
          <a:lstStyle>
            <a:defPPr>
              <a:defRPr lang="en-US"/>
            </a:defPPr>
            <a:lvl1pPr indent="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sz="1400" i="1">
                <a:solidFill>
                  <a:schemeClr val="bg1"/>
                </a:solidFill>
              </a:defRPr>
            </a:lvl1pPr>
          </a:lstStyle>
          <a:p>
            <a:r>
              <a:rPr lang="en-US" sz="1050" dirty="0"/>
              <a:t>M1</a:t>
            </a:r>
            <a:endParaRPr lang="en-IN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F4E17F-7FD2-CB0E-3B7A-9DC1752F637B}"/>
              </a:ext>
            </a:extLst>
          </p:cNvPr>
          <p:cNvSpPr txBox="1"/>
          <p:nvPr/>
        </p:nvSpPr>
        <p:spPr>
          <a:xfrm>
            <a:off x="2253496" y="1958990"/>
            <a:ext cx="1584000" cy="27071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 anchor="ctr" anchorCtr="1">
            <a:spAutoFit/>
          </a:bodyPr>
          <a:lstStyle>
            <a:defPPr>
              <a:defRPr lang="en-US"/>
            </a:defPPr>
            <a:lvl1pPr indent="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  <a:defRPr sz="1400" b="1"/>
            </a:lvl1pPr>
          </a:lstStyle>
          <a:p>
            <a:r>
              <a:rPr lang="en-US" sz="1100" dirty="0"/>
              <a:t>Bid Management</a:t>
            </a:r>
            <a:endParaRPr lang="en-IN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BD4D88-7AA3-C5F1-EB29-E4F1D2BED115}"/>
              </a:ext>
            </a:extLst>
          </p:cNvPr>
          <p:cNvSpPr txBox="1"/>
          <p:nvPr/>
        </p:nvSpPr>
        <p:spPr>
          <a:xfrm>
            <a:off x="164607" y="2378384"/>
            <a:ext cx="2873901" cy="5616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marL="180975" indent="-180975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000" kern="1200" dirty="0"/>
              <a:t>Prebid meetings, clarifications &amp; Corrigendum's</a:t>
            </a:r>
          </a:p>
          <a:p>
            <a:pPr marL="180975" indent="-180975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Technical and Financial bid evaluation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920B0E-92F5-37C6-7B0A-4F4ED9ED4A0F}"/>
              </a:ext>
            </a:extLst>
          </p:cNvPr>
          <p:cNvSpPr txBox="1"/>
          <p:nvPr/>
        </p:nvSpPr>
        <p:spPr>
          <a:xfrm>
            <a:off x="3221388" y="2398923"/>
            <a:ext cx="2798588" cy="5616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180975" indent="-180975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Technical Presentation &amp; Evaluation</a:t>
            </a:r>
          </a:p>
          <a:p>
            <a:pPr marL="180975" indent="-180975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1000" kern="1200" dirty="0"/>
              <a:t>Finalizing </a:t>
            </a:r>
            <a:r>
              <a:rPr lang="en-US" sz="1000" dirty="0"/>
              <a:t>Agency based on Technical score</a:t>
            </a:r>
            <a:endParaRPr lang="en-US" sz="1000" kern="1200" dirty="0"/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8CCE3532-044D-D91D-3285-BD280BE09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279039"/>
              </p:ext>
            </p:extLst>
          </p:nvPr>
        </p:nvGraphicFramePr>
        <p:xfrm>
          <a:off x="6172025" y="608103"/>
          <a:ext cx="5782330" cy="249296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31415">
                  <a:extLst>
                    <a:ext uri="{9D8B030D-6E8A-4147-A177-3AD203B41FA5}">
                      <a16:colId xmlns:a16="http://schemas.microsoft.com/office/drawing/2014/main" val="1142252264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300557024"/>
                    </a:ext>
                  </a:extLst>
                </a:gridCol>
                <a:gridCol w="646915">
                  <a:extLst>
                    <a:ext uri="{9D8B030D-6E8A-4147-A177-3AD203B41FA5}">
                      <a16:colId xmlns:a16="http://schemas.microsoft.com/office/drawing/2014/main" val="888065021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343935564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1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Through RFP</a:t>
                      </a:r>
                      <a:endParaRPr sz="11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1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Through Empanelment</a:t>
                      </a:r>
                      <a:endParaRPr lang="en-IN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3772407258"/>
                  </a:ext>
                </a:extLst>
              </a:tr>
              <a:tr h="4414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Onboarding time</a:t>
                      </a:r>
                      <a:endParaRPr lang="en-I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4 Months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 Month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3873069273"/>
                  </a:ext>
                </a:extLst>
              </a:tr>
              <a:tr h="5518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Quality of Agency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Quality varies due to one-time, cost-driven selection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dirty="0"/>
                        <a:t>Pre-qualified agencies ensure consistent service quality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3124186887"/>
                  </a:ext>
                </a:extLst>
              </a:tr>
              <a:tr h="5518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Scalability of Scope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Changes in scope require amendment or fresh RFP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Scope expandable via work orders without re-tendering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2190620852"/>
                  </a:ext>
                </a:extLst>
              </a:tr>
              <a:tr h="5518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Scalability of Resource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dirty="0"/>
                        <a:t>Scaling needs contract modification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Rapid resource ramp-up and scale-down possible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6350" marT="6350" marB="0" anchor="ctr"/>
                </a:tc>
                <a:extLst>
                  <a:ext uri="{0D108BD9-81ED-4DB2-BD59-A6C34878D82A}">
                    <a16:rowId xmlns:a16="http://schemas.microsoft.com/office/drawing/2014/main" val="1515685901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BB817B4-5B77-944E-7DEF-3C89EB66BDC1}"/>
              </a:ext>
            </a:extLst>
          </p:cNvPr>
          <p:cNvGrpSpPr/>
          <p:nvPr/>
        </p:nvGrpSpPr>
        <p:grpSpPr>
          <a:xfrm>
            <a:off x="9279329" y="1117373"/>
            <a:ext cx="365760" cy="252000"/>
            <a:chOff x="9837976" y="1181816"/>
            <a:chExt cx="365760" cy="244116"/>
          </a:xfrm>
        </p:grpSpPr>
        <p:sp>
          <p:nvSpPr>
            <p:cNvPr id="114" name="Arrow: Down 113">
              <a:extLst>
                <a:ext uri="{FF2B5EF4-FFF2-40B4-BE49-F238E27FC236}">
                  <a16:creationId xmlns:a16="http://schemas.microsoft.com/office/drawing/2014/main" id="{ABBFB8C4-B9C4-55A3-327E-C617FDF5262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37976" y="1181816"/>
              <a:ext cx="182880" cy="244116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26" name="Arrow: Down 125">
              <a:extLst>
                <a:ext uri="{FF2B5EF4-FFF2-40B4-BE49-F238E27FC236}">
                  <a16:creationId xmlns:a16="http://schemas.microsoft.com/office/drawing/2014/main" id="{0B475D23-83D0-F5CC-6068-331781DE40C1}"/>
                </a:ext>
              </a:extLst>
            </p:cNvPr>
            <p:cNvSpPr>
              <a:spLocks noChangeAspect="1"/>
            </p:cNvSpPr>
            <p:nvPr/>
          </p:nvSpPr>
          <p:spPr bwMode="gray">
            <a:xfrm rot="10800000">
              <a:off x="10020856" y="1181816"/>
              <a:ext cx="182880" cy="244115"/>
            </a:xfrm>
            <a:prstGeom prst="downArrow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D4C925F-F10E-19A2-1F2F-92D9013E2B45}"/>
              </a:ext>
            </a:extLst>
          </p:cNvPr>
          <p:cNvGrpSpPr/>
          <p:nvPr/>
        </p:nvGrpSpPr>
        <p:grpSpPr>
          <a:xfrm>
            <a:off x="9276831" y="1613923"/>
            <a:ext cx="365760" cy="252000"/>
            <a:chOff x="9837976" y="1181816"/>
            <a:chExt cx="365760" cy="244116"/>
          </a:xfrm>
        </p:grpSpPr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8536637A-7604-CB81-EC4D-2960B35E1B4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37976" y="1181816"/>
              <a:ext cx="182880" cy="244116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CEAB0B63-3A57-961E-98E3-23F040B036AC}"/>
                </a:ext>
              </a:extLst>
            </p:cNvPr>
            <p:cNvSpPr>
              <a:spLocks noChangeAspect="1"/>
            </p:cNvSpPr>
            <p:nvPr/>
          </p:nvSpPr>
          <p:spPr bwMode="gray">
            <a:xfrm rot="10800000">
              <a:off x="10020856" y="1181816"/>
              <a:ext cx="182880" cy="244115"/>
            </a:xfrm>
            <a:prstGeom prst="downArrow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8956D5-E48C-ACA6-6951-9A5034D16DD8}"/>
              </a:ext>
            </a:extLst>
          </p:cNvPr>
          <p:cNvGrpSpPr/>
          <p:nvPr/>
        </p:nvGrpSpPr>
        <p:grpSpPr>
          <a:xfrm>
            <a:off x="9284607" y="2170274"/>
            <a:ext cx="365760" cy="252000"/>
            <a:chOff x="9837976" y="1181816"/>
            <a:chExt cx="365760" cy="244116"/>
          </a:xfrm>
        </p:grpSpPr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DB5BBE8D-92B0-034A-81A2-DB3282F35CE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37976" y="1181816"/>
              <a:ext cx="182880" cy="244116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5068A29F-12F6-2754-9B4E-C5D944124516}"/>
                </a:ext>
              </a:extLst>
            </p:cNvPr>
            <p:cNvSpPr>
              <a:spLocks noChangeAspect="1"/>
            </p:cNvSpPr>
            <p:nvPr/>
          </p:nvSpPr>
          <p:spPr bwMode="gray">
            <a:xfrm rot="10800000">
              <a:off x="10020856" y="1181816"/>
              <a:ext cx="182880" cy="244115"/>
            </a:xfrm>
            <a:prstGeom prst="downArrow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97330F-94E3-6D63-04F5-D329185CA596}"/>
              </a:ext>
            </a:extLst>
          </p:cNvPr>
          <p:cNvGrpSpPr/>
          <p:nvPr/>
        </p:nvGrpSpPr>
        <p:grpSpPr>
          <a:xfrm>
            <a:off x="9276831" y="2708615"/>
            <a:ext cx="365760" cy="252000"/>
            <a:chOff x="9837976" y="1181816"/>
            <a:chExt cx="365760" cy="244116"/>
          </a:xfrm>
        </p:grpSpPr>
        <p:sp>
          <p:nvSpPr>
            <p:cNvPr id="21" name="Arrow: Down 20">
              <a:extLst>
                <a:ext uri="{FF2B5EF4-FFF2-40B4-BE49-F238E27FC236}">
                  <a16:creationId xmlns:a16="http://schemas.microsoft.com/office/drawing/2014/main" id="{A436A2E9-1BFF-BB2E-8A27-739483DA05B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37976" y="1181816"/>
              <a:ext cx="182880" cy="244116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B4906452-E1F7-2199-CA16-C45845CF4354}"/>
                </a:ext>
              </a:extLst>
            </p:cNvPr>
            <p:cNvSpPr>
              <a:spLocks noChangeAspect="1"/>
            </p:cNvSpPr>
            <p:nvPr/>
          </p:nvSpPr>
          <p:spPr bwMode="gray">
            <a:xfrm rot="10800000">
              <a:off x="10020856" y="1181816"/>
              <a:ext cx="182880" cy="244115"/>
            </a:xfrm>
            <a:prstGeom prst="downArrow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N" sz="14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B03581-DA53-32F0-79D0-086D51CD0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020900"/>
              </p:ext>
            </p:extLst>
          </p:nvPr>
        </p:nvGraphicFramePr>
        <p:xfrm>
          <a:off x="266731" y="3304400"/>
          <a:ext cx="11687624" cy="285002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1953">
                  <a:extLst>
                    <a:ext uri="{9D8B030D-6E8A-4147-A177-3AD203B41FA5}">
                      <a16:colId xmlns:a16="http://schemas.microsoft.com/office/drawing/2014/main" val="3477610287"/>
                    </a:ext>
                  </a:extLst>
                </a:gridCol>
                <a:gridCol w="2418465">
                  <a:extLst>
                    <a:ext uri="{9D8B030D-6E8A-4147-A177-3AD203B41FA5}">
                      <a16:colId xmlns:a16="http://schemas.microsoft.com/office/drawing/2014/main" val="1273604187"/>
                    </a:ext>
                  </a:extLst>
                </a:gridCol>
                <a:gridCol w="1323325">
                  <a:extLst>
                    <a:ext uri="{9D8B030D-6E8A-4147-A177-3AD203B41FA5}">
                      <a16:colId xmlns:a16="http://schemas.microsoft.com/office/drawing/2014/main" val="10445162"/>
                    </a:ext>
                  </a:extLst>
                </a:gridCol>
                <a:gridCol w="1222635">
                  <a:extLst>
                    <a:ext uri="{9D8B030D-6E8A-4147-A177-3AD203B41FA5}">
                      <a16:colId xmlns:a16="http://schemas.microsoft.com/office/drawing/2014/main" val="4143600402"/>
                    </a:ext>
                  </a:extLst>
                </a:gridCol>
                <a:gridCol w="1208251">
                  <a:extLst>
                    <a:ext uri="{9D8B030D-6E8A-4147-A177-3AD203B41FA5}">
                      <a16:colId xmlns:a16="http://schemas.microsoft.com/office/drawing/2014/main" val="192816460"/>
                    </a:ext>
                  </a:extLst>
                </a:gridCol>
                <a:gridCol w="1495932">
                  <a:extLst>
                    <a:ext uri="{9D8B030D-6E8A-4147-A177-3AD203B41FA5}">
                      <a16:colId xmlns:a16="http://schemas.microsoft.com/office/drawing/2014/main" val="2563123470"/>
                    </a:ext>
                  </a:extLst>
                </a:gridCol>
                <a:gridCol w="3617063">
                  <a:extLst>
                    <a:ext uri="{9D8B030D-6E8A-4147-A177-3AD203B41FA5}">
                      <a16:colId xmlns:a16="http://schemas.microsoft.com/office/drawing/2014/main" val="348479191"/>
                    </a:ext>
                  </a:extLst>
                </a:gridCol>
              </a:tblGrid>
              <a:tr h="6816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#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Resource Position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Role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Experience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Number </a:t>
                      </a:r>
                    </a:p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of Resources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Deployment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Key Activities</a:t>
                      </a:r>
                      <a:endParaRPr lang="en-IN" sz="105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extLst>
                  <a:ext uri="{0D108BD9-81ED-4DB2-BD59-A6C34878D82A}">
                    <a16:rowId xmlns:a16="http://schemas.microsoft.com/office/drawing/2014/main" val="295913913"/>
                  </a:ext>
                </a:extLst>
              </a:tr>
              <a:tr h="3613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Engagement Lead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Advisory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10+ years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Full-time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Strategy, government coordination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extLst>
                  <a:ext uri="{0D108BD9-81ED-4DB2-BD59-A6C34878D82A}">
                    <a16:rowId xmlns:a16="http://schemas.microsoft.com/office/drawing/2014/main" val="342411732"/>
                  </a:ext>
                </a:extLst>
              </a:tr>
              <a:tr h="3613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Functional Expert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Advisory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3+ years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Full-time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Use‑case Definition and documentation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extLst>
                  <a:ext uri="{0D108BD9-81ED-4DB2-BD59-A6C34878D82A}">
                    <a16:rowId xmlns:a16="http://schemas.microsoft.com/office/drawing/2014/main" val="197628923"/>
                  </a:ext>
                </a:extLst>
              </a:tr>
              <a:tr h="3613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 Developers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Development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03+ years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Full-time</a:t>
                      </a:r>
                      <a:endParaRPr kumimoji="0" lang="en-I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Develop AI </a:t>
                      </a:r>
                      <a:r>
                        <a:rPr lang="en-IN" sz="1050" b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PoCs</a:t>
                      </a:r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and Solutions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extLst>
                  <a:ext uri="{0D108BD9-81ED-4DB2-BD59-A6C34878D82A}">
                    <a16:rowId xmlns:a16="http://schemas.microsoft.com/office/drawing/2014/main" val="851440548"/>
                  </a:ext>
                </a:extLst>
              </a:tr>
              <a:tr h="3613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 Developers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Development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02+ years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Full-time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Develop AI </a:t>
                      </a:r>
                      <a:r>
                        <a:rPr lang="en-US" sz="1050" b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PoCs</a:t>
                      </a:r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and solutions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extLst>
                  <a:ext uri="{0D108BD9-81ED-4DB2-BD59-A6C34878D82A}">
                    <a16:rowId xmlns:a16="http://schemas.microsoft.com/office/drawing/2014/main" val="2692256510"/>
                  </a:ext>
                </a:extLst>
              </a:tr>
              <a:tr h="3614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Full Stack Developer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Development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03+ years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Full-time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Handle required integrations and build interfaces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extLst>
                  <a:ext uri="{0D108BD9-81ED-4DB2-BD59-A6C34878D82A}">
                    <a16:rowId xmlns:a16="http://schemas.microsoft.com/office/drawing/2014/main" val="1979637692"/>
                  </a:ext>
                </a:extLst>
              </a:tr>
              <a:tr h="36145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Content Developers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Development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03+ years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Full-time</a:t>
                      </a:r>
                    </a:p>
                  </a:txBody>
                  <a:tcPr marL="36000" marR="3600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Develop engaging content (videos)</a:t>
                      </a:r>
                    </a:p>
                  </a:txBody>
                  <a:tcPr marL="36000" marR="36000" marT="6350" marB="0" anchor="ctr"/>
                </a:tc>
                <a:extLst>
                  <a:ext uri="{0D108BD9-81ED-4DB2-BD59-A6C34878D82A}">
                    <a16:rowId xmlns:a16="http://schemas.microsoft.com/office/drawing/2014/main" val="3673473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28196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EBA1A-0F1C-A539-F269-BAB8C978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64325F1-B4F8-3013-1E9F-7395584E19A1}"/>
              </a:ext>
            </a:extLst>
          </p:cNvPr>
          <p:cNvGrpSpPr/>
          <p:nvPr/>
        </p:nvGrpSpPr>
        <p:grpSpPr>
          <a:xfrm>
            <a:off x="0" y="118234"/>
            <a:ext cx="12192000" cy="378417"/>
            <a:chOff x="0" y="118234"/>
            <a:chExt cx="12192000" cy="3784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B9DF33-FBD1-D101-C662-1279E8AC4982}"/>
                </a:ext>
              </a:extLst>
            </p:cNvPr>
            <p:cNvSpPr txBox="1"/>
            <p:nvPr/>
          </p:nvSpPr>
          <p:spPr>
            <a:xfrm>
              <a:off x="308264" y="118234"/>
              <a:ext cx="11575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#3.</a:t>
              </a:r>
              <a:r>
                <a:rPr lang="en-US" b="1" dirty="0">
                  <a:solidFill>
                    <a:prstClr val="black"/>
                  </a:solidFill>
                  <a:latin typeface="Verdana"/>
                </a:rPr>
                <a:t>3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. Indicative Work Plan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03998E2-462D-46A6-1F78-F1F4BD7460EF}"/>
                </a:ext>
              </a:extLst>
            </p:cNvPr>
            <p:cNvCxnSpPr/>
            <p:nvPr/>
          </p:nvCxnSpPr>
          <p:spPr>
            <a:xfrm>
              <a:off x="0" y="496651"/>
              <a:ext cx="12192000" cy="0"/>
            </a:xfrm>
            <a:prstGeom prst="line">
              <a:avLst/>
            </a:prstGeom>
            <a:ln w="6350" cmpd="dbl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58CF63A1-D366-C9B2-542B-53FC7D7CC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828888"/>
              </p:ext>
            </p:extLst>
          </p:nvPr>
        </p:nvGraphicFramePr>
        <p:xfrm>
          <a:off x="398167" y="960726"/>
          <a:ext cx="11537390" cy="5359980"/>
        </p:xfrm>
        <a:graphic>
          <a:graphicData uri="http://schemas.openxmlformats.org/drawingml/2006/table">
            <a:tbl>
              <a:tblPr firstRow="1" bandRow="1"/>
              <a:tblGrid>
                <a:gridCol w="2104304">
                  <a:extLst>
                    <a:ext uri="{9D8B030D-6E8A-4147-A177-3AD203B41FA5}">
                      <a16:colId xmlns:a16="http://schemas.microsoft.com/office/drawing/2014/main" val="2426383940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4276641124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2046811945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2948908056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1568926750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3012225555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3507397709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2804933632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2241869516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3229262755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4279075826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3977447257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44914235"/>
                    </a:ext>
                  </a:extLst>
                </a:gridCol>
                <a:gridCol w="725622">
                  <a:extLst>
                    <a:ext uri="{9D8B030D-6E8A-4147-A177-3AD203B41FA5}">
                      <a16:colId xmlns:a16="http://schemas.microsoft.com/office/drawing/2014/main" val="234555581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Months -&gt;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M1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M2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M3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M4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M5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M6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M7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+mj-lt"/>
                        </a:rPr>
                        <a:t>M8</a:t>
                      </a:r>
                      <a:endParaRPr lang="en-I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M9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M10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M11</a:t>
                      </a:r>
                      <a:endParaRPr lang="en-IN" sz="12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M12</a:t>
                      </a:r>
                      <a:endParaRPr lang="en-IN" sz="1200" b="1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Ongoing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906832"/>
                  </a:ext>
                </a:extLst>
              </a:tr>
              <a:tr h="1543665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+mj-lt"/>
                        </a:rPr>
                        <a:t>Design</a:t>
                      </a:r>
                    </a:p>
                    <a:p>
                      <a:r>
                        <a:rPr lang="en-US" sz="900" b="1" i="1" dirty="0">
                          <a:solidFill>
                            <a:schemeClr val="tx1"/>
                          </a:solidFill>
                          <a:latin typeface="+mj-lt"/>
                        </a:rPr>
                        <a:t>Kick off, Set-up, and </a:t>
                      </a:r>
                    </a:p>
                    <a:p>
                      <a:r>
                        <a:rPr lang="en-US" sz="900" b="1" i="1" dirty="0">
                          <a:solidFill>
                            <a:schemeClr val="tx1"/>
                          </a:solidFill>
                          <a:latin typeface="+mj-lt"/>
                        </a:rPr>
                        <a:t>Discovery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126687"/>
                  </a:ext>
                </a:extLst>
              </a:tr>
              <a:tr h="2157809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US" sz="1400" b="1" kern="1200" dirty="0">
                          <a:solidFill>
                            <a:srgbClr val="0070C0"/>
                          </a:solidFill>
                          <a:latin typeface="+mj-lt"/>
                          <a:ea typeface="+mn-ea"/>
                          <a:cs typeface="+mn-cs"/>
                        </a:rPr>
                        <a:t>Define</a:t>
                      </a:r>
                    </a:p>
                    <a:p>
                      <a:pPr marL="0" algn="l" defTabSz="1219170" rtl="0" eaLnBrk="1" latinLnBrk="0" hangingPunct="1"/>
                      <a:r>
                        <a:rPr lang="en-US" sz="900" b="1" i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on agile mode</a:t>
                      </a:r>
                    </a:p>
                    <a:p>
                      <a:pPr marL="0" algn="l" defTabSz="1219170" rtl="0" eaLnBrk="1" latinLnBrk="0" hangingPunct="1"/>
                      <a:r>
                        <a:rPr lang="en-US" sz="900" b="1" i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(Phase* 1, 2…N)</a:t>
                      </a:r>
                      <a:endParaRPr lang="en-IN" sz="900" b="1" i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55103"/>
                  </a:ext>
                </a:extLst>
              </a:tr>
              <a:tr h="1201306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US" sz="14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Run</a:t>
                      </a:r>
                    </a:p>
                    <a:p>
                      <a:pPr marL="0" algn="l" defTabSz="1219170" rtl="0" eaLnBrk="1" latinLnBrk="0" hangingPunct="1"/>
                      <a:r>
                        <a:rPr lang="en-US" sz="900" b="1" i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Measure, Monitor, Optimize, Innovate &amp; Operate</a:t>
                      </a:r>
                      <a:endParaRPr lang="en-IN" sz="900" b="1" i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731835"/>
                  </a:ext>
                </a:extLst>
              </a:tr>
            </a:tbl>
          </a:graphicData>
        </a:graphic>
      </p:graphicFrame>
      <p:sp>
        <p:nvSpPr>
          <p:cNvPr id="59" name="Arrow: Pentagon 62">
            <a:extLst>
              <a:ext uri="{FF2B5EF4-FFF2-40B4-BE49-F238E27FC236}">
                <a16:creationId xmlns:a16="http://schemas.microsoft.com/office/drawing/2014/main" id="{5E3FA44B-0879-5262-085D-DEB251D80E63}"/>
              </a:ext>
            </a:extLst>
          </p:cNvPr>
          <p:cNvSpPr/>
          <p:nvPr/>
        </p:nvSpPr>
        <p:spPr>
          <a:xfrm>
            <a:off x="5437339" y="5174627"/>
            <a:ext cx="4881723" cy="238434"/>
          </a:xfrm>
          <a:prstGeom prst="homePlate">
            <a:avLst/>
          </a:prstGeom>
          <a:solidFill>
            <a:srgbClr val="62B5E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Testing, pilot and roll-out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0" name="Arrow: Pentagon 75">
            <a:extLst>
              <a:ext uri="{FF2B5EF4-FFF2-40B4-BE49-F238E27FC236}">
                <a16:creationId xmlns:a16="http://schemas.microsoft.com/office/drawing/2014/main" id="{B6DC43F7-14D7-3640-56F9-6F44C75BB0C0}"/>
              </a:ext>
            </a:extLst>
          </p:cNvPr>
          <p:cNvSpPr/>
          <p:nvPr/>
        </p:nvSpPr>
        <p:spPr>
          <a:xfrm>
            <a:off x="3252531" y="2998878"/>
            <a:ext cx="2208488" cy="459562"/>
          </a:xfrm>
          <a:prstGeom prst="homePlat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Low complexity</a:t>
            </a:r>
          </a:p>
        </p:txBody>
      </p:sp>
      <p:sp>
        <p:nvSpPr>
          <p:cNvPr id="61" name="Arrow: Pentagon 75">
            <a:extLst>
              <a:ext uri="{FF2B5EF4-FFF2-40B4-BE49-F238E27FC236}">
                <a16:creationId xmlns:a16="http://schemas.microsoft.com/office/drawing/2014/main" id="{D3748729-17B3-41B5-CBF7-7938A916C6ED}"/>
              </a:ext>
            </a:extLst>
          </p:cNvPr>
          <p:cNvSpPr/>
          <p:nvPr/>
        </p:nvSpPr>
        <p:spPr>
          <a:xfrm>
            <a:off x="2490753" y="1435056"/>
            <a:ext cx="396000" cy="182880"/>
          </a:xfrm>
          <a:prstGeom prst="homePlate">
            <a:avLst/>
          </a:prstGeom>
          <a:solidFill>
            <a:srgbClr val="0097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" name="Arrow: Pentagon 75">
            <a:extLst>
              <a:ext uri="{FF2B5EF4-FFF2-40B4-BE49-F238E27FC236}">
                <a16:creationId xmlns:a16="http://schemas.microsoft.com/office/drawing/2014/main" id="{50720DE3-416A-A3B2-691C-AEB476C97562}"/>
              </a:ext>
            </a:extLst>
          </p:cNvPr>
          <p:cNvSpPr/>
          <p:nvPr/>
        </p:nvSpPr>
        <p:spPr>
          <a:xfrm>
            <a:off x="2488538" y="1713393"/>
            <a:ext cx="396000" cy="182880"/>
          </a:xfrm>
          <a:prstGeom prst="homePlate">
            <a:avLst/>
          </a:prstGeom>
          <a:solidFill>
            <a:srgbClr val="0097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3" name="Arrow: Pentagon 75">
            <a:extLst>
              <a:ext uri="{FF2B5EF4-FFF2-40B4-BE49-F238E27FC236}">
                <a16:creationId xmlns:a16="http://schemas.microsoft.com/office/drawing/2014/main" id="{AFA0E012-F1DC-EB2C-F08A-D04289D23E55}"/>
              </a:ext>
            </a:extLst>
          </p:cNvPr>
          <p:cNvSpPr/>
          <p:nvPr/>
        </p:nvSpPr>
        <p:spPr>
          <a:xfrm>
            <a:off x="2488663" y="2313635"/>
            <a:ext cx="731520" cy="182880"/>
          </a:xfrm>
          <a:prstGeom prst="homePlate">
            <a:avLst/>
          </a:prstGeom>
          <a:solidFill>
            <a:srgbClr val="0097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" name="Arrow: Pentagon 62">
            <a:extLst>
              <a:ext uri="{FF2B5EF4-FFF2-40B4-BE49-F238E27FC236}">
                <a16:creationId xmlns:a16="http://schemas.microsoft.com/office/drawing/2014/main" id="{DBAFFE5D-B2CA-F59A-D2F3-246D2BC532DB}"/>
              </a:ext>
            </a:extLst>
          </p:cNvPr>
          <p:cNvSpPr/>
          <p:nvPr/>
        </p:nvSpPr>
        <p:spPr>
          <a:xfrm>
            <a:off x="5437339" y="5963102"/>
            <a:ext cx="5375681" cy="237600"/>
          </a:xfrm>
          <a:prstGeom prst="homePlate">
            <a:avLst/>
          </a:prstGeom>
          <a:solidFill>
            <a:srgbClr val="62B5E5">
              <a:lumMod val="20000"/>
              <a:lumOff val="8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Calibri" panose="020F0502020204030204" pitchFamily="34" charset="0"/>
                <a:cs typeface="Times New Roman" panose="02020603050405020304" pitchFamily="18" charset="0"/>
              </a:rPr>
              <a:t>Capacity building | Monitor &amp; measure implementation</a:t>
            </a:r>
          </a:p>
        </p:txBody>
      </p:sp>
      <p:sp>
        <p:nvSpPr>
          <p:cNvPr id="67" name="Arrow: Pentagon 62">
            <a:extLst>
              <a:ext uri="{FF2B5EF4-FFF2-40B4-BE49-F238E27FC236}">
                <a16:creationId xmlns:a16="http://schemas.microsoft.com/office/drawing/2014/main" id="{4A4AF5A7-1A82-9969-F48C-EBEEC674773D}"/>
              </a:ext>
            </a:extLst>
          </p:cNvPr>
          <p:cNvSpPr/>
          <p:nvPr/>
        </p:nvSpPr>
        <p:spPr>
          <a:xfrm>
            <a:off x="10409959" y="5188445"/>
            <a:ext cx="720000" cy="216000"/>
          </a:xfrm>
          <a:prstGeom prst="homePlate">
            <a:avLst/>
          </a:prstGeom>
          <a:solidFill>
            <a:srgbClr val="0097A9">
              <a:lumMod val="75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E66F3E-1002-7BF8-F340-26C2BE60AAF3}"/>
              </a:ext>
            </a:extLst>
          </p:cNvPr>
          <p:cNvSpPr txBox="1"/>
          <p:nvPr/>
        </p:nvSpPr>
        <p:spPr>
          <a:xfrm>
            <a:off x="2837751" y="1422825"/>
            <a:ext cx="63191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Setup </a:t>
            </a:r>
            <a:r>
              <a:rPr lang="en-US" sz="900" b="1" kern="0" dirty="0">
                <a:solidFill>
                  <a:prstClr val="black"/>
                </a:solidFill>
              </a:rPr>
              <a:t>Emerging Tech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CoE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(onboard diverse pool SMEs)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0F13AB9-96E1-B54C-3E08-D01F15A281B2}"/>
              </a:ext>
            </a:extLst>
          </p:cNvPr>
          <p:cNvSpPr txBox="1"/>
          <p:nvPr/>
        </p:nvSpPr>
        <p:spPr>
          <a:xfrm>
            <a:off x="2831492" y="1692578"/>
            <a:ext cx="63191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Client workshop &amp; Governance Model Establishment</a:t>
            </a:r>
            <a:endParaRPr kumimoji="0" lang="en-US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Arrow: Pentagon 75">
            <a:extLst>
              <a:ext uri="{FF2B5EF4-FFF2-40B4-BE49-F238E27FC236}">
                <a16:creationId xmlns:a16="http://schemas.microsoft.com/office/drawing/2014/main" id="{2F6C427F-1EC9-7F9D-DD82-1F2E23468AFC}"/>
              </a:ext>
            </a:extLst>
          </p:cNvPr>
          <p:cNvSpPr/>
          <p:nvPr/>
        </p:nvSpPr>
        <p:spPr>
          <a:xfrm>
            <a:off x="2488663" y="2038865"/>
            <a:ext cx="548640" cy="182880"/>
          </a:xfrm>
          <a:prstGeom prst="homePlate">
            <a:avLst/>
          </a:prstGeom>
          <a:solidFill>
            <a:srgbClr val="0097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E01D96-839E-7BAE-2DCB-5E758316B053}"/>
              </a:ext>
            </a:extLst>
          </p:cNvPr>
          <p:cNvSpPr txBox="1"/>
          <p:nvPr/>
        </p:nvSpPr>
        <p:spPr>
          <a:xfrm>
            <a:off x="3045026" y="1927535"/>
            <a:ext cx="6319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Infra setup and access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Assess business &amp; tech landscape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E2F2FB-CD6D-05A8-BDC7-81F561B84719}"/>
              </a:ext>
            </a:extLst>
          </p:cNvPr>
          <p:cNvSpPr txBox="1"/>
          <p:nvPr/>
        </p:nvSpPr>
        <p:spPr>
          <a:xfrm>
            <a:off x="3298845" y="2635406"/>
            <a:ext cx="63191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Identify and prioritize use cases </a:t>
            </a: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(mix of High (H), Medium (M) &amp; Low (L) complexity use cases)</a:t>
            </a:r>
            <a:endParaRPr kumimoji="0" lang="en-IN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EE1041-0BE3-BAE6-54BA-28B941D96A6A}"/>
              </a:ext>
            </a:extLst>
          </p:cNvPr>
          <p:cNvSpPr txBox="1"/>
          <p:nvPr/>
        </p:nvSpPr>
        <p:spPr>
          <a:xfrm>
            <a:off x="3285364" y="2304123"/>
            <a:ext cx="49568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Design Roadmap &amp; Execution Plan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including tech and business choices)</a:t>
            </a:r>
          </a:p>
        </p:txBody>
      </p:sp>
      <p:sp>
        <p:nvSpPr>
          <p:cNvPr id="75" name="Arrow: Pentagon 75">
            <a:extLst>
              <a:ext uri="{FF2B5EF4-FFF2-40B4-BE49-F238E27FC236}">
                <a16:creationId xmlns:a16="http://schemas.microsoft.com/office/drawing/2014/main" id="{0587554F-7A71-5895-A5ED-255E677FC5A0}"/>
              </a:ext>
            </a:extLst>
          </p:cNvPr>
          <p:cNvSpPr/>
          <p:nvPr/>
        </p:nvSpPr>
        <p:spPr>
          <a:xfrm>
            <a:off x="2488663" y="2653490"/>
            <a:ext cx="756000" cy="182880"/>
          </a:xfrm>
          <a:prstGeom prst="homePlate">
            <a:avLst/>
          </a:prstGeom>
          <a:solidFill>
            <a:srgbClr val="0097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76" name="Arrow: Pentagon 75">
            <a:extLst>
              <a:ext uri="{FF2B5EF4-FFF2-40B4-BE49-F238E27FC236}">
                <a16:creationId xmlns:a16="http://schemas.microsoft.com/office/drawing/2014/main" id="{1F15C51F-85F1-220E-C96C-69B17FE8F009}"/>
              </a:ext>
            </a:extLst>
          </p:cNvPr>
          <p:cNvSpPr/>
          <p:nvPr/>
        </p:nvSpPr>
        <p:spPr>
          <a:xfrm>
            <a:off x="3244662" y="3686371"/>
            <a:ext cx="3343150" cy="468563"/>
          </a:xfrm>
          <a:prstGeom prst="homePlat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Medium Complexity</a:t>
            </a:r>
          </a:p>
        </p:txBody>
      </p:sp>
      <p:sp>
        <p:nvSpPr>
          <p:cNvPr id="77" name="Arrow: Pentagon 75">
            <a:extLst>
              <a:ext uri="{FF2B5EF4-FFF2-40B4-BE49-F238E27FC236}">
                <a16:creationId xmlns:a16="http://schemas.microsoft.com/office/drawing/2014/main" id="{8F892865-A77E-CD3C-AC0D-5815BFAD9ACB}"/>
              </a:ext>
            </a:extLst>
          </p:cNvPr>
          <p:cNvSpPr/>
          <p:nvPr/>
        </p:nvSpPr>
        <p:spPr>
          <a:xfrm>
            <a:off x="3244662" y="4386423"/>
            <a:ext cx="4997517" cy="468563"/>
          </a:xfrm>
          <a:prstGeom prst="homePlat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High Complexity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AB33C8-D7FE-E4D3-0357-9B4211AAA22A}"/>
              </a:ext>
            </a:extLst>
          </p:cNvPr>
          <p:cNvSpPr txBox="1"/>
          <p:nvPr/>
        </p:nvSpPr>
        <p:spPr>
          <a:xfrm>
            <a:off x="4050067" y="4831047"/>
            <a:ext cx="3289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Times New Roman" panose="02020603050405020304" pitchFamily="18" charset="0"/>
              </a:rPr>
              <a:t>(model creation, validation, testing and delivery)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7F0A8CD-C0CE-74FF-FA6D-C96AE7D937BE}"/>
              </a:ext>
            </a:extLst>
          </p:cNvPr>
          <p:cNvSpPr txBox="1"/>
          <p:nvPr/>
        </p:nvSpPr>
        <p:spPr>
          <a:xfrm>
            <a:off x="10228165" y="5361840"/>
            <a:ext cx="163717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New improvements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Roll out feedback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Handover</a:t>
            </a:r>
            <a:endParaRPr kumimoji="0" lang="en-I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Arrow: Pentagon 62">
            <a:extLst>
              <a:ext uri="{FF2B5EF4-FFF2-40B4-BE49-F238E27FC236}">
                <a16:creationId xmlns:a16="http://schemas.microsoft.com/office/drawing/2014/main" id="{B947046C-07A8-976D-6233-8826EC62433E}"/>
              </a:ext>
            </a:extLst>
          </p:cNvPr>
          <p:cNvSpPr/>
          <p:nvPr/>
        </p:nvSpPr>
        <p:spPr>
          <a:xfrm>
            <a:off x="11112599" y="5799290"/>
            <a:ext cx="822960" cy="204340"/>
          </a:xfrm>
          <a:prstGeom prst="homePlate">
            <a:avLst/>
          </a:prstGeom>
          <a:solidFill>
            <a:srgbClr val="0097A9">
              <a:lumMod val="5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52A0D7-BC70-F70E-75A1-DACF45F2559C}"/>
              </a:ext>
            </a:extLst>
          </p:cNvPr>
          <p:cNvSpPr txBox="1"/>
          <p:nvPr/>
        </p:nvSpPr>
        <p:spPr>
          <a:xfrm>
            <a:off x="10872521" y="5975055"/>
            <a:ext cx="1122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Operate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(Duration TBD) </a:t>
            </a:r>
            <a:endParaRPr kumimoji="0" lang="en-IN" sz="9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83" name="Graphic 82" descr="Race Flag with solid fill">
            <a:extLst>
              <a:ext uri="{FF2B5EF4-FFF2-40B4-BE49-F238E27FC236}">
                <a16:creationId xmlns:a16="http://schemas.microsoft.com/office/drawing/2014/main" id="{EF2194C5-5F42-5E68-83AC-108DB4C97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9959" y="5113314"/>
            <a:ext cx="302858" cy="302858"/>
          </a:xfrm>
          <a:prstGeom prst="rect">
            <a:avLst/>
          </a:prstGeom>
        </p:spPr>
      </p:pic>
      <p:pic>
        <p:nvPicPr>
          <p:cNvPr id="84" name="Graphic 83" descr="Star with solid fill">
            <a:extLst>
              <a:ext uri="{FF2B5EF4-FFF2-40B4-BE49-F238E27FC236}">
                <a16:creationId xmlns:a16="http://schemas.microsoft.com/office/drawing/2014/main" id="{92237796-4C34-8E70-D5EA-DBDE9BBF6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4427" y="3050534"/>
            <a:ext cx="315080" cy="315080"/>
          </a:xfrm>
          <a:prstGeom prst="rect">
            <a:avLst/>
          </a:prstGeom>
        </p:spPr>
      </p:pic>
      <p:pic>
        <p:nvPicPr>
          <p:cNvPr id="85" name="Graphic 84" descr="Star with solid fill">
            <a:extLst>
              <a:ext uri="{FF2B5EF4-FFF2-40B4-BE49-F238E27FC236}">
                <a16:creationId xmlns:a16="http://schemas.microsoft.com/office/drawing/2014/main" id="{5A012A29-BE75-1E68-4FD8-0AB15E9938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7814" y="3701511"/>
            <a:ext cx="315080" cy="315080"/>
          </a:xfrm>
          <a:prstGeom prst="rect">
            <a:avLst/>
          </a:prstGeom>
        </p:spPr>
      </p:pic>
      <p:pic>
        <p:nvPicPr>
          <p:cNvPr id="86" name="Graphic 85" descr="Star with solid fill">
            <a:extLst>
              <a:ext uri="{FF2B5EF4-FFF2-40B4-BE49-F238E27FC236}">
                <a16:creationId xmlns:a16="http://schemas.microsoft.com/office/drawing/2014/main" id="{4FE03123-1A4B-71CB-C522-00232E716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2181" y="4435788"/>
            <a:ext cx="315080" cy="315080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3138E23D-118A-9C23-DF39-FA4AD0A0321B}"/>
              </a:ext>
            </a:extLst>
          </p:cNvPr>
          <p:cNvSpPr txBox="1"/>
          <p:nvPr/>
        </p:nvSpPr>
        <p:spPr>
          <a:xfrm>
            <a:off x="308264" y="6485678"/>
            <a:ext cx="79339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</a:rPr>
              <a:t>* Core AI pod can deliver up to 3-5 use cases, depending on the complexity level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E3DA036-F920-8823-8FD3-9A0F7A1B1F50}"/>
              </a:ext>
            </a:extLst>
          </p:cNvPr>
          <p:cNvSpPr/>
          <p:nvPr/>
        </p:nvSpPr>
        <p:spPr>
          <a:xfrm>
            <a:off x="10452252" y="628772"/>
            <a:ext cx="1355413" cy="30422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+mn-cs"/>
              </a:rPr>
              <a:t>Indicative</a:t>
            </a:r>
          </a:p>
        </p:txBody>
      </p:sp>
      <p:sp>
        <p:nvSpPr>
          <p:cNvPr id="99" name="Arrow: Pentagon 62">
            <a:extLst>
              <a:ext uri="{FF2B5EF4-FFF2-40B4-BE49-F238E27FC236}">
                <a16:creationId xmlns:a16="http://schemas.microsoft.com/office/drawing/2014/main" id="{1022CA5A-BAB8-1237-19C2-82F1ED753DAB}"/>
              </a:ext>
            </a:extLst>
          </p:cNvPr>
          <p:cNvSpPr/>
          <p:nvPr/>
        </p:nvSpPr>
        <p:spPr>
          <a:xfrm>
            <a:off x="5441334" y="5555681"/>
            <a:ext cx="5040000" cy="237600"/>
          </a:xfrm>
          <a:prstGeom prst="homePlate">
            <a:avLst/>
          </a:prstGeom>
          <a:solidFill>
            <a:srgbClr val="62B5E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Verdana"/>
              </a:rPr>
              <a:t>Impact Monitoring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0" name="Graphic 99" descr="Star with solid fill">
            <a:extLst>
              <a:ext uri="{FF2B5EF4-FFF2-40B4-BE49-F238E27FC236}">
                <a16:creationId xmlns:a16="http://schemas.microsoft.com/office/drawing/2014/main" id="{246E3704-B5A5-8E5D-CE47-424B973D1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0865" y="6423577"/>
            <a:ext cx="315080" cy="31508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9E71EF09-88E4-24DF-A190-5B41E4850FDF}"/>
              </a:ext>
            </a:extLst>
          </p:cNvPr>
          <p:cNvSpPr txBox="1"/>
          <p:nvPr/>
        </p:nvSpPr>
        <p:spPr>
          <a:xfrm>
            <a:off x="5154917" y="6432627"/>
            <a:ext cx="2056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Milestone achievement</a:t>
            </a:r>
          </a:p>
        </p:txBody>
      </p:sp>
    </p:spTree>
    <p:extLst>
      <p:ext uri="{BB962C8B-B14F-4D97-AF65-F5344CB8AC3E}">
        <p14:creationId xmlns:p14="http://schemas.microsoft.com/office/powerpoint/2010/main" val="111513914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A271-4ED8-04E4-27E2-E05863A0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FF9A7-C3F8-6A96-DDD6-95B37AAC2270}"/>
              </a:ext>
            </a:extLst>
          </p:cNvPr>
          <p:cNvSpPr txBox="1"/>
          <p:nvPr/>
        </p:nvSpPr>
        <p:spPr>
          <a:xfrm>
            <a:off x="2201537" y="2884235"/>
            <a:ext cx="7788925" cy="10895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7200" b="1" kern="1200" dirty="0"/>
              <a:t>THANK YOU</a:t>
            </a:r>
            <a:endParaRPr lang="en-IN" sz="7200" b="1" kern="1200" dirty="0"/>
          </a:p>
        </p:txBody>
      </p:sp>
    </p:spTree>
    <p:extLst>
      <p:ext uri="{BB962C8B-B14F-4D97-AF65-F5344CB8AC3E}">
        <p14:creationId xmlns:p14="http://schemas.microsoft.com/office/powerpoint/2010/main" val="427314722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8t8NTRpGhlPspsvHC3O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8t8NTRpGhlPspsvHC3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1_Deloitte 2018">
  <a:themeElements>
    <a:clrScheme name="Deloitte colour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6BC25"/>
      </a:accent1>
      <a:accent2>
        <a:srgbClr val="2C5234"/>
      </a:accent2>
      <a:accent3>
        <a:srgbClr val="00A3E0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954F72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3"/>
        </a:solidFill>
        <a:ln>
          <a:solidFill>
            <a:schemeClr val="tx1"/>
          </a:solidFill>
        </a:ln>
      </a:spPr>
      <a:bodyPr wrap="square" anchor="ctr" anchorCtr="1">
        <a:spAutoFit/>
      </a:bodyPr>
      <a:lstStyle>
        <a:defPPr marL="0" indent="0" algn="l" defTabSz="533400">
          <a:lnSpc>
            <a:spcPct val="90000"/>
          </a:lnSpc>
          <a:spcBef>
            <a:spcPct val="0"/>
          </a:spcBef>
          <a:spcAft>
            <a:spcPct val="35000"/>
          </a:spcAft>
          <a:buNone/>
          <a:defRPr sz="1400" b="1" kern="120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2018" id="{92C0DD8D-BE5A-4C1E-B738-D113E85B0D64}" vid="{D1160F66-C334-436A-A217-E2713DB67C08}"/>
    </a:ext>
  </a:extLst>
</a:theme>
</file>

<file path=ppt/theme/theme2.xml><?xml version="1.0" encoding="utf-8"?>
<a:theme xmlns:a="http://schemas.openxmlformats.org/drawingml/2006/main" name="3_Deloitte Brand Theme">
  <a:themeElements>
    <a:clrScheme name="Deloitte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" id="{7F8E7B9C-D1E6-4EAB-A888-5889AFAC97F5}" vid="{EE3CB14B-24FA-49D6-9FDE-EB9FB3296A6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899</Words>
  <Application>Microsoft Office PowerPoint</Application>
  <PresentationFormat>Widescreen</PresentationFormat>
  <Paragraphs>252</Paragraphs>
  <Slides>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Chronicle Display Black</vt:lpstr>
      <vt:lpstr>Nexa Black</vt:lpstr>
      <vt:lpstr>Open Sans</vt:lpstr>
      <vt:lpstr>Times New Roman</vt:lpstr>
      <vt:lpstr>Verdana</vt:lpstr>
      <vt:lpstr>Wingdings 2</vt:lpstr>
      <vt:lpstr>11_Deloitte 2018</vt:lpstr>
      <vt:lpstr>3_Deloitte Brand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Khambhayata, Tanuj</dc:creator>
  <cp:lastModifiedBy>Garg, Vibha</cp:lastModifiedBy>
  <cp:revision>11</cp:revision>
  <dcterms:created xsi:type="dcterms:W3CDTF">2026-02-11T11:47:18Z</dcterms:created>
  <dcterms:modified xsi:type="dcterms:W3CDTF">2026-04-09T09:58:29Z</dcterms:modified>
</cp:coreProperties>
</file>